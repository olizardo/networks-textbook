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  <p:sldMasterId id="214748368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</p:sldIdLst>
  <p:sldSz cy="5143500" cx="9144000"/>
  <p:notesSz cx="6858000" cy="9144000"/>
  <p:embeddedFontLst>
    <p:embeddedFont>
      <p:font typeface="Economica"/>
      <p:regular r:id="rId93"/>
      <p:bold r:id="rId94"/>
      <p:italic r:id="rId95"/>
      <p:boldItalic r:id="rId96"/>
    </p:embeddedFont>
    <p:embeddedFont>
      <p:font typeface="Oxygen"/>
      <p:regular r:id="rId97"/>
      <p:bold r:id="rId98"/>
    </p:embeddedFont>
    <p:embeddedFont>
      <p:font typeface="Cantarell"/>
      <p:regular r:id="rId99"/>
      <p:bold r:id="rId100"/>
      <p:italic r:id="rId101"/>
      <p:boldItalic r:id="rId102"/>
    </p:embeddedFont>
    <p:embeddedFont>
      <p:font typeface="Open Sans"/>
      <p:regular r:id="rId103"/>
      <p:bold r:id="rId104"/>
      <p:italic r:id="rId105"/>
      <p:boldItalic r:id="rId10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0BD6F5-E567-4FCE-9DA1-B842562C88D2}">
  <a:tblStyle styleId="{8B0BD6F5-E567-4FCE-9DA1-B842562C88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06" Type="http://schemas.openxmlformats.org/officeDocument/2006/relationships/font" Target="fonts/OpenSans-boldItalic.fntdata"/><Relationship Id="rId105" Type="http://schemas.openxmlformats.org/officeDocument/2006/relationships/font" Target="fonts/OpenSans-italic.fntdata"/><Relationship Id="rId104" Type="http://schemas.openxmlformats.org/officeDocument/2006/relationships/font" Target="fonts/OpenSans-bold.fntdata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103" Type="http://schemas.openxmlformats.org/officeDocument/2006/relationships/font" Target="fonts/OpenSans-regular.fntdata"/><Relationship Id="rId102" Type="http://schemas.openxmlformats.org/officeDocument/2006/relationships/font" Target="fonts/Cantarell-boldItalic.fntdata"/><Relationship Id="rId101" Type="http://schemas.openxmlformats.org/officeDocument/2006/relationships/font" Target="fonts/Cantarell-italic.fntdata"/><Relationship Id="rId100" Type="http://schemas.openxmlformats.org/officeDocument/2006/relationships/font" Target="fonts/Cantarell-bold.fntdata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95" Type="http://schemas.openxmlformats.org/officeDocument/2006/relationships/font" Target="fonts/Economica-italic.fntdata"/><Relationship Id="rId94" Type="http://schemas.openxmlformats.org/officeDocument/2006/relationships/font" Target="fonts/Economica-bold.fntdata"/><Relationship Id="rId97" Type="http://schemas.openxmlformats.org/officeDocument/2006/relationships/font" Target="fonts/Oxygen-regular.fntdata"/><Relationship Id="rId96" Type="http://schemas.openxmlformats.org/officeDocument/2006/relationships/font" Target="fonts/Economica-boldItalic.fntdata"/><Relationship Id="rId11" Type="http://schemas.openxmlformats.org/officeDocument/2006/relationships/slide" Target="slides/slide3.xml"/><Relationship Id="rId99" Type="http://schemas.openxmlformats.org/officeDocument/2006/relationships/font" Target="fonts/Cantarell-regular.fntdata"/><Relationship Id="rId10" Type="http://schemas.openxmlformats.org/officeDocument/2006/relationships/slide" Target="slides/slide2.xml"/><Relationship Id="rId98" Type="http://schemas.openxmlformats.org/officeDocument/2006/relationships/font" Target="fonts/Oxygen-bold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91" Type="http://schemas.openxmlformats.org/officeDocument/2006/relationships/slide" Target="slides/slide83.xml"/><Relationship Id="rId90" Type="http://schemas.openxmlformats.org/officeDocument/2006/relationships/slide" Target="slides/slide82.xml"/><Relationship Id="rId93" Type="http://schemas.openxmlformats.org/officeDocument/2006/relationships/font" Target="fonts/Economica-regular.fntdata"/><Relationship Id="rId92" Type="http://schemas.openxmlformats.org/officeDocument/2006/relationships/slide" Target="slides/slide8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84" Type="http://schemas.openxmlformats.org/officeDocument/2006/relationships/slide" Target="slides/slide76.xml"/><Relationship Id="rId83" Type="http://schemas.openxmlformats.org/officeDocument/2006/relationships/slide" Target="slides/slide75.xml"/><Relationship Id="rId86" Type="http://schemas.openxmlformats.org/officeDocument/2006/relationships/slide" Target="slides/slide78.xml"/><Relationship Id="rId85" Type="http://schemas.openxmlformats.org/officeDocument/2006/relationships/slide" Target="slides/slide77.xml"/><Relationship Id="rId88" Type="http://schemas.openxmlformats.org/officeDocument/2006/relationships/slide" Target="slides/slide80.xml"/><Relationship Id="rId87" Type="http://schemas.openxmlformats.org/officeDocument/2006/relationships/slide" Target="slides/slide79.xml"/><Relationship Id="rId89" Type="http://schemas.openxmlformats.org/officeDocument/2006/relationships/slide" Target="slides/slide81.xml"/><Relationship Id="rId80" Type="http://schemas.openxmlformats.org/officeDocument/2006/relationships/slide" Target="slides/slide72.xml"/><Relationship Id="rId82" Type="http://schemas.openxmlformats.org/officeDocument/2006/relationships/slide" Target="slides/slide74.xml"/><Relationship Id="rId81" Type="http://schemas.openxmlformats.org/officeDocument/2006/relationships/slide" Target="slides/slide73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schemas.openxmlformats.org/officeDocument/2006/relationships/slide" Target="slides/slide65.xml"/><Relationship Id="rId72" Type="http://schemas.openxmlformats.org/officeDocument/2006/relationships/slide" Target="slides/slide64.xml"/><Relationship Id="rId75" Type="http://schemas.openxmlformats.org/officeDocument/2006/relationships/slide" Target="slides/slide67.xml"/><Relationship Id="rId74" Type="http://schemas.openxmlformats.org/officeDocument/2006/relationships/slide" Target="slides/slide66.xml"/><Relationship Id="rId77" Type="http://schemas.openxmlformats.org/officeDocument/2006/relationships/slide" Target="slides/slide69.xml"/><Relationship Id="rId76" Type="http://schemas.openxmlformats.org/officeDocument/2006/relationships/slide" Target="slides/slide68.xml"/><Relationship Id="rId79" Type="http://schemas.openxmlformats.org/officeDocument/2006/relationships/slide" Target="slides/slide71.xml"/><Relationship Id="rId78" Type="http://schemas.openxmlformats.org/officeDocument/2006/relationships/slide" Target="slides/slide70.xml"/><Relationship Id="rId71" Type="http://schemas.openxmlformats.org/officeDocument/2006/relationships/slide" Target="slides/slide63.xml"/><Relationship Id="rId70" Type="http://schemas.openxmlformats.org/officeDocument/2006/relationships/slide" Target="slides/slide62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66" Type="http://schemas.openxmlformats.org/officeDocument/2006/relationships/slide" Target="slides/slide58.xml"/><Relationship Id="rId65" Type="http://schemas.openxmlformats.org/officeDocument/2006/relationships/slide" Target="slides/slide57.xml"/><Relationship Id="rId68" Type="http://schemas.openxmlformats.org/officeDocument/2006/relationships/slide" Target="slides/slide60.xml"/><Relationship Id="rId67" Type="http://schemas.openxmlformats.org/officeDocument/2006/relationships/slide" Target="slides/slide59.xml"/><Relationship Id="rId60" Type="http://schemas.openxmlformats.org/officeDocument/2006/relationships/slide" Target="slides/slide52.xml"/><Relationship Id="rId69" Type="http://schemas.openxmlformats.org/officeDocument/2006/relationships/slide" Target="slides/slide6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55" Type="http://schemas.openxmlformats.org/officeDocument/2006/relationships/slide" Target="slides/slide47.xml"/><Relationship Id="rId54" Type="http://schemas.openxmlformats.org/officeDocument/2006/relationships/slide" Target="slides/slide46.xml"/><Relationship Id="rId57" Type="http://schemas.openxmlformats.org/officeDocument/2006/relationships/slide" Target="slides/slide49.xml"/><Relationship Id="rId56" Type="http://schemas.openxmlformats.org/officeDocument/2006/relationships/slide" Target="slides/slide48.xml"/><Relationship Id="rId59" Type="http://schemas.openxmlformats.org/officeDocument/2006/relationships/slide" Target="slides/slide51.xml"/><Relationship Id="rId58" Type="http://schemas.openxmlformats.org/officeDocument/2006/relationships/slide" Target="slides/slide5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708815549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0708815549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0708815549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0708815549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0708815549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0708815549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0708815549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0708815549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0708815549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0708815549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0708815549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0708815549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0708815549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0708815549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b45fdfa252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b45fdfa252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b45fdfa252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b45fdfa252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0708815549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0708815549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0708815549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0708815549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0708815549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0708815549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0708815549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0708815549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b45fdfa252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b45fdfa252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0708815549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0708815549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0708815549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0708815549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0708815549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0708815549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0708815549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0708815549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0708815549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0708815549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0708815549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0708815549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0708815549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0708815549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0708815549_0_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0708815549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0708815549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0708815549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109ae8bd4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109ae8bd4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0708815549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0708815549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0708815549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0708815549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0708815549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0708815549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0708815549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0708815549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109ae8bd47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109ae8bd47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0708815549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0708815549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0708815549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0708815549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1245d7c8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1245d7c8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0708815549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0708815549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708815549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708815549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b45fdfa252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b45fdfa252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0708815549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0708815549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10708815549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10708815549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0708815549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0708815549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10708815549_0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10708815549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0708815549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10708815549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10708815549_0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10708815549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0708815549_0_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0708815549_0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1245d7c8f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1245d7c8f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11245d7c8f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11245d7c8f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11245d7c8f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11245d7c8f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11245d7c8f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11245d7c8f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11245d7c8fe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11245d7c8f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11245d7c8fe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11245d7c8fe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11245d7c8fe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11245d7c8f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1245d7c8fe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1245d7c8fe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11245d7c8fe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11245d7c8fe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11245d7c8fe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11245d7c8fe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11245d7c8fe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11245d7c8fe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b45fdfa252_4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b45fdfa252_4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b45fdfa252_47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b45fdfa252_47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1245d7c8fe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11245d7c8fe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11245d7c8fe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11245d7c8fe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1245d7c8fe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1245d7c8fe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11245d7c8fe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11245d7c8fe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1245d7c8fe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1245d7c8fe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1245d7c8fe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11245d7c8fe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b45fdfa252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b45fdfa252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b45fdfa252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b45fdfa252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2b45fdfa252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2b45fdfa252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b45fdfa252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2b45fdfa252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b45fdfa252_47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b45fdfa252_47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5e706bfe0344430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5e706bfe0344430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5e706bfe03444309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5e706bfe03444309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5e706bfe03444309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5e706bfe03444309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5e706bfe03444309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5e706bfe03444309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5e706bfe03444309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5e706bfe03444309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5e706bfe03444309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5e706bfe03444309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5e706bfe03444309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5e706bfe03444309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5e706bfe03444309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5e706bfe03444309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5e706bfe03444309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5e706bfe03444309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5e706bfe03444309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5e706bfe03444309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5e706bfe03444309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5e706bfe03444309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5e706bfe03444309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5e706bfe03444309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5e706bfe03444309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5e706bfe03444309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5e706bfe03444309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5e706bfe03444309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5e706bfe03444309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5e706bfe03444309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5e706bfe03444309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5e706bfe03444309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5e706bfe03444309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5e706bfe03444309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5e706bfe03444309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5e706bfe03444309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2" name="Google Shape;112;p27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3" name="Google Shape;113;p27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15" name="Google Shape;11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8" name="Google Shape;118;p28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9" name="Google Shape;119;p2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p30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0" name="Google Shape;13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6" name="Google Shape;136;p32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" name="Google Shape;13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3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1" name="Google Shape;14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4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" name="Google Shape;144;p3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34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6" name="Google Shape;146;p34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7" name="Google Shape;147;p3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51" name="Google Shape;15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6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36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6" name="Google Shape;15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Relationship Id="rId4" Type="http://schemas.openxmlformats.org/officeDocument/2006/relationships/image" Target="../media/image7.gif"/><Relationship Id="rId5" Type="http://schemas.openxmlformats.org/officeDocument/2006/relationships/image" Target="../media/image2.gif"/><Relationship Id="rId6" Type="http://schemas.openxmlformats.org/officeDocument/2006/relationships/image" Target="../media/image8.gif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Relationship Id="rId4" Type="http://schemas.openxmlformats.org/officeDocument/2006/relationships/image" Target="../media/image7.gif"/><Relationship Id="rId5" Type="http://schemas.openxmlformats.org/officeDocument/2006/relationships/image" Target="../media/image3.gif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Relationship Id="rId4" Type="http://schemas.openxmlformats.org/officeDocument/2006/relationships/image" Target="../media/image7.gif"/><Relationship Id="rId5" Type="http://schemas.openxmlformats.org/officeDocument/2006/relationships/image" Target="../media/image3.gif"/><Relationship Id="rId6" Type="http://schemas.openxmlformats.org/officeDocument/2006/relationships/image" Target="../media/image4.gif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Relationship Id="rId4" Type="http://schemas.openxmlformats.org/officeDocument/2006/relationships/image" Target="../media/image5.gif"/><Relationship Id="rId5" Type="http://schemas.openxmlformats.org/officeDocument/2006/relationships/image" Target="../media/image2.gif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Relationship Id="rId4" Type="http://schemas.openxmlformats.org/officeDocument/2006/relationships/image" Target="../media/image5.gif"/><Relationship Id="rId5" Type="http://schemas.openxmlformats.org/officeDocument/2006/relationships/image" Target="../media/image2.gif"/><Relationship Id="rId6" Type="http://schemas.openxmlformats.org/officeDocument/2006/relationships/image" Target="../media/image18.gif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Relationship Id="rId4" Type="http://schemas.openxmlformats.org/officeDocument/2006/relationships/image" Target="../media/image9.gif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Relationship Id="rId4" Type="http://schemas.openxmlformats.org/officeDocument/2006/relationships/image" Target="../media/image15.gif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Relationship Id="rId4" Type="http://schemas.openxmlformats.org/officeDocument/2006/relationships/image" Target="../media/image13.gif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png"/><Relationship Id="rId4" Type="http://schemas.openxmlformats.org/officeDocument/2006/relationships/image" Target="../media/image10.gif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Matrices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69" name="Google Shape;169;p39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70" name="Google Shape;170;p39"/>
          <p:cNvGraphicFramePr/>
          <p:nvPr/>
        </p:nvGraphicFramePr>
        <p:xfrm>
          <a:off x="3595338" y="262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872825"/>
                <a:gridCol w="872825"/>
                <a:gridCol w="872825"/>
                <a:gridCol w="872825"/>
                <a:gridCol w="872825"/>
                <a:gridCol w="872825"/>
              </a:tblGrid>
              <a:tr h="36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Thurs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Pears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Grapes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Oranges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Bananas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71" name="Google Shape;171;p39"/>
          <p:cNvSpPr txBox="1"/>
          <p:nvPr>
            <p:ph idx="1" type="body"/>
          </p:nvPr>
        </p:nvSpPr>
        <p:spPr>
          <a:xfrm>
            <a:off x="311700" y="1225225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objects in the rows is the </a:t>
            </a:r>
            <a:r>
              <a:rPr b="1" lang="en"/>
              <a:t>row dimension (i)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objects in the columns is the </a:t>
            </a:r>
            <a:r>
              <a:rPr b="1" lang="en"/>
              <a:t>column dimension (j)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graphicFrame>
        <p:nvGraphicFramePr>
          <p:cNvPr id="177" name="Google Shape;177;p40"/>
          <p:cNvGraphicFramePr/>
          <p:nvPr/>
        </p:nvGraphicFramePr>
        <p:xfrm>
          <a:off x="3595338" y="262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872825"/>
                <a:gridCol w="872825"/>
                <a:gridCol w="872825"/>
                <a:gridCol w="872825"/>
                <a:gridCol w="872825"/>
                <a:gridCol w="872825"/>
              </a:tblGrid>
              <a:tr h="36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Thurs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Pears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Grapes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Oranges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Bananas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78" name="Google Shape;178;p40"/>
          <p:cNvSpPr txBox="1"/>
          <p:nvPr>
            <p:ph idx="1" type="body"/>
          </p:nvPr>
        </p:nvSpPr>
        <p:spPr>
          <a:xfrm>
            <a:off x="311700" y="1225225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objects in the rows is the </a:t>
            </a:r>
            <a:r>
              <a:rPr b="1" lang="en"/>
              <a:t>row dimension (i)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objects in the columns is the </a:t>
            </a:r>
            <a:r>
              <a:rPr b="1" lang="en"/>
              <a:t>column dimension (j)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0"/>
          <p:cNvSpPr txBox="1"/>
          <p:nvPr>
            <p:ph idx="1" type="body"/>
          </p:nvPr>
        </p:nvSpPr>
        <p:spPr>
          <a:xfrm>
            <a:off x="311700" y="2625325"/>
            <a:ext cx="32835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Row dimension is: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Fruits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Column dimension is: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Weekdays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graphicFrame>
        <p:nvGraphicFramePr>
          <p:cNvPr id="185" name="Google Shape;185;p41"/>
          <p:cNvGraphicFramePr/>
          <p:nvPr/>
        </p:nvGraphicFramePr>
        <p:xfrm>
          <a:off x="3595338" y="262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872825"/>
                <a:gridCol w="872825"/>
                <a:gridCol w="872825"/>
                <a:gridCol w="872825"/>
                <a:gridCol w="872825"/>
                <a:gridCol w="872825"/>
              </a:tblGrid>
              <a:tr h="36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Thurs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Pears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Grapes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Oranges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Bananas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86" name="Google Shape;186;p41"/>
          <p:cNvSpPr txBox="1"/>
          <p:nvPr>
            <p:ph idx="1" type="body"/>
          </p:nvPr>
        </p:nvSpPr>
        <p:spPr>
          <a:xfrm>
            <a:off x="311700" y="1225225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objects in each dimension define the</a:t>
            </a:r>
            <a:r>
              <a:rPr b="1" lang="en"/>
              <a:t> dimensions of the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dimensions are written </a:t>
            </a:r>
            <a:r>
              <a:rPr b="1" lang="en"/>
              <a:t>R </a:t>
            </a:r>
            <a:r>
              <a:rPr lang="en"/>
              <a:t>X</a:t>
            </a:r>
            <a:r>
              <a:rPr b="1" lang="en"/>
              <a:t> C </a:t>
            </a:r>
            <a:r>
              <a:rPr lang="en"/>
              <a:t>(pronounced “R by C”)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 is the number of row objects and C is the number of column objects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1"/>
          <p:cNvSpPr txBox="1"/>
          <p:nvPr>
            <p:ph idx="1" type="body"/>
          </p:nvPr>
        </p:nvSpPr>
        <p:spPr>
          <a:xfrm>
            <a:off x="311700" y="2625325"/>
            <a:ext cx="32835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Row dimension is: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Fruits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Column dimension is: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Weekdays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graphicFrame>
        <p:nvGraphicFramePr>
          <p:cNvPr id="193" name="Google Shape;193;p42"/>
          <p:cNvGraphicFramePr/>
          <p:nvPr/>
        </p:nvGraphicFramePr>
        <p:xfrm>
          <a:off x="3595338" y="262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872825"/>
                <a:gridCol w="872825"/>
                <a:gridCol w="872825"/>
                <a:gridCol w="872825"/>
                <a:gridCol w="872825"/>
                <a:gridCol w="872825"/>
              </a:tblGrid>
              <a:tr h="36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Thurs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Pears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Grapes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Oranges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Bananas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94" name="Google Shape;194;p42"/>
          <p:cNvSpPr txBox="1"/>
          <p:nvPr>
            <p:ph idx="1" type="body"/>
          </p:nvPr>
        </p:nvSpPr>
        <p:spPr>
          <a:xfrm>
            <a:off x="311700" y="1225225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objects in each dimension define the</a:t>
            </a:r>
            <a:r>
              <a:rPr b="1" lang="en"/>
              <a:t> dimensions of the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dimensions are written </a:t>
            </a:r>
            <a:r>
              <a:rPr b="1" lang="en"/>
              <a:t>R </a:t>
            </a:r>
            <a:r>
              <a:rPr lang="en"/>
              <a:t>X</a:t>
            </a:r>
            <a:r>
              <a:rPr b="1" lang="en"/>
              <a:t> C </a:t>
            </a:r>
            <a:r>
              <a:rPr lang="en"/>
              <a:t>(pronounced “R by C”)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 is the number of row objects and C is the number of column objects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2"/>
          <p:cNvSpPr txBox="1"/>
          <p:nvPr>
            <p:ph idx="1" type="body"/>
          </p:nvPr>
        </p:nvSpPr>
        <p:spPr>
          <a:xfrm>
            <a:off x="311700" y="2625325"/>
            <a:ext cx="32835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Row dimension is: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Fruits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Column dimension is: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Weekdays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2"/>
          <p:cNvSpPr/>
          <p:nvPr/>
        </p:nvSpPr>
        <p:spPr>
          <a:xfrm>
            <a:off x="157925" y="4159450"/>
            <a:ext cx="31176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matrix is 4 X 5!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97" name="Google Shape;197;p42"/>
          <p:cNvCxnSpPr>
            <a:stCxn id="196" idx="7"/>
          </p:cNvCxnSpPr>
          <p:nvPr/>
        </p:nvCxnSpPr>
        <p:spPr>
          <a:xfrm flipH="1" rot="10800000">
            <a:off x="2818963" y="3907391"/>
            <a:ext cx="662700" cy="37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203" name="Google Shape;203;p43"/>
          <p:cNvSpPr txBox="1"/>
          <p:nvPr>
            <p:ph idx="1" type="body"/>
          </p:nvPr>
        </p:nvSpPr>
        <p:spPr>
          <a:xfrm>
            <a:off x="311700" y="2625325"/>
            <a:ext cx="32835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Cells record: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times you ate the row fruit in the column day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4" name="Google Shape;204;p43"/>
          <p:cNvGraphicFramePr/>
          <p:nvPr/>
        </p:nvGraphicFramePr>
        <p:xfrm>
          <a:off x="3595338" y="262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872825"/>
                <a:gridCol w="872825"/>
                <a:gridCol w="872825"/>
                <a:gridCol w="872825"/>
                <a:gridCol w="872825"/>
                <a:gridCol w="872825"/>
              </a:tblGrid>
              <a:tr h="36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Thurs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Pears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Grapes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Oranges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Bananas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05" name="Google Shape;205;p43"/>
          <p:cNvSpPr txBox="1"/>
          <p:nvPr>
            <p:ph idx="1" type="body"/>
          </p:nvPr>
        </p:nvSpPr>
        <p:spPr>
          <a:xfrm>
            <a:off x="311700" y="1225225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objects in each dimension define the</a:t>
            </a:r>
            <a:r>
              <a:rPr b="1" lang="en"/>
              <a:t> dimensions of the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dimensions are written </a:t>
            </a:r>
            <a:r>
              <a:rPr b="1" lang="en"/>
              <a:t>R </a:t>
            </a:r>
            <a:r>
              <a:rPr lang="en"/>
              <a:t>X</a:t>
            </a:r>
            <a:r>
              <a:rPr b="1" lang="en"/>
              <a:t> C </a:t>
            </a:r>
            <a:r>
              <a:rPr lang="en"/>
              <a:t>(pronounced “R by C”)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 is the number of row objects and C is the number of column objects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211" name="Google Shape;211;p44"/>
          <p:cNvSpPr txBox="1"/>
          <p:nvPr>
            <p:ph idx="1" type="body"/>
          </p:nvPr>
        </p:nvSpPr>
        <p:spPr>
          <a:xfrm>
            <a:off x="311700" y="2625325"/>
            <a:ext cx="39735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call this matrix </a:t>
            </a:r>
            <a:r>
              <a:rPr b="1" lang="en"/>
              <a:t>A</a:t>
            </a:r>
            <a:r>
              <a:rPr lang="en"/>
              <a:t> then: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Grapes, Wed</a:t>
            </a:r>
            <a:r>
              <a:rPr lang="en"/>
              <a:t>   =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Bananas, Thurs</a:t>
            </a:r>
            <a:r>
              <a:rPr lang="en"/>
              <a:t>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Pears, Fri</a:t>
            </a:r>
            <a:r>
              <a:rPr lang="en"/>
              <a:t>       = 1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2" name="Google Shape;212;p44"/>
          <p:cNvGraphicFramePr/>
          <p:nvPr/>
        </p:nvGraphicFramePr>
        <p:xfrm>
          <a:off x="3595338" y="262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872825"/>
                <a:gridCol w="872825"/>
                <a:gridCol w="872825"/>
                <a:gridCol w="872825"/>
                <a:gridCol w="872825"/>
                <a:gridCol w="872825"/>
              </a:tblGrid>
              <a:tr h="36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Thurs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Pears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Grapes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Oranges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Bananas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13" name="Google Shape;213;p44"/>
          <p:cNvSpPr txBox="1"/>
          <p:nvPr>
            <p:ph idx="1" type="body"/>
          </p:nvPr>
        </p:nvSpPr>
        <p:spPr>
          <a:xfrm>
            <a:off x="311700" y="1225225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objects in each dimension define the</a:t>
            </a:r>
            <a:r>
              <a:rPr b="1" lang="en"/>
              <a:t> dimensions of the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dimensions are written </a:t>
            </a:r>
            <a:r>
              <a:rPr b="1" lang="en"/>
              <a:t>R </a:t>
            </a:r>
            <a:r>
              <a:rPr lang="en"/>
              <a:t>X</a:t>
            </a:r>
            <a:r>
              <a:rPr b="1" lang="en"/>
              <a:t> C </a:t>
            </a:r>
            <a:r>
              <a:rPr lang="en"/>
              <a:t>(pronounced “R by C”)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 is the number of row objects and C is the number of column objects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219" name="Google Shape;219;p45"/>
          <p:cNvSpPr txBox="1"/>
          <p:nvPr>
            <p:ph idx="1" type="body"/>
          </p:nvPr>
        </p:nvSpPr>
        <p:spPr>
          <a:xfrm>
            <a:off x="311700" y="2625325"/>
            <a:ext cx="39735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call this matrix </a:t>
            </a:r>
            <a:r>
              <a:rPr b="1" lang="en"/>
              <a:t>A</a:t>
            </a:r>
            <a:r>
              <a:rPr lang="en"/>
              <a:t> then: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Grapes, Wed</a:t>
            </a:r>
            <a:r>
              <a:rPr lang="en"/>
              <a:t>   =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Bananas, Thurs</a:t>
            </a:r>
            <a:r>
              <a:rPr lang="en"/>
              <a:t>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Pears, Fri</a:t>
            </a:r>
            <a:r>
              <a:rPr lang="en"/>
              <a:t>       = 1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0" name="Google Shape;220;p45"/>
          <p:cNvGraphicFramePr/>
          <p:nvPr/>
        </p:nvGraphicFramePr>
        <p:xfrm>
          <a:off x="3595338" y="262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872825"/>
                <a:gridCol w="872825"/>
                <a:gridCol w="872825"/>
                <a:gridCol w="872825"/>
                <a:gridCol w="872825"/>
                <a:gridCol w="872825"/>
              </a:tblGrid>
              <a:tr h="36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Thurs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Pears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Grapes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Oranges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Bananas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21" name="Google Shape;221;p45"/>
          <p:cNvSpPr txBox="1"/>
          <p:nvPr>
            <p:ph idx="1" type="body"/>
          </p:nvPr>
        </p:nvSpPr>
        <p:spPr>
          <a:xfrm>
            <a:off x="311700" y="1225225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objects in each dimension define the</a:t>
            </a:r>
            <a:r>
              <a:rPr b="1" lang="en"/>
              <a:t> dimensions of the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dimensions are written </a:t>
            </a:r>
            <a:r>
              <a:rPr b="1" lang="en"/>
              <a:t>R </a:t>
            </a:r>
            <a:r>
              <a:rPr lang="en"/>
              <a:t>X</a:t>
            </a:r>
            <a:r>
              <a:rPr b="1" lang="en"/>
              <a:t> C </a:t>
            </a:r>
            <a:r>
              <a:rPr lang="en"/>
              <a:t>(pronounced “R by C”)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 is the number of row objects and C is the number of column objects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227" name="Google Shape;227;p46"/>
          <p:cNvSpPr txBox="1"/>
          <p:nvPr>
            <p:ph idx="1" type="body"/>
          </p:nvPr>
        </p:nvSpPr>
        <p:spPr>
          <a:xfrm>
            <a:off x="311700" y="2625325"/>
            <a:ext cx="39735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call this matrix </a:t>
            </a:r>
            <a:r>
              <a:rPr b="1" lang="en"/>
              <a:t>A</a:t>
            </a:r>
            <a:r>
              <a:rPr lang="en"/>
              <a:t> then: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2,3</a:t>
            </a:r>
            <a:r>
              <a:rPr lang="en"/>
              <a:t>   =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4,4     </a:t>
            </a:r>
            <a:r>
              <a:rPr lang="en"/>
              <a:t>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1,5</a:t>
            </a:r>
            <a:r>
              <a:rPr lang="en"/>
              <a:t>   = 1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8" name="Google Shape;228;p46"/>
          <p:cNvGraphicFramePr/>
          <p:nvPr/>
        </p:nvGraphicFramePr>
        <p:xfrm>
          <a:off x="3595338" y="2625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872825"/>
                <a:gridCol w="872825"/>
                <a:gridCol w="872825"/>
                <a:gridCol w="872825"/>
                <a:gridCol w="872825"/>
                <a:gridCol w="872825"/>
              </a:tblGrid>
              <a:tr h="36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Thurs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Pears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Grapes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Oranges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Bananas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29" name="Google Shape;229;p46"/>
          <p:cNvSpPr txBox="1"/>
          <p:nvPr>
            <p:ph idx="1" type="body"/>
          </p:nvPr>
        </p:nvSpPr>
        <p:spPr>
          <a:xfrm>
            <a:off x="311700" y="1225225"/>
            <a:ext cx="85206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objects in each dimension define the</a:t>
            </a:r>
            <a:r>
              <a:rPr b="1" lang="en"/>
              <a:t> dimensions of the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dimensions are written </a:t>
            </a:r>
            <a:r>
              <a:rPr b="1" lang="en"/>
              <a:t>R </a:t>
            </a:r>
            <a:r>
              <a:rPr lang="en"/>
              <a:t>X</a:t>
            </a:r>
            <a:r>
              <a:rPr b="1" lang="en"/>
              <a:t> C </a:t>
            </a:r>
            <a:r>
              <a:rPr lang="en"/>
              <a:t>(pronounced “R by C”)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 is the number of row objects and C is the number of column objects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235" name="Google Shape;235;p47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Adjacency relations</a:t>
            </a:r>
            <a:r>
              <a:rPr lang="en">
                <a:solidFill>
                  <a:srgbClr val="000000"/>
                </a:solidFill>
              </a:rPr>
              <a:t> between vertices in a graph can be represented using a matrix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236" name="Google Shape;236;p47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237" name="Google Shape;237;p47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4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39" name="Google Shape;239;p47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245" name="Google Shape;245;p48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relations</a:t>
            </a:r>
            <a:r>
              <a:rPr lang="en"/>
              <a:t> between vertices in a graph can be represented using a matrix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246" name="Google Shape;246;p48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247" name="Google Shape;247;p48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48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49" name="Google Shape;249;p48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50" name="Google Shape;250;p48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256" name="Google Shape;256;p49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relations</a:t>
            </a:r>
            <a:r>
              <a:rPr lang="en"/>
              <a:t> between vertices in a graph can be represented using a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adjacency matrix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257" name="Google Shape;257;p49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258" name="Google Shape;258;p49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49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60" name="Google Shape;260;p49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61" name="Google Shape;261;p49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267" name="Google Shape;267;p50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relations</a:t>
            </a:r>
            <a:r>
              <a:rPr lang="en"/>
              <a:t> between vertices in a graph can be represented using a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adjacency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matrix: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b="1" lang="en">
                <a:solidFill>
                  <a:srgbClr val="000000"/>
                </a:solidFill>
              </a:rPr>
              <a:t>row objects</a:t>
            </a:r>
            <a:r>
              <a:rPr lang="en">
                <a:solidFill>
                  <a:srgbClr val="000000"/>
                </a:solidFill>
              </a:rPr>
              <a:t> are the </a:t>
            </a:r>
            <a:r>
              <a:rPr b="1" lang="en">
                <a:solidFill>
                  <a:srgbClr val="000000"/>
                </a:solidFill>
              </a:rPr>
              <a:t>vertices</a:t>
            </a:r>
            <a:r>
              <a:rPr lang="en">
                <a:solidFill>
                  <a:srgbClr val="000000"/>
                </a:solidFill>
              </a:rPr>
              <a:t> in the graph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268" name="Google Shape;268;p50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269" name="Google Shape;269;p50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50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71" name="Google Shape;271;p50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72" name="Google Shape;272;p50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73" name="Google Shape;273;p50"/>
          <p:cNvSpPr/>
          <p:nvPr/>
        </p:nvSpPr>
        <p:spPr>
          <a:xfrm rot="5400000">
            <a:off x="5029650" y="3581050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279" name="Google Shape;279;p51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relations</a:t>
            </a:r>
            <a:r>
              <a:rPr lang="en"/>
              <a:t> between vertices in a graph can be represented using a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adjacency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matrix: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b="1" lang="en">
                <a:solidFill>
                  <a:srgbClr val="000000"/>
                </a:solidFill>
              </a:rPr>
              <a:t>row objects</a:t>
            </a:r>
            <a:r>
              <a:rPr lang="en">
                <a:solidFill>
                  <a:srgbClr val="000000"/>
                </a:solidFill>
              </a:rPr>
              <a:t> are the </a:t>
            </a:r>
            <a:r>
              <a:rPr b="1" lang="en">
                <a:solidFill>
                  <a:srgbClr val="000000"/>
                </a:solidFill>
              </a:rPr>
              <a:t>vertices</a:t>
            </a:r>
            <a:r>
              <a:rPr lang="en">
                <a:solidFill>
                  <a:srgbClr val="000000"/>
                </a:solidFill>
              </a:rPr>
              <a:t> in the graph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And so are the </a:t>
            </a:r>
            <a:r>
              <a:rPr b="1" lang="en">
                <a:solidFill>
                  <a:srgbClr val="000000"/>
                </a:solidFill>
              </a:rPr>
              <a:t>column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objects</a:t>
            </a:r>
            <a:r>
              <a:rPr lang="en">
                <a:solidFill>
                  <a:srgbClr val="000000"/>
                </a:solidFill>
              </a:rPr>
              <a:t>!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280" name="Google Shape;280;p51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281" name="Google Shape;281;p51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51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83" name="Google Shape;283;p51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84" name="Google Shape;284;p51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85" name="Google Shape;285;p51"/>
          <p:cNvSpPr/>
          <p:nvPr/>
        </p:nvSpPr>
        <p:spPr>
          <a:xfrm rot="5400000">
            <a:off x="5029650" y="3581050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86" name="Google Shape;286;p51"/>
          <p:cNvSpPr/>
          <p:nvPr/>
        </p:nvSpPr>
        <p:spPr>
          <a:xfrm rot="10800000">
            <a:off x="6181800" y="2395300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292" name="Google Shape;292;p52"/>
          <p:cNvSpPr txBox="1"/>
          <p:nvPr>
            <p:ph idx="1" type="body"/>
          </p:nvPr>
        </p:nvSpPr>
        <p:spPr>
          <a:xfrm>
            <a:off x="311700" y="1225225"/>
            <a:ext cx="502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relations</a:t>
            </a:r>
            <a:r>
              <a:rPr lang="en"/>
              <a:t> between vertices in a graph can be represented using a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This is called the </a:t>
            </a:r>
            <a:r>
              <a:rPr b="1" lang="en" sz="1800"/>
              <a:t>adjacency matrix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adjacency matrix is </a:t>
            </a:r>
            <a:r>
              <a:rPr b="1" lang="en">
                <a:solidFill>
                  <a:srgbClr val="000000"/>
                </a:solidFill>
              </a:rPr>
              <a:t>square</a:t>
            </a:r>
            <a:r>
              <a:rPr lang="en">
                <a:solidFill>
                  <a:srgbClr val="000000"/>
                </a:solidFill>
              </a:rPr>
              <a:t> because the number of rows is the same as the number of columns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R = C = 5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293" name="Google Shape;293;p52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294" name="Google Shape;294;p52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52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296" name="Google Shape;296;p52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97" name="Google Shape;297;p52"/>
          <p:cNvSpPr/>
          <p:nvPr/>
        </p:nvSpPr>
        <p:spPr>
          <a:xfrm>
            <a:off x="2567925" y="4083900"/>
            <a:ext cx="31176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matrix is 5 X 5!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98" name="Google Shape;298;p52"/>
          <p:cNvCxnSpPr>
            <a:stCxn id="297" idx="7"/>
          </p:cNvCxnSpPr>
          <p:nvPr/>
        </p:nvCxnSpPr>
        <p:spPr>
          <a:xfrm flipH="1" rot="10800000">
            <a:off x="5228963" y="3831841"/>
            <a:ext cx="662700" cy="37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04" name="Google Shape;304;p53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05" name="Google Shape;305;p53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06" name="Google Shape;306;p53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53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08" name="Google Shape;308;p53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9" name="Google Shape;309;p53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0" name="Google Shape;310;p53"/>
          <p:cNvSpPr txBox="1"/>
          <p:nvPr>
            <p:ph idx="1" type="body"/>
          </p:nvPr>
        </p:nvSpPr>
        <p:spPr>
          <a:xfrm>
            <a:off x="311700" y="1225225"/>
            <a:ext cx="5203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conventional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Refer to the </a:t>
            </a:r>
            <a:r>
              <a:rPr b="1" lang="en" sz="1400"/>
              <a:t>whole</a:t>
            </a:r>
            <a:r>
              <a:rPr lang="en" sz="1400"/>
              <a:t> </a:t>
            </a:r>
            <a:r>
              <a:rPr b="1" lang="en" sz="1400"/>
              <a:t>matrix</a:t>
            </a:r>
            <a:r>
              <a:rPr lang="en" sz="1400"/>
              <a:t> by its </a:t>
            </a:r>
            <a:r>
              <a:rPr i="1" lang="en" sz="1400"/>
              <a:t>name</a:t>
            </a:r>
            <a:r>
              <a:rPr lang="en" sz="1400"/>
              <a:t> usually a capital letter like </a:t>
            </a:r>
            <a:r>
              <a:rPr b="1" lang="en" sz="1400"/>
              <a:t>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row</a:t>
            </a:r>
            <a:r>
              <a:rPr lang="en"/>
              <a:t> object with the letter </a:t>
            </a:r>
            <a:r>
              <a:rPr i="1" lang="en"/>
              <a:t>i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 </a:t>
            </a:r>
            <a:r>
              <a:rPr b="1" lang="en"/>
              <a:t>column</a:t>
            </a:r>
            <a:r>
              <a:rPr lang="en"/>
              <a:t> object with the letter </a:t>
            </a:r>
            <a:r>
              <a:rPr i="1" lang="en"/>
              <a:t>j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cell</a:t>
            </a:r>
            <a:r>
              <a:rPr lang="en"/>
              <a:t> in the matrix by the matrix name in lowercase followed by a </a:t>
            </a:r>
            <a:r>
              <a:rPr b="1" lang="en"/>
              <a:t>row subscript</a:t>
            </a:r>
            <a:r>
              <a:rPr lang="en"/>
              <a:t> and a </a:t>
            </a:r>
            <a:r>
              <a:rPr b="1" lang="en"/>
              <a:t>column subscript</a:t>
            </a:r>
            <a:r>
              <a:rPr lang="en"/>
              <a:t>: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16" name="Google Shape;316;p54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17" name="Google Shape;317;p54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18" name="Google Shape;318;p54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54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20" name="Google Shape;320;p54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21" name="Google Shape;321;p54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22" name="Google Shape;322;p54"/>
          <p:cNvSpPr txBox="1"/>
          <p:nvPr>
            <p:ph idx="1" type="body"/>
          </p:nvPr>
        </p:nvSpPr>
        <p:spPr>
          <a:xfrm>
            <a:off x="311700" y="1225225"/>
            <a:ext cx="5203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conventional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Refer to the </a:t>
            </a:r>
            <a:r>
              <a:rPr b="1" lang="en" sz="1400"/>
              <a:t>whole</a:t>
            </a:r>
            <a:r>
              <a:rPr lang="en" sz="1400"/>
              <a:t> </a:t>
            </a:r>
            <a:r>
              <a:rPr b="1" lang="en" sz="1400"/>
              <a:t>matrix</a:t>
            </a:r>
            <a:r>
              <a:rPr lang="en" sz="1400"/>
              <a:t> by its </a:t>
            </a:r>
            <a:r>
              <a:rPr i="1" lang="en" sz="1400"/>
              <a:t>name</a:t>
            </a:r>
            <a:r>
              <a:rPr lang="en" sz="1400"/>
              <a:t> usually a capital letter like </a:t>
            </a:r>
            <a:r>
              <a:rPr b="1" lang="en" sz="1400"/>
              <a:t>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row</a:t>
            </a:r>
            <a:r>
              <a:rPr lang="en"/>
              <a:t> object with the letter </a:t>
            </a:r>
            <a:r>
              <a:rPr i="1" lang="en"/>
              <a:t>i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 </a:t>
            </a:r>
            <a:r>
              <a:rPr b="1" lang="en"/>
              <a:t>column</a:t>
            </a:r>
            <a:r>
              <a:rPr lang="en"/>
              <a:t> object with the letter </a:t>
            </a:r>
            <a:r>
              <a:rPr i="1" lang="en"/>
              <a:t>j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cell</a:t>
            </a:r>
            <a:r>
              <a:rPr lang="en"/>
              <a:t> in the matrix by the matrix name in lowercase followed by a </a:t>
            </a:r>
            <a:r>
              <a:rPr b="1" lang="en"/>
              <a:t>row subscript</a:t>
            </a:r>
            <a:r>
              <a:rPr lang="en"/>
              <a:t> and a </a:t>
            </a:r>
            <a:r>
              <a:rPr b="1" lang="en"/>
              <a:t>column subscript</a:t>
            </a:r>
            <a:r>
              <a:rPr lang="en"/>
              <a:t>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aseline="-25000" lang="en"/>
              <a:t>ij</a:t>
            </a:r>
            <a:r>
              <a:rPr lang="en"/>
              <a:t> is the cell corresponding to row </a:t>
            </a:r>
            <a:r>
              <a:rPr i="1" lang="en"/>
              <a:t>i </a:t>
            </a:r>
            <a:r>
              <a:rPr lang="en"/>
              <a:t>and column </a:t>
            </a:r>
            <a:r>
              <a:rPr i="1" lang="en"/>
              <a:t>j</a:t>
            </a:r>
            <a:r>
              <a:rPr lang="en"/>
              <a:t> of matrix </a:t>
            </a:r>
            <a:r>
              <a:rPr b="1" lang="en"/>
              <a:t>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28" name="Google Shape;328;p55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29" name="Google Shape;329;p55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30" name="Google Shape;330;p55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55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32" name="Google Shape;332;p55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3" name="Google Shape;333;p55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4" name="Google Shape;334;p55"/>
          <p:cNvSpPr txBox="1"/>
          <p:nvPr>
            <p:ph idx="1" type="body"/>
          </p:nvPr>
        </p:nvSpPr>
        <p:spPr>
          <a:xfrm>
            <a:off x="311700" y="1225225"/>
            <a:ext cx="5203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conventional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Refer to the </a:t>
            </a:r>
            <a:r>
              <a:rPr b="1" lang="en" sz="1400"/>
              <a:t>whole</a:t>
            </a:r>
            <a:r>
              <a:rPr lang="en" sz="1400"/>
              <a:t> </a:t>
            </a:r>
            <a:r>
              <a:rPr b="1" lang="en" sz="1400"/>
              <a:t>matrix</a:t>
            </a:r>
            <a:r>
              <a:rPr lang="en" sz="1400"/>
              <a:t> by its </a:t>
            </a:r>
            <a:r>
              <a:rPr i="1" lang="en" sz="1400"/>
              <a:t>name</a:t>
            </a:r>
            <a:r>
              <a:rPr lang="en" sz="1400"/>
              <a:t> usually a capital letter like </a:t>
            </a:r>
            <a:r>
              <a:rPr b="1" lang="en" sz="1400"/>
              <a:t>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row</a:t>
            </a:r>
            <a:r>
              <a:rPr lang="en"/>
              <a:t> object with the letter </a:t>
            </a:r>
            <a:r>
              <a:rPr i="1" lang="en"/>
              <a:t>i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 </a:t>
            </a:r>
            <a:r>
              <a:rPr b="1" lang="en"/>
              <a:t>column</a:t>
            </a:r>
            <a:r>
              <a:rPr lang="en"/>
              <a:t> object with the letter </a:t>
            </a:r>
            <a:r>
              <a:rPr i="1" lang="en"/>
              <a:t>j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 to </a:t>
            </a:r>
            <a:r>
              <a:rPr i="1" lang="en"/>
              <a:t>any</a:t>
            </a:r>
            <a:r>
              <a:rPr lang="en"/>
              <a:t> </a:t>
            </a:r>
            <a:r>
              <a:rPr b="1" lang="en"/>
              <a:t>cell</a:t>
            </a:r>
            <a:r>
              <a:rPr lang="en"/>
              <a:t> in the matrix by the matrix name in lowercase followed by a </a:t>
            </a:r>
            <a:r>
              <a:rPr b="1" lang="en"/>
              <a:t>row subscript</a:t>
            </a:r>
            <a:r>
              <a:rPr lang="en"/>
              <a:t> and a </a:t>
            </a:r>
            <a:r>
              <a:rPr b="1" lang="en"/>
              <a:t>column subscript</a:t>
            </a:r>
            <a:r>
              <a:rPr lang="en"/>
              <a:t>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aseline="-25000" lang="en"/>
              <a:t>ij</a:t>
            </a:r>
            <a:r>
              <a:rPr lang="en"/>
              <a:t> is the cell corresponding to row </a:t>
            </a:r>
            <a:r>
              <a:rPr i="1" lang="en"/>
              <a:t>i </a:t>
            </a:r>
            <a:r>
              <a:rPr lang="en"/>
              <a:t>and column </a:t>
            </a:r>
            <a:r>
              <a:rPr i="1" lang="en"/>
              <a:t>j</a:t>
            </a:r>
            <a:r>
              <a:rPr lang="en"/>
              <a:t> of matrix </a:t>
            </a:r>
            <a:r>
              <a:rPr b="1" lang="en"/>
              <a:t>A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cells in which </a:t>
            </a:r>
            <a:r>
              <a:rPr i="1" lang="en"/>
              <a:t>i </a:t>
            </a:r>
            <a:r>
              <a:rPr lang="en"/>
              <a:t>= </a:t>
            </a:r>
            <a:r>
              <a:rPr i="1" lang="en"/>
              <a:t>j</a:t>
            </a:r>
            <a:r>
              <a:rPr lang="en"/>
              <a:t> is called the </a:t>
            </a:r>
            <a:r>
              <a:rPr b="1" lang="en"/>
              <a:t>matrix diagonal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40" name="Google Shape;340;p56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refer to </a:t>
            </a:r>
            <a:r>
              <a:rPr i="1" lang="en">
                <a:solidFill>
                  <a:srgbClr val="000000"/>
                </a:solidFill>
              </a:rPr>
              <a:t>particular</a:t>
            </a:r>
            <a:r>
              <a:rPr lang="en">
                <a:solidFill>
                  <a:srgbClr val="000000"/>
                </a:solidFill>
              </a:rPr>
              <a:t> cells in the adjacency matrix in two ways: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41" name="Google Shape;341;p56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42" name="Google Shape;342;p56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56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44" name="Google Shape;344;p56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45" name="Google Shape;345;p56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51" name="Google Shape;351;p57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refer to </a:t>
            </a:r>
            <a:r>
              <a:rPr i="1" lang="en">
                <a:solidFill>
                  <a:srgbClr val="000000"/>
                </a:solidFill>
              </a:rPr>
              <a:t>particular</a:t>
            </a:r>
            <a:r>
              <a:rPr lang="en">
                <a:solidFill>
                  <a:srgbClr val="000000"/>
                </a:solidFill>
              </a:rPr>
              <a:t> cells in the </a:t>
            </a:r>
            <a:r>
              <a:rPr lang="en"/>
              <a:t>adjacency </a:t>
            </a:r>
            <a:r>
              <a:rPr lang="en">
                <a:solidFill>
                  <a:srgbClr val="000000"/>
                </a:solidFill>
              </a:rPr>
              <a:t>matrix in two ways: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By typing the </a:t>
            </a:r>
            <a:r>
              <a:rPr lang="en">
                <a:solidFill>
                  <a:srgbClr val="000000"/>
                </a:solidFill>
              </a:rPr>
              <a:t>matrix name in lowercase</a:t>
            </a:r>
            <a:r>
              <a:rPr lang="en">
                <a:solidFill>
                  <a:srgbClr val="000000"/>
                </a:solidFill>
              </a:rPr>
              <a:t> followed by the </a:t>
            </a:r>
            <a:r>
              <a:rPr b="1" lang="en">
                <a:solidFill>
                  <a:srgbClr val="000000"/>
                </a:solidFill>
              </a:rPr>
              <a:t>names</a:t>
            </a:r>
            <a:r>
              <a:rPr lang="en">
                <a:solidFill>
                  <a:srgbClr val="000000"/>
                </a:solidFill>
              </a:rPr>
              <a:t> of the row object and the column object: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a</a:t>
            </a:r>
            <a:r>
              <a:rPr baseline="-25000" lang="en">
                <a:solidFill>
                  <a:srgbClr val="000000"/>
                </a:solidFill>
              </a:rPr>
              <a:t>c,d</a:t>
            </a:r>
            <a:endParaRPr baseline="-250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52" name="Google Shape;352;p57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53" name="Google Shape;353;p57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5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55" name="Google Shape;355;p57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356" name="Google Shape;356;p57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62" name="Google Shape;362;p58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refer to </a:t>
            </a:r>
            <a:r>
              <a:rPr i="1" lang="en">
                <a:solidFill>
                  <a:srgbClr val="000000"/>
                </a:solidFill>
              </a:rPr>
              <a:t>particular</a:t>
            </a:r>
            <a:r>
              <a:rPr lang="en">
                <a:solidFill>
                  <a:srgbClr val="000000"/>
                </a:solidFill>
              </a:rPr>
              <a:t> cells in the </a:t>
            </a:r>
            <a:r>
              <a:rPr lang="en"/>
              <a:t>adjacency </a:t>
            </a:r>
            <a:r>
              <a:rPr lang="en">
                <a:solidFill>
                  <a:srgbClr val="000000"/>
                </a:solidFill>
              </a:rPr>
              <a:t>matrix in two ways: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By typing the </a:t>
            </a:r>
            <a:r>
              <a:rPr lang="en">
                <a:solidFill>
                  <a:srgbClr val="000000"/>
                </a:solidFill>
              </a:rPr>
              <a:t>matrix name in lowercase</a:t>
            </a:r>
            <a:r>
              <a:rPr lang="en">
                <a:solidFill>
                  <a:srgbClr val="000000"/>
                </a:solidFill>
              </a:rPr>
              <a:t> followed by the </a:t>
            </a:r>
            <a:r>
              <a:rPr b="1" lang="en">
                <a:solidFill>
                  <a:srgbClr val="000000"/>
                </a:solidFill>
              </a:rPr>
              <a:t>names</a:t>
            </a:r>
            <a:r>
              <a:rPr lang="en">
                <a:solidFill>
                  <a:srgbClr val="000000"/>
                </a:solidFill>
              </a:rPr>
              <a:t> of the row object and the column object: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a</a:t>
            </a:r>
            <a:r>
              <a:rPr baseline="-25000" lang="en">
                <a:solidFill>
                  <a:srgbClr val="000000"/>
                </a:solidFill>
              </a:rPr>
              <a:t>c,d</a:t>
            </a:r>
            <a:endParaRPr baseline="-250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/>
              <a:t>By typing the matrix name in lowercase followed by the </a:t>
            </a:r>
            <a:r>
              <a:rPr b="1" lang="en"/>
              <a:t>row number</a:t>
            </a:r>
            <a:r>
              <a:rPr lang="en"/>
              <a:t> and the </a:t>
            </a:r>
            <a:r>
              <a:rPr b="1" lang="en"/>
              <a:t>column number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aseline="-25000" lang="en"/>
              <a:t>4,5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63" name="Google Shape;363;p58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64" name="Google Shape;364;p58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58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66" name="Google Shape;366;p58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367" name="Google Shape;367;p58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73" name="Google Shape;373;p59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refer to </a:t>
            </a:r>
            <a:r>
              <a:rPr i="1" lang="en">
                <a:solidFill>
                  <a:srgbClr val="000000"/>
                </a:solidFill>
              </a:rPr>
              <a:t>particular</a:t>
            </a:r>
            <a:r>
              <a:rPr lang="en">
                <a:solidFill>
                  <a:srgbClr val="000000"/>
                </a:solidFill>
              </a:rPr>
              <a:t> cells in the </a:t>
            </a:r>
            <a:r>
              <a:rPr lang="en"/>
              <a:t>adjacency </a:t>
            </a:r>
            <a:r>
              <a:rPr lang="en">
                <a:solidFill>
                  <a:srgbClr val="000000"/>
                </a:solidFill>
              </a:rPr>
              <a:t>matrix in two ways: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By typing the </a:t>
            </a:r>
            <a:r>
              <a:rPr lang="en">
                <a:solidFill>
                  <a:srgbClr val="000000"/>
                </a:solidFill>
              </a:rPr>
              <a:t>matrix name in lowercase</a:t>
            </a:r>
            <a:r>
              <a:rPr lang="en">
                <a:solidFill>
                  <a:srgbClr val="000000"/>
                </a:solidFill>
              </a:rPr>
              <a:t> followed by the </a:t>
            </a:r>
            <a:r>
              <a:rPr b="1" lang="en">
                <a:solidFill>
                  <a:srgbClr val="000000"/>
                </a:solidFill>
              </a:rPr>
              <a:t>names</a:t>
            </a:r>
            <a:r>
              <a:rPr lang="en">
                <a:solidFill>
                  <a:srgbClr val="000000"/>
                </a:solidFill>
              </a:rPr>
              <a:t> of the row object and the column object: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a</a:t>
            </a:r>
            <a:r>
              <a:rPr baseline="-25000" lang="en">
                <a:solidFill>
                  <a:srgbClr val="000000"/>
                </a:solidFill>
              </a:rPr>
              <a:t>c,d</a:t>
            </a:r>
            <a:endParaRPr baseline="-250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/>
              <a:t>By typing the matrix name </a:t>
            </a:r>
            <a:r>
              <a:rPr lang="en"/>
              <a:t>in lowercase </a:t>
            </a:r>
            <a:r>
              <a:rPr lang="en"/>
              <a:t> followed by the </a:t>
            </a:r>
            <a:r>
              <a:rPr b="1" lang="en"/>
              <a:t>row number</a:t>
            </a:r>
            <a:r>
              <a:rPr lang="en"/>
              <a:t> and the </a:t>
            </a:r>
            <a:r>
              <a:rPr b="1" lang="en"/>
              <a:t>column number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aseline="-25000" lang="en"/>
              <a:t>4,5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74" name="Google Shape;374;p59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75" name="Google Shape;375;p59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" name="Google Shape;376;p59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77" name="Google Shape;377;p59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378" name="Google Shape;378;p59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9" name="Google Shape;379;p59"/>
          <p:cNvSpPr/>
          <p:nvPr/>
        </p:nvSpPr>
        <p:spPr>
          <a:xfrm>
            <a:off x="2567925" y="4083900"/>
            <a:ext cx="31176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We will typically use this approach!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80" name="Google Shape;380;p59"/>
          <p:cNvCxnSpPr>
            <a:stCxn id="379" idx="1"/>
          </p:cNvCxnSpPr>
          <p:nvPr/>
        </p:nvCxnSpPr>
        <p:spPr>
          <a:xfrm rot="10800000">
            <a:off x="2164987" y="3909241"/>
            <a:ext cx="859500" cy="296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86" name="Google Shape;386;p60"/>
          <p:cNvSpPr txBox="1"/>
          <p:nvPr>
            <p:ph idx="1" type="body"/>
          </p:nvPr>
        </p:nvSpPr>
        <p:spPr>
          <a:xfrm>
            <a:off x="311700" y="1225225"/>
            <a:ext cx="47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refer to </a:t>
            </a:r>
            <a:r>
              <a:rPr i="1" lang="en">
                <a:solidFill>
                  <a:srgbClr val="000000"/>
                </a:solidFill>
              </a:rPr>
              <a:t>particular</a:t>
            </a:r>
            <a:r>
              <a:rPr lang="en">
                <a:solidFill>
                  <a:srgbClr val="000000"/>
                </a:solidFill>
              </a:rPr>
              <a:t> cells in the </a:t>
            </a:r>
            <a:r>
              <a:rPr lang="en"/>
              <a:t>adjacency </a:t>
            </a:r>
            <a:r>
              <a:rPr lang="en">
                <a:solidFill>
                  <a:srgbClr val="000000"/>
                </a:solidFill>
              </a:rPr>
              <a:t>matrix in two ways: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By typing the </a:t>
            </a:r>
            <a:r>
              <a:rPr lang="en">
                <a:solidFill>
                  <a:srgbClr val="000000"/>
                </a:solidFill>
              </a:rPr>
              <a:t>matrix name </a:t>
            </a:r>
            <a:r>
              <a:rPr lang="en"/>
              <a:t>in lowercase </a:t>
            </a:r>
            <a:r>
              <a:rPr lang="en">
                <a:solidFill>
                  <a:srgbClr val="000000"/>
                </a:solidFill>
              </a:rPr>
              <a:t> followed by the </a:t>
            </a:r>
            <a:r>
              <a:rPr b="1" lang="en">
                <a:solidFill>
                  <a:srgbClr val="000000"/>
                </a:solidFill>
              </a:rPr>
              <a:t>names</a:t>
            </a:r>
            <a:r>
              <a:rPr lang="en">
                <a:solidFill>
                  <a:srgbClr val="000000"/>
                </a:solidFill>
              </a:rPr>
              <a:t> of the row object and the column object: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a</a:t>
            </a:r>
            <a:r>
              <a:rPr baseline="-25000" lang="en">
                <a:solidFill>
                  <a:srgbClr val="000000"/>
                </a:solidFill>
              </a:rPr>
              <a:t>c,d</a:t>
            </a:r>
            <a:endParaRPr baseline="-250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/>
              <a:t>By typing the matrix name </a:t>
            </a:r>
            <a:r>
              <a:rPr lang="en"/>
              <a:t>in lowercase </a:t>
            </a:r>
            <a:r>
              <a:rPr lang="en"/>
              <a:t> followed by the </a:t>
            </a:r>
            <a:r>
              <a:rPr b="1" lang="en"/>
              <a:t>row number</a:t>
            </a:r>
            <a:r>
              <a:rPr lang="en"/>
              <a:t> and the </a:t>
            </a:r>
            <a:r>
              <a:rPr b="1" lang="en"/>
              <a:t>column number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aseline="-25000" lang="en"/>
              <a:t>4,5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 that: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aseline="-25000" lang="en"/>
              <a:t>4,5</a:t>
            </a:r>
            <a:r>
              <a:rPr lang="en"/>
              <a:t> = </a:t>
            </a:r>
            <a:r>
              <a:rPr b="1" lang="en"/>
              <a:t>a</a:t>
            </a:r>
            <a:r>
              <a:rPr baseline="-25000" lang="en"/>
              <a:t>d,e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87" name="Google Shape;387;p60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88" name="Google Shape;388;p60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60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90" name="Google Shape;390;p60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391" name="Google Shape;391;p60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397" name="Google Shape;397;p61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98" name="Google Shape;398;p61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399" name="Google Shape;399;p61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0" name="Google Shape;400;p61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01" name="Google Shape;401;p61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02" name="Google Shape;402;p61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408" name="Google Shape;408;p62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formally,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</a:t>
            </a:r>
            <a:r>
              <a:rPr baseline="-25000" lang="en"/>
              <a:t>ij</a:t>
            </a:r>
            <a:r>
              <a:rPr lang="en"/>
              <a:t> = 1, if {v</a:t>
            </a:r>
            <a:r>
              <a:rPr baseline="-25000" lang="en"/>
              <a:t>i</a:t>
            </a:r>
            <a:r>
              <a:rPr lang="en"/>
              <a:t>v</a:t>
            </a:r>
            <a:r>
              <a:rPr baseline="-25000" lang="en"/>
              <a:t>j</a:t>
            </a:r>
            <a:r>
              <a:rPr lang="en"/>
              <a:t>} can be found in 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 </a:t>
            </a:r>
            <a:r>
              <a:rPr lang="en"/>
              <a:t>∋ v</a:t>
            </a:r>
            <a:r>
              <a:rPr baseline="-25000" lang="en"/>
              <a:t>i</a:t>
            </a:r>
            <a:r>
              <a:rPr lang="en"/>
              <a:t>v</a:t>
            </a:r>
            <a:r>
              <a:rPr baseline="-25000" lang="en"/>
              <a:t>j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</a:t>
            </a:r>
            <a:r>
              <a:rPr baseline="-25000" lang="en"/>
              <a:t>ij</a:t>
            </a:r>
            <a:r>
              <a:rPr lang="en"/>
              <a:t> = 0 if {v</a:t>
            </a:r>
            <a:r>
              <a:rPr baseline="-25000" lang="en"/>
              <a:t>i</a:t>
            </a:r>
            <a:r>
              <a:rPr lang="en"/>
              <a:t>v</a:t>
            </a:r>
            <a:r>
              <a:rPr baseline="-25000" lang="en"/>
              <a:t>j</a:t>
            </a:r>
            <a:r>
              <a:rPr lang="en"/>
              <a:t>} cannot be found in 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 ∌ v</a:t>
            </a:r>
            <a:r>
              <a:rPr baseline="-25000" lang="en"/>
              <a:t>i</a:t>
            </a:r>
            <a:r>
              <a:rPr lang="en"/>
              <a:t>v</a:t>
            </a:r>
            <a:r>
              <a:rPr baseline="-25000" lang="en"/>
              <a:t>j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409" name="Google Shape;409;p62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410" name="Google Shape;410;p62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62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12" name="Google Shape;412;p62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13" name="Google Shape;413;p62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419" name="Google Shape;419;p63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object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it adjacent to each of the column objects?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420" name="Google Shape;420;p63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421" name="Google Shape;421;p63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" name="Google Shape;422;p63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23" name="Google Shape;423;p63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24" name="Google Shape;424;p63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430" name="Google Shape;430;p64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object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it adjacent to each of the column objects?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431" name="Google Shape;431;p64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432" name="Google Shape;432;p64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64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34" name="Google Shape;434;p64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35" name="Google Shape;435;p64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441" name="Google Shape;441;p65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object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it adjacent to each of the column objects?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the same for each row object until every cell has a value {0, 1}!</a:t>
            </a:r>
            <a:endParaRPr/>
          </a:p>
        </p:txBody>
      </p:sp>
      <p:grpSp>
        <p:nvGrpSpPr>
          <p:cNvPr id="442" name="Google Shape;442;p65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443" name="Google Shape;443;p65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4" name="Google Shape;444;p65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45" name="Google Shape;445;p65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46" name="Google Shape;446;p65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452" name="Google Shape;452;p66"/>
          <p:cNvSpPr txBox="1"/>
          <p:nvPr>
            <p:ph idx="1" type="body"/>
          </p:nvPr>
        </p:nvSpPr>
        <p:spPr>
          <a:xfrm>
            <a:off x="311700" y="1225225"/>
            <a:ext cx="4961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Translating from a graph to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between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object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it adjacent to each of the column objects?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the same for each row object until every cell has a value {0, 1}!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graph’s </a:t>
            </a:r>
            <a:r>
              <a:rPr b="1" lang="en"/>
              <a:t>adjacency</a:t>
            </a:r>
            <a:r>
              <a:rPr b="1" lang="en"/>
              <a:t> matrix</a:t>
            </a:r>
            <a:endParaRPr b="1"/>
          </a:p>
        </p:txBody>
      </p:sp>
      <p:grpSp>
        <p:nvGrpSpPr>
          <p:cNvPr id="453" name="Google Shape;453;p66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454" name="Google Shape;454;p66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66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56" name="Google Shape;456;p66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57" name="Google Shape;457;p66"/>
          <p:cNvSpPr txBox="1"/>
          <p:nvPr/>
        </p:nvSpPr>
        <p:spPr>
          <a:xfrm>
            <a:off x="5854850" y="4768738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sp>
        <p:nvSpPr>
          <p:cNvPr id="463" name="Google Shape;463;p67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Adjacency m</a:t>
            </a:r>
            <a:r>
              <a:rPr lang="en"/>
              <a:t>atrices can be used to represent either</a:t>
            </a:r>
            <a:r>
              <a:rPr b="1" lang="en"/>
              <a:t> undirected graphs</a:t>
            </a:r>
            <a:r>
              <a:rPr lang="en"/>
              <a:t> or </a:t>
            </a:r>
            <a:r>
              <a:rPr b="1" lang="en"/>
              <a:t>directed graphs</a:t>
            </a:r>
            <a:r>
              <a:rPr lang="en"/>
              <a:t>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Undirected</a:t>
            </a:r>
            <a:r>
              <a:rPr b="1" lang="en"/>
              <a:t> </a:t>
            </a:r>
            <a:r>
              <a:rPr lang="en"/>
              <a:t>graphs result in </a:t>
            </a:r>
            <a:r>
              <a:rPr b="1" lang="en">
                <a:solidFill>
                  <a:srgbClr val="FF0000"/>
                </a:solidFill>
              </a:rPr>
              <a:t>symmetric adjacency matrices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464" name="Google Shape;464;p67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465" name="Google Shape;465;p67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6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67" name="Google Shape;467;p67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grpSp>
        <p:nvGrpSpPr>
          <p:cNvPr id="473" name="Google Shape;473;p68"/>
          <p:cNvGrpSpPr/>
          <p:nvPr/>
        </p:nvGrpSpPr>
        <p:grpSpPr>
          <a:xfrm>
            <a:off x="5341612" y="805761"/>
            <a:ext cx="3490675" cy="1614202"/>
            <a:chOff x="5264900" y="3059073"/>
            <a:chExt cx="3490675" cy="1614202"/>
          </a:xfrm>
        </p:grpSpPr>
        <p:pic>
          <p:nvPicPr>
            <p:cNvPr id="474" name="Google Shape;474;p68"/>
            <p:cNvPicPr preferRelativeResize="0"/>
            <p:nvPr/>
          </p:nvPicPr>
          <p:blipFill rotWithShape="1">
            <a:blip r:embed="rId3">
              <a:alphaModFix/>
            </a:blip>
            <a:srcRect b="54218" l="50926" r="2550" t="22708"/>
            <a:stretch/>
          </p:blipFill>
          <p:spPr>
            <a:xfrm>
              <a:off x="5264900" y="3059073"/>
              <a:ext cx="3490675" cy="132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68"/>
            <p:cNvSpPr txBox="1"/>
            <p:nvPr/>
          </p:nvSpPr>
          <p:spPr>
            <a:xfrm>
              <a:off x="5782900" y="4380775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00FF"/>
                  </a:solidFill>
                  <a:latin typeface="Economica"/>
                  <a:ea typeface="Economica"/>
                  <a:cs typeface="Economica"/>
                  <a:sym typeface="Economica"/>
                </a:rPr>
                <a:t>Directed Graph</a:t>
              </a:r>
              <a:endParaRPr b="1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76" name="Google Shape;476;p68"/>
          <p:cNvGraphicFramePr/>
          <p:nvPr/>
        </p:nvGraphicFramePr>
        <p:xfrm>
          <a:off x="5891663" y="24199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77" name="Google Shape;477;p68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Adjacency matrices</a:t>
            </a:r>
            <a:r>
              <a:rPr lang="en"/>
              <a:t> can be used to represent either</a:t>
            </a:r>
            <a:r>
              <a:rPr b="1" lang="en"/>
              <a:t> undirected graphs</a:t>
            </a:r>
            <a:r>
              <a:rPr lang="en"/>
              <a:t> or </a:t>
            </a:r>
            <a:r>
              <a:rPr b="1" lang="en"/>
              <a:t>directed graphs</a:t>
            </a:r>
            <a:r>
              <a:rPr lang="en"/>
              <a:t>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Undirected</a:t>
            </a:r>
            <a:r>
              <a:rPr b="1" lang="en"/>
              <a:t> </a:t>
            </a:r>
            <a:r>
              <a:rPr lang="en"/>
              <a:t>graphs result in </a:t>
            </a:r>
            <a:r>
              <a:rPr b="1" lang="en">
                <a:solidFill>
                  <a:srgbClr val="FF0000"/>
                </a:solidFill>
              </a:rPr>
              <a:t>symmetric adjacency matrices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 graphs</a:t>
            </a:r>
            <a:r>
              <a:rPr b="1" lang="en"/>
              <a:t> </a:t>
            </a:r>
            <a:r>
              <a:rPr lang="en"/>
              <a:t>result in </a:t>
            </a:r>
            <a:r>
              <a:rPr b="1" lang="en">
                <a:solidFill>
                  <a:srgbClr val="0000FF"/>
                </a:solidFill>
              </a:rPr>
              <a:t>asymmetric adjacency matrices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grpSp>
        <p:nvGrpSpPr>
          <p:cNvPr id="483" name="Google Shape;483;p69"/>
          <p:cNvGrpSpPr/>
          <p:nvPr/>
        </p:nvGrpSpPr>
        <p:grpSpPr>
          <a:xfrm>
            <a:off x="5341612" y="805761"/>
            <a:ext cx="3490675" cy="1614202"/>
            <a:chOff x="5264900" y="3059073"/>
            <a:chExt cx="3490675" cy="1614202"/>
          </a:xfrm>
        </p:grpSpPr>
        <p:pic>
          <p:nvPicPr>
            <p:cNvPr id="484" name="Google Shape;484;p69"/>
            <p:cNvPicPr preferRelativeResize="0"/>
            <p:nvPr/>
          </p:nvPicPr>
          <p:blipFill rotWithShape="1">
            <a:blip r:embed="rId3">
              <a:alphaModFix/>
            </a:blip>
            <a:srcRect b="54218" l="50926" r="2550" t="22708"/>
            <a:stretch/>
          </p:blipFill>
          <p:spPr>
            <a:xfrm>
              <a:off x="5264900" y="3059073"/>
              <a:ext cx="3490675" cy="132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5" name="Google Shape;485;p69"/>
            <p:cNvSpPr txBox="1"/>
            <p:nvPr/>
          </p:nvSpPr>
          <p:spPr>
            <a:xfrm>
              <a:off x="5782900" y="4380775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00FF"/>
                  </a:solidFill>
                  <a:latin typeface="Economica"/>
                  <a:ea typeface="Economica"/>
                  <a:cs typeface="Economica"/>
                  <a:sym typeface="Economica"/>
                </a:rPr>
                <a:t>Directed Graph</a:t>
              </a:r>
              <a:endParaRPr b="1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486" name="Google Shape;486;p69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Adjacency matrices can be used to represent either</a:t>
            </a:r>
            <a:r>
              <a:rPr b="1" lang="en"/>
              <a:t> undirected graphs</a:t>
            </a:r>
            <a:r>
              <a:rPr lang="en"/>
              <a:t> or </a:t>
            </a:r>
            <a:r>
              <a:rPr b="1" lang="en"/>
              <a:t>directed graphs</a:t>
            </a:r>
            <a:r>
              <a:rPr lang="en"/>
              <a:t>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Undirected</a:t>
            </a:r>
            <a:r>
              <a:rPr b="1" lang="en"/>
              <a:t> </a:t>
            </a:r>
            <a:r>
              <a:rPr lang="en"/>
              <a:t>graphs result in </a:t>
            </a:r>
            <a:r>
              <a:rPr b="1" lang="en">
                <a:solidFill>
                  <a:srgbClr val="FF0000"/>
                </a:solidFill>
              </a:rPr>
              <a:t>symmetric adjacency matrices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 graphs</a:t>
            </a:r>
            <a:r>
              <a:rPr b="1" lang="en"/>
              <a:t> </a:t>
            </a:r>
            <a:r>
              <a:rPr lang="en"/>
              <a:t>result in </a:t>
            </a:r>
            <a:r>
              <a:rPr b="1" lang="en">
                <a:solidFill>
                  <a:srgbClr val="0000FF"/>
                </a:solidFill>
              </a:rPr>
              <a:t>asymmetric adjacency matrices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87" name="Google Shape;487;p69"/>
          <p:cNvGraphicFramePr/>
          <p:nvPr/>
        </p:nvGraphicFramePr>
        <p:xfrm>
          <a:off x="5888736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graphicFrame>
        <p:nvGraphicFramePr>
          <p:cNvPr id="493" name="Google Shape;493;p70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494" name="Google Shape;494;p70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70"/>
          <p:cNvSpPr txBox="1"/>
          <p:nvPr/>
        </p:nvSpPr>
        <p:spPr>
          <a:xfrm>
            <a:off x="5854838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496" name="Google Shape;496;p70"/>
          <p:cNvPicPr preferRelativeResize="0"/>
          <p:nvPr/>
        </p:nvPicPr>
        <p:blipFill rotWithShape="1">
          <a:blip r:embed="rId3">
            <a:alphaModFix/>
          </a:blip>
          <a:srcRect b="53299" l="1982" r="51491" t="30025"/>
          <a:stretch/>
        </p:blipFill>
        <p:spPr>
          <a:xfrm>
            <a:off x="316463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70"/>
          <p:cNvSpPr txBox="1"/>
          <p:nvPr/>
        </p:nvSpPr>
        <p:spPr>
          <a:xfrm>
            <a:off x="778225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Undirected Graph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498" name="Google Shape;498;p70"/>
          <p:cNvGraphicFramePr/>
          <p:nvPr/>
        </p:nvGraphicFramePr>
        <p:xfrm>
          <a:off x="861763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99" name="Google Shape;499;p70"/>
          <p:cNvSpPr txBox="1"/>
          <p:nvPr/>
        </p:nvSpPr>
        <p:spPr>
          <a:xfrm>
            <a:off x="447650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Symmetric Adjacency Matrix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00" name="Google Shape;500;p70"/>
          <p:cNvSpPr txBox="1"/>
          <p:nvPr/>
        </p:nvSpPr>
        <p:spPr>
          <a:xfrm>
            <a:off x="5601025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Adjacency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01" name="Google Shape;501;p70"/>
          <p:cNvSpPr txBox="1"/>
          <p:nvPr/>
        </p:nvSpPr>
        <p:spPr>
          <a:xfrm>
            <a:off x="3465963" y="2413000"/>
            <a:ext cx="21351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pen Sans"/>
                <a:ea typeface="Open Sans"/>
                <a:cs typeface="Open Sans"/>
                <a:sym typeface="Open Sans"/>
              </a:rPr>
              <a:t>How do we know if an adjacency matrix is symmetric or asymmetric? </a:t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graphicFrame>
        <p:nvGraphicFramePr>
          <p:cNvPr id="507" name="Google Shape;507;p71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508" name="Google Shape;508;p71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71"/>
          <p:cNvSpPr txBox="1"/>
          <p:nvPr/>
        </p:nvSpPr>
        <p:spPr>
          <a:xfrm>
            <a:off x="5854838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510" name="Google Shape;510;p71"/>
          <p:cNvPicPr preferRelativeResize="0"/>
          <p:nvPr/>
        </p:nvPicPr>
        <p:blipFill rotWithShape="1">
          <a:blip r:embed="rId3">
            <a:alphaModFix/>
          </a:blip>
          <a:srcRect b="53299" l="1982" r="51491" t="30025"/>
          <a:stretch/>
        </p:blipFill>
        <p:spPr>
          <a:xfrm>
            <a:off x="316463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71"/>
          <p:cNvSpPr txBox="1"/>
          <p:nvPr/>
        </p:nvSpPr>
        <p:spPr>
          <a:xfrm>
            <a:off x="778225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Undirected Graph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12" name="Google Shape;512;p71"/>
          <p:cNvGraphicFramePr/>
          <p:nvPr/>
        </p:nvGraphicFramePr>
        <p:xfrm>
          <a:off x="861763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13" name="Google Shape;513;p71"/>
          <p:cNvSpPr txBox="1"/>
          <p:nvPr/>
        </p:nvSpPr>
        <p:spPr>
          <a:xfrm>
            <a:off x="3158875" y="2064500"/>
            <a:ext cx="27729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Economica"/>
              <a:buChar char="●"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In a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symmetric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matrix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the upper and lower “triangles” (off-diagonal entries) are mirror images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Economica"/>
              <a:buChar char="○"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= 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ji</a:t>
            </a:r>
            <a:endParaRPr baseline="-25000"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	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4" name="Google Shape;514;p71"/>
          <p:cNvCxnSpPr/>
          <p:nvPr/>
        </p:nvCxnSpPr>
        <p:spPr>
          <a:xfrm>
            <a:off x="1274425" y="2778863"/>
            <a:ext cx="1968000" cy="197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71"/>
          <p:cNvCxnSpPr/>
          <p:nvPr/>
        </p:nvCxnSpPr>
        <p:spPr>
          <a:xfrm>
            <a:off x="6294875" y="2715788"/>
            <a:ext cx="1968000" cy="197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71"/>
          <p:cNvSpPr txBox="1"/>
          <p:nvPr/>
        </p:nvSpPr>
        <p:spPr>
          <a:xfrm>
            <a:off x="447650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Symmetric Adjacency Matrix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7" name="Google Shape;517;p71"/>
          <p:cNvSpPr txBox="1"/>
          <p:nvPr/>
        </p:nvSpPr>
        <p:spPr>
          <a:xfrm>
            <a:off x="5601025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Adjacency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Matrix</a:t>
            </a:r>
            <a:endParaRPr/>
          </a:p>
        </p:txBody>
      </p:sp>
      <p:graphicFrame>
        <p:nvGraphicFramePr>
          <p:cNvPr id="523" name="Google Shape;523;p72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524" name="Google Shape;524;p72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72"/>
          <p:cNvSpPr txBox="1"/>
          <p:nvPr/>
        </p:nvSpPr>
        <p:spPr>
          <a:xfrm>
            <a:off x="5854838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526" name="Google Shape;526;p72"/>
          <p:cNvPicPr preferRelativeResize="0"/>
          <p:nvPr/>
        </p:nvPicPr>
        <p:blipFill rotWithShape="1">
          <a:blip r:embed="rId3">
            <a:alphaModFix/>
          </a:blip>
          <a:srcRect b="53299" l="1982" r="51491" t="30025"/>
          <a:stretch/>
        </p:blipFill>
        <p:spPr>
          <a:xfrm>
            <a:off x="316463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72"/>
          <p:cNvSpPr txBox="1"/>
          <p:nvPr/>
        </p:nvSpPr>
        <p:spPr>
          <a:xfrm>
            <a:off x="778225" y="210241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Undirected Graph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28" name="Google Shape;528;p72"/>
          <p:cNvGraphicFramePr/>
          <p:nvPr/>
        </p:nvGraphicFramePr>
        <p:xfrm>
          <a:off x="861763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29" name="Google Shape;529;p72"/>
          <p:cNvSpPr txBox="1"/>
          <p:nvPr/>
        </p:nvSpPr>
        <p:spPr>
          <a:xfrm>
            <a:off x="3158875" y="2064500"/>
            <a:ext cx="2772900" cy="2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Economica"/>
              <a:buChar char="●"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In a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symmetric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matrix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the upper and lower “triangles” (off-diagonal entries) are mirror images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Economica"/>
              <a:buChar char="○"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= 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ji</a:t>
            </a:r>
            <a:endParaRPr baseline="-25000" sz="1600"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Economica"/>
              <a:buChar char="●"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In an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asymmetric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matrix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they can be different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≠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</a:t>
            </a:r>
            <a:r>
              <a:rPr baseline="-25000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ji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	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30" name="Google Shape;530;p72"/>
          <p:cNvCxnSpPr/>
          <p:nvPr/>
        </p:nvCxnSpPr>
        <p:spPr>
          <a:xfrm>
            <a:off x="1274425" y="2778863"/>
            <a:ext cx="1968000" cy="197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72"/>
          <p:cNvCxnSpPr/>
          <p:nvPr/>
        </p:nvCxnSpPr>
        <p:spPr>
          <a:xfrm>
            <a:off x="6294875" y="2715788"/>
            <a:ext cx="1968000" cy="197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" name="Google Shape;532;p72"/>
          <p:cNvSpPr txBox="1"/>
          <p:nvPr/>
        </p:nvSpPr>
        <p:spPr>
          <a:xfrm>
            <a:off x="447650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Symmetric Adjacency Matrix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33" name="Google Shape;533;p72"/>
          <p:cNvSpPr txBox="1"/>
          <p:nvPr/>
        </p:nvSpPr>
        <p:spPr>
          <a:xfrm>
            <a:off x="5601025" y="4677800"/>
            <a:ext cx="307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Adjacency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3"/>
          <p:cNvSpPr txBox="1"/>
          <p:nvPr>
            <p:ph idx="1" type="body"/>
          </p:nvPr>
        </p:nvSpPr>
        <p:spPr>
          <a:xfrm>
            <a:off x="0" y="45276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Symmetric and Asymmetric Adjacency Matrices</a:t>
            </a:r>
            <a:endParaRPr/>
          </a:p>
        </p:txBody>
      </p:sp>
      <p:pic>
        <p:nvPicPr>
          <p:cNvPr id="539" name="Google Shape;539;p73"/>
          <p:cNvPicPr preferRelativeResize="0"/>
          <p:nvPr/>
        </p:nvPicPr>
        <p:blipFill rotWithShape="1">
          <a:blip r:embed="rId3">
            <a:alphaModFix/>
          </a:blip>
          <a:srcRect b="53299" l="1982" r="51491" t="22709"/>
          <a:stretch/>
        </p:blipFill>
        <p:spPr>
          <a:xfrm>
            <a:off x="311700" y="305123"/>
            <a:ext cx="3490675" cy="137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73"/>
          <p:cNvSpPr txBox="1"/>
          <p:nvPr/>
        </p:nvSpPr>
        <p:spPr>
          <a:xfrm>
            <a:off x="824938" y="16794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Undirected Graph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541" name="Google Shape;541;p73"/>
          <p:cNvPicPr preferRelativeResize="0"/>
          <p:nvPr/>
        </p:nvPicPr>
        <p:blipFill rotWithShape="1">
          <a:blip r:embed="rId3">
            <a:alphaModFix/>
          </a:blip>
          <a:srcRect b="54218" l="50926" r="2550" t="22708"/>
          <a:stretch/>
        </p:blipFill>
        <p:spPr>
          <a:xfrm>
            <a:off x="311700" y="2913473"/>
            <a:ext cx="3490675" cy="13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73"/>
          <p:cNvSpPr txBox="1"/>
          <p:nvPr/>
        </p:nvSpPr>
        <p:spPr>
          <a:xfrm>
            <a:off x="829700" y="423517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43" name="Google Shape;543;p73"/>
          <p:cNvGraphicFramePr/>
          <p:nvPr/>
        </p:nvGraphicFramePr>
        <p:xfrm>
          <a:off x="6443863" y="2233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49575"/>
                <a:gridCol w="349575"/>
                <a:gridCol w="349575"/>
                <a:gridCol w="349575"/>
                <a:gridCol w="349575"/>
                <a:gridCol w="349575"/>
              </a:tblGrid>
              <a:tr h="30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44" name="Google Shape;544;p73"/>
          <p:cNvSpPr txBox="1"/>
          <p:nvPr/>
        </p:nvSpPr>
        <p:spPr>
          <a:xfrm>
            <a:off x="6260500" y="2053733"/>
            <a:ext cx="24642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Symmetric 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45" name="Google Shape;545;p73"/>
          <p:cNvGraphicFramePr/>
          <p:nvPr/>
        </p:nvGraphicFramePr>
        <p:xfrm>
          <a:off x="6346238" y="2608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65850"/>
                <a:gridCol w="365850"/>
                <a:gridCol w="365850"/>
                <a:gridCol w="365850"/>
                <a:gridCol w="365850"/>
                <a:gridCol w="365825"/>
              </a:tblGrid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3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46" name="Google Shape;546;p73"/>
          <p:cNvSpPr txBox="1"/>
          <p:nvPr/>
        </p:nvSpPr>
        <p:spPr>
          <a:xfrm>
            <a:off x="6260500" y="4438862"/>
            <a:ext cx="24642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47" name="Google Shape;547;p73"/>
          <p:cNvSpPr/>
          <p:nvPr/>
        </p:nvSpPr>
        <p:spPr>
          <a:xfrm>
            <a:off x="4024450" y="1106350"/>
            <a:ext cx="1974300" cy="6051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73"/>
          <p:cNvSpPr/>
          <p:nvPr/>
        </p:nvSpPr>
        <p:spPr>
          <a:xfrm>
            <a:off x="4024473" y="3523625"/>
            <a:ext cx="1974300" cy="6051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73"/>
          <p:cNvSpPr txBox="1"/>
          <p:nvPr/>
        </p:nvSpPr>
        <p:spPr>
          <a:xfrm>
            <a:off x="533675" y="2038000"/>
            <a:ext cx="2930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3"/>
          <p:cNvSpPr txBox="1"/>
          <p:nvPr/>
        </p:nvSpPr>
        <p:spPr>
          <a:xfrm>
            <a:off x="533675" y="2240700"/>
            <a:ext cx="34908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Adjacent vertices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: Edge exists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Non-adjacent vertices: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Edge does not exist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556" name="Google Shape;55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7" name="Google Shape;557;p74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58" name="Google Shape;558;p74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564" name="Google Shape;56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75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66" name="Google Shape;566;p75"/>
          <p:cNvSpPr/>
          <p:nvPr/>
        </p:nvSpPr>
        <p:spPr>
          <a:xfrm>
            <a:off x="5084150" y="2027725"/>
            <a:ext cx="3689400" cy="71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75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573" name="Google Shape;57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76"/>
          <p:cNvSpPr/>
          <p:nvPr/>
        </p:nvSpPr>
        <p:spPr>
          <a:xfrm>
            <a:off x="5084150" y="2027725"/>
            <a:ext cx="3689400" cy="71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75" name="Google Shape;575;p76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76" name="Google Shape;576;p76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582" name="Google Shape;58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77"/>
          <p:cNvSpPr/>
          <p:nvPr/>
        </p:nvSpPr>
        <p:spPr>
          <a:xfrm>
            <a:off x="5084150" y="2027725"/>
            <a:ext cx="3689400" cy="71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84" name="Google Shape;584;p77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85" name="Google Shape;585;p77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591" name="Google Shape;59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78"/>
          <p:cNvSpPr/>
          <p:nvPr/>
        </p:nvSpPr>
        <p:spPr>
          <a:xfrm>
            <a:off x="5084150" y="2027725"/>
            <a:ext cx="3689400" cy="71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93" name="Google Shape;593;p78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94" name="Google Shape;594;p78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600" name="Google Shape;60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79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602" name="Google Shape;602;p79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0.6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0.55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0.45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603" name="Google Shape;603;p79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609" name="Google Shape;609;p80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10" name="Google Shape;610;p80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11" name="Google Shape;611;p80"/>
          <p:cNvCxnSpPr>
            <a:stCxn id="609" idx="0"/>
            <a:endCxn id="610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80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13" name="Google Shape;613;p80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14" name="Google Shape;614;p80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15" name="Google Shape;615;p80"/>
          <p:cNvCxnSpPr>
            <a:stCxn id="610" idx="7"/>
            <a:endCxn id="612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80"/>
          <p:cNvCxnSpPr>
            <a:stCxn id="614" idx="1"/>
            <a:endCxn id="612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80"/>
          <p:cNvCxnSpPr>
            <a:stCxn id="614" idx="3"/>
            <a:endCxn id="613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80"/>
          <p:cNvCxnSpPr>
            <a:stCxn id="613" idx="0"/>
            <a:endCxn id="612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80"/>
          <p:cNvCxnSpPr>
            <a:stCxn id="613" idx="0"/>
            <a:endCxn id="610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80"/>
          <p:cNvCxnSpPr>
            <a:stCxn id="609" idx="0"/>
            <a:endCxn id="612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" name="Google Shape;621;p80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2" name="Google Shape;622;p80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3" name="Google Shape;623;p80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4" name="Google Shape;624;p80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5" name="Google Shape;625;p80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6" name="Google Shape;626;p80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7" name="Google Shape;627;p80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8" name="Google Shape;628;p80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629" name="Google Shape;629;p80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635" name="Google Shape;635;p81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6" name="Google Shape;636;p81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7" name="Google Shape;637;p81"/>
          <p:cNvCxnSpPr>
            <a:stCxn id="635" idx="0"/>
            <a:endCxn id="636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8" name="Google Shape;638;p81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9" name="Google Shape;639;p81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0" name="Google Shape;640;p81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41" name="Google Shape;641;p81"/>
          <p:cNvCxnSpPr>
            <a:stCxn id="636" idx="7"/>
            <a:endCxn id="638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81"/>
          <p:cNvCxnSpPr>
            <a:stCxn id="640" idx="1"/>
            <a:endCxn id="638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81"/>
          <p:cNvCxnSpPr>
            <a:stCxn id="640" idx="3"/>
            <a:endCxn id="639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81"/>
          <p:cNvCxnSpPr>
            <a:stCxn id="639" idx="0"/>
            <a:endCxn id="638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81"/>
          <p:cNvCxnSpPr>
            <a:stCxn id="639" idx="0"/>
            <a:endCxn id="636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81"/>
          <p:cNvCxnSpPr>
            <a:stCxn id="635" idx="0"/>
            <a:endCxn id="638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7" name="Google Shape;647;p81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8" name="Google Shape;648;p81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9" name="Google Shape;649;p81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0" name="Google Shape;650;p81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1" name="Google Shape;651;p81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2" name="Google Shape;652;p81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3" name="Google Shape;653;p81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4" name="Google Shape;654;p81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Signed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655" name="Google Shape;655;p81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661" name="Google Shape;661;p82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2" name="Google Shape;662;p82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63" name="Google Shape;663;p82"/>
          <p:cNvCxnSpPr>
            <a:stCxn id="661" idx="0"/>
            <a:endCxn id="662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82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5" name="Google Shape;665;p82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6" name="Google Shape;666;p82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67" name="Google Shape;667;p82"/>
          <p:cNvCxnSpPr>
            <a:stCxn id="662" idx="7"/>
            <a:endCxn id="664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82"/>
          <p:cNvCxnSpPr>
            <a:stCxn id="666" idx="1"/>
            <a:endCxn id="664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82"/>
          <p:cNvCxnSpPr>
            <a:stCxn id="666" idx="3"/>
            <a:endCxn id="665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82"/>
          <p:cNvCxnSpPr>
            <a:stCxn id="665" idx="0"/>
            <a:endCxn id="664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82"/>
          <p:cNvCxnSpPr>
            <a:stCxn id="665" idx="0"/>
            <a:endCxn id="662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82"/>
          <p:cNvCxnSpPr>
            <a:stCxn id="661" idx="0"/>
            <a:endCxn id="664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82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4" name="Google Shape;674;p82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5" name="Google Shape;675;p82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6" name="Google Shape;676;p82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7" name="Google Shape;677;p82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8" name="Google Shape;678;p82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9" name="Google Shape;679;p82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0" name="Google Shape;680;p82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Signed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681" name="Google Shape;681;p82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682" name="Google Shape;682;p82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ymmetric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688" name="Google Shape;688;p83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9" name="Google Shape;689;p83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90" name="Google Shape;690;p83"/>
          <p:cNvCxnSpPr>
            <a:stCxn id="688" idx="0"/>
            <a:endCxn id="689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1" name="Google Shape;691;p83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2" name="Google Shape;692;p83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3" name="Google Shape;693;p83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94" name="Google Shape;694;p83"/>
          <p:cNvCxnSpPr>
            <a:stCxn id="689" idx="7"/>
            <a:endCxn id="691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83"/>
          <p:cNvCxnSpPr>
            <a:stCxn id="693" idx="1"/>
            <a:endCxn id="691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83"/>
          <p:cNvCxnSpPr>
            <a:stCxn id="693" idx="3"/>
            <a:endCxn id="692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83"/>
          <p:cNvCxnSpPr>
            <a:stCxn id="692" idx="0"/>
            <a:endCxn id="691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83"/>
          <p:cNvCxnSpPr>
            <a:stCxn id="692" idx="0"/>
            <a:endCxn id="689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83"/>
          <p:cNvCxnSpPr>
            <a:stCxn id="688" idx="0"/>
            <a:endCxn id="691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0" name="Google Shape;700;p83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1" name="Google Shape;701;p83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2" name="Google Shape;702;p83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3" name="Google Shape;703;p83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4" name="Google Shape;704;p83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5" name="Google Shape;705;p83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6" name="Google Shape;706;p83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7" name="Google Shape;707;p83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Signed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708" name="Google Shape;708;p83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709" name="Google Shape;709;p83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Symmetric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10" name="Google Shape;710;p83"/>
          <p:cNvSpPr/>
          <p:nvPr/>
        </p:nvSpPr>
        <p:spPr>
          <a:xfrm>
            <a:off x="5716750" y="2990200"/>
            <a:ext cx="5526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11" name="Google Shape;711;p83"/>
          <p:cNvSpPr/>
          <p:nvPr/>
        </p:nvSpPr>
        <p:spPr>
          <a:xfrm>
            <a:off x="6935850" y="1884975"/>
            <a:ext cx="5526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12" name="Google Shape;712;p83"/>
          <p:cNvSpPr/>
          <p:nvPr/>
        </p:nvSpPr>
        <p:spPr>
          <a:xfrm>
            <a:off x="2476938" y="3615575"/>
            <a:ext cx="27462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Symmetric cells have the same value!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13" name="Google Shape;713;p83"/>
          <p:cNvSpPr txBox="1"/>
          <p:nvPr/>
        </p:nvSpPr>
        <p:spPr>
          <a:xfrm>
            <a:off x="3158875" y="2895800"/>
            <a:ext cx="18183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3,1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= 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1,3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= -1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4" name="Google Shape;714;p83"/>
          <p:cNvCxnSpPr/>
          <p:nvPr/>
        </p:nvCxnSpPr>
        <p:spPr>
          <a:xfrm>
            <a:off x="5805975" y="1994263"/>
            <a:ext cx="2845500" cy="2570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9" name="Google Shape;719;p84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720" name="Google Shape;720;p84"/>
          <p:cNvSpPr/>
          <p:nvPr/>
        </p:nvSpPr>
        <p:spPr>
          <a:xfrm>
            <a:off x="8098050" y="2428700"/>
            <a:ext cx="5526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21" name="Google Shape;721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722" name="Google Shape;722;p84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3" name="Google Shape;723;p84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24" name="Google Shape;724;p84"/>
          <p:cNvCxnSpPr>
            <a:stCxn id="722" idx="0"/>
            <a:endCxn id="723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5" name="Google Shape;725;p84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6" name="Google Shape;726;p84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7" name="Google Shape;727;p84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28" name="Google Shape;728;p84"/>
          <p:cNvCxnSpPr>
            <a:stCxn id="723" idx="7"/>
            <a:endCxn id="725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84"/>
          <p:cNvCxnSpPr>
            <a:stCxn id="727" idx="1"/>
            <a:endCxn id="725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84"/>
          <p:cNvCxnSpPr>
            <a:stCxn id="727" idx="3"/>
            <a:endCxn id="726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84"/>
          <p:cNvCxnSpPr>
            <a:stCxn id="726" idx="0"/>
            <a:endCxn id="725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84"/>
          <p:cNvCxnSpPr>
            <a:stCxn id="726" idx="0"/>
            <a:endCxn id="723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84"/>
          <p:cNvCxnSpPr>
            <a:stCxn id="722" idx="0"/>
            <a:endCxn id="725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4" name="Google Shape;734;p84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5" name="Google Shape;735;p84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6" name="Google Shape;736;p84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7" name="Google Shape;737;p84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8" name="Google Shape;738;p84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9" name="Google Shape;739;p84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0" name="Google Shape;740;p84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1" name="Google Shape;741;p84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Signed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42" name="Google Shape;742;p84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Symmetric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43" name="Google Shape;743;p84"/>
          <p:cNvSpPr/>
          <p:nvPr/>
        </p:nvSpPr>
        <p:spPr>
          <a:xfrm>
            <a:off x="6269250" y="4085525"/>
            <a:ext cx="5526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44" name="Google Shape;744;p84"/>
          <p:cNvSpPr/>
          <p:nvPr/>
        </p:nvSpPr>
        <p:spPr>
          <a:xfrm>
            <a:off x="2567925" y="4083900"/>
            <a:ext cx="31176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Symmetric cells have the same value!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45" name="Google Shape;745;p84"/>
          <p:cNvSpPr txBox="1"/>
          <p:nvPr/>
        </p:nvSpPr>
        <p:spPr>
          <a:xfrm>
            <a:off x="3158875" y="2895800"/>
            <a:ext cx="18183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3,1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a</a:t>
            </a:r>
            <a:r>
              <a:rPr baseline="-25000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1,3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-1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5,2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= 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2,5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= 1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46" name="Google Shape;746;p84"/>
          <p:cNvCxnSpPr/>
          <p:nvPr/>
        </p:nvCxnSpPr>
        <p:spPr>
          <a:xfrm>
            <a:off x="5805975" y="1994263"/>
            <a:ext cx="2845500" cy="2570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752" name="Google Shape;752;p85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753" name="Google Shape;753;p85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754" name="Google Shape;754;p85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5" name="Google Shape;755;p85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756" name="Google Shape;756;p85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\sum_i a_{ij}" id="757" name="Google Shape;757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2395300"/>
            <a:ext cx="68580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j a_{ij}" id="758" name="Google Shape;758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3060388"/>
            <a:ext cx="685800" cy="597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i \sum_j a_{ij}" id="759" name="Google Shape;759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731" y="3817741"/>
            <a:ext cx="1097280" cy="570586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85"/>
          <p:cNvSpPr txBox="1"/>
          <p:nvPr/>
        </p:nvSpPr>
        <p:spPr>
          <a:xfrm>
            <a:off x="1632600" y="2395300"/>
            <a:ext cx="4379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in row i across the columns”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1" name="Google Shape;761;p85"/>
          <p:cNvSpPr txBox="1"/>
          <p:nvPr/>
        </p:nvSpPr>
        <p:spPr>
          <a:xfrm>
            <a:off x="1632600" y="3817738"/>
            <a:ext cx="34113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all the cells in the matrix”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2" name="Google Shape;762;p85"/>
          <p:cNvSpPr txBox="1"/>
          <p:nvPr/>
        </p:nvSpPr>
        <p:spPr>
          <a:xfrm>
            <a:off x="1632600" y="3060400"/>
            <a:ext cx="4379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in column j down the rows”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768" name="Google Shape;768;p86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769" name="Google Shape;769;p86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770" name="Google Shape;770;p86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1" name="Google Shape;771;p86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772" name="Google Shape;772;p86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\sum_i a_{ij}" id="773" name="Google Shape;773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2395300"/>
            <a:ext cx="68580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1^{ }a_{1j} = 1 + 0 + 0 + 0 = 1" id="774" name="Google Shape;774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3180104"/>
            <a:ext cx="2743201" cy="521208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86"/>
          <p:cNvSpPr/>
          <p:nvPr/>
        </p:nvSpPr>
        <p:spPr>
          <a:xfrm>
            <a:off x="6181575" y="2754775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76" name="Google Shape;776;p86"/>
          <p:cNvSpPr txBox="1"/>
          <p:nvPr/>
        </p:nvSpPr>
        <p:spPr>
          <a:xfrm>
            <a:off x="1632600" y="2395300"/>
            <a:ext cx="4379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in row i across the columns”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782" name="Google Shape;782;p87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783" name="Google Shape;783;p87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784" name="Google Shape;784;p87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5" name="Google Shape;785;p8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786" name="Google Shape;786;p87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\sum_i a_{ij}" id="787" name="Google Shape;787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2395300"/>
            <a:ext cx="68580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1^{ }a_{1j} = 1 + 0 + 0 + 0 = 1" id="788" name="Google Shape;788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3180104"/>
            <a:ext cx="2743201" cy="521208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87"/>
          <p:cNvSpPr/>
          <p:nvPr/>
        </p:nvSpPr>
        <p:spPr>
          <a:xfrm>
            <a:off x="6174625" y="3532400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3^{ }a_{3j}=0+1+1+1=3" id="790" name="Google Shape;790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725" y="3814279"/>
            <a:ext cx="2743200" cy="50356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87"/>
          <p:cNvSpPr txBox="1"/>
          <p:nvPr/>
        </p:nvSpPr>
        <p:spPr>
          <a:xfrm>
            <a:off x="1632600" y="2395300"/>
            <a:ext cx="4379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in row i across the columns”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797" name="Google Shape;797;p88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798" name="Google Shape;798;p88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799" name="Google Shape;799;p88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0" name="Google Shape;800;p88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801" name="Google Shape;801;p88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02" name="Google Shape;802;p88"/>
          <p:cNvSpPr txBox="1"/>
          <p:nvPr/>
        </p:nvSpPr>
        <p:spPr>
          <a:xfrm>
            <a:off x="1632600" y="2395300"/>
            <a:ext cx="34113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each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cell down row j”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\sum_2 a_{i2}=1+1+0+0=2" id="803" name="Google Shape;803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3186708"/>
            <a:ext cx="27432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88"/>
          <p:cNvSpPr/>
          <p:nvPr/>
        </p:nvSpPr>
        <p:spPr>
          <a:xfrm rot="5400000">
            <a:off x="5858625" y="3556675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j a_{ij}" id="805" name="Google Shape;805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2313675"/>
            <a:ext cx="685800" cy="59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811" name="Google Shape;811;p89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Notation: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812" name="Google Shape;812;p89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813" name="Google Shape;813;p89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4" name="Google Shape;814;p89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815" name="Google Shape;815;p89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16" name="Google Shape;816;p89"/>
          <p:cNvSpPr txBox="1"/>
          <p:nvPr/>
        </p:nvSpPr>
        <p:spPr>
          <a:xfrm>
            <a:off x="1632600" y="2395300"/>
            <a:ext cx="34113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“sum each cell down row j”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\sum_2 a_{i2}=1+1+0+0=2" id="817" name="Google Shape;81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5" y="3186708"/>
            <a:ext cx="27432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89"/>
          <p:cNvSpPr/>
          <p:nvPr/>
        </p:nvSpPr>
        <p:spPr>
          <a:xfrm rot="5400000">
            <a:off x="6657075" y="3549725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j a_{ij}" id="819" name="Google Shape;819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25" y="2313675"/>
            <a:ext cx="685800" cy="597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4^{ }a_{i4}=0+0+1+1=2" id="820" name="Google Shape;820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715" y="3814279"/>
            <a:ext cx="2719221" cy="50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826" name="Google Shape;826;p90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</a:t>
            </a:r>
            <a:r>
              <a:rPr lang="en"/>
              <a:t>adjacency</a:t>
            </a:r>
            <a:r>
              <a:rPr lang="en"/>
              <a:t>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827" name="Google Shape;827;p90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828" name="Google Shape;828;p90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9" name="Google Shape;829;p90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830" name="Google Shape;830;p90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31" name="Google Shape;831;p90"/>
          <p:cNvSpPr/>
          <p:nvPr/>
        </p:nvSpPr>
        <p:spPr>
          <a:xfrm rot="5400000">
            <a:off x="5862550" y="3535775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32" name="Google Shape;832;p90"/>
          <p:cNvSpPr/>
          <p:nvPr/>
        </p:nvSpPr>
        <p:spPr>
          <a:xfrm>
            <a:off x="6174650" y="3105400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838" name="Google Shape;838;p91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839" name="Google Shape;839;p91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840" name="Google Shape;840;p91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1" name="Google Shape;841;p91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842" name="Google Shape;842;p91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43" name="Google Shape;843;p91"/>
          <p:cNvSpPr/>
          <p:nvPr/>
        </p:nvSpPr>
        <p:spPr>
          <a:xfrm>
            <a:off x="6174650" y="3105400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i^{ }a_{ij} = k_i&#10;%cda2c255-b9ab-43c7-8c97-ed4054dc9af3" id="844" name="Google Shape;84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9175" y="3057963"/>
            <a:ext cx="1133475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850" name="Google Shape;850;p92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851" name="Google Shape;851;p92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852" name="Google Shape;852;p92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3" name="Google Shape;853;p92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854" name="Google Shape;854;p92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55" name="Google Shape;855;p92"/>
          <p:cNvSpPr/>
          <p:nvPr/>
        </p:nvSpPr>
        <p:spPr>
          <a:xfrm rot="5400000">
            <a:off x="5862550" y="3535775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j^{ }a_{ij} = k_i&#10;%8d1a67de-c718-4e9f-b3e5-dac480a85125" id="856" name="Google Shape;856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840" y="3054096"/>
            <a:ext cx="1133475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862" name="Google Shape;862;p93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row sum: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Equals the </a:t>
            </a:r>
            <a:r>
              <a:rPr b="1" lang="en"/>
              <a:t>outdegree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63" name="Google Shape;863;p93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864" name="Google Shape;864;p93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93"/>
          <p:cNvSpPr txBox="1"/>
          <p:nvPr/>
        </p:nvSpPr>
        <p:spPr>
          <a:xfrm>
            <a:off x="5859613" y="212746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66" name="Google Shape;866;p93"/>
          <p:cNvSpPr/>
          <p:nvPr/>
        </p:nvSpPr>
        <p:spPr>
          <a:xfrm>
            <a:off x="6174650" y="3105400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i a_{ij} = k_i^{out}&#10;%17a012a9-f893-4b76-a489-85731db1d31d" id="867" name="Google Shape;867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7700" y="3431175"/>
            <a:ext cx="130492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873" name="Google Shape;873;p94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row sum: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Equals the </a:t>
            </a:r>
            <a:r>
              <a:rPr b="1" lang="en"/>
              <a:t>outdegree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column sum: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Equals the </a:t>
            </a:r>
            <a:r>
              <a:rPr b="1" lang="en"/>
              <a:t>indegree</a:t>
            </a:r>
            <a:endParaRPr b="1"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74" name="Google Shape;874;p94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875" name="Google Shape;875;p94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94"/>
          <p:cNvSpPr txBox="1"/>
          <p:nvPr/>
        </p:nvSpPr>
        <p:spPr>
          <a:xfrm>
            <a:off x="5859613" y="212746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77" name="Google Shape;877;p94"/>
          <p:cNvSpPr/>
          <p:nvPr/>
        </p:nvSpPr>
        <p:spPr>
          <a:xfrm>
            <a:off x="6174650" y="3105400"/>
            <a:ext cx="2185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78" name="Google Shape;878;p94"/>
          <p:cNvSpPr/>
          <p:nvPr/>
        </p:nvSpPr>
        <p:spPr>
          <a:xfrm rot="5400000">
            <a:off x="5866175" y="3509150"/>
            <a:ext cx="20538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\sum_j a_{ij} = k_i^{in}&#10;%ae6efe50-ae6c-4d6d-849b-9cffff75cc36" id="879" name="Google Shape;879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7700" y="3926475"/>
            <a:ext cx="12287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_i a_{ij} = k_i^{out}&#10;%17a012a9-f893-4b76-a489-85731db1d31d" id="880" name="Google Shape;880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7700" y="3431175"/>
            <a:ext cx="130492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886" name="Google Shape;886;p95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</a:t>
            </a:r>
            <a:r>
              <a:rPr lang="en"/>
              <a:t>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all the cells equals the </a:t>
            </a:r>
            <a:r>
              <a:rPr b="1" lang="en"/>
              <a:t>graph size </a:t>
            </a:r>
            <a:r>
              <a:rPr lang="en"/>
              <a:t>(number of edges)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87" name="Google Shape;887;p95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888" name="Google Shape;888;p95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95"/>
          <p:cNvSpPr txBox="1"/>
          <p:nvPr/>
        </p:nvSpPr>
        <p:spPr>
          <a:xfrm>
            <a:off x="5859613" y="212746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\sum_i^{ }\sum_j^{ }a_{ij}=m" id="890" name="Google Shape;89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7162" y="3892998"/>
            <a:ext cx="15773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95"/>
          <p:cNvSpPr/>
          <p:nvPr/>
        </p:nvSpPr>
        <p:spPr>
          <a:xfrm rot="5400000">
            <a:off x="6220900" y="2611700"/>
            <a:ext cx="2053800" cy="207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897" name="Google Shape;897;p96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</a:t>
            </a:r>
            <a:r>
              <a:rPr lang="en"/>
              <a:t>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all the cells equals the </a:t>
            </a:r>
            <a:r>
              <a:rPr b="1" lang="en"/>
              <a:t>graph size </a:t>
            </a:r>
            <a:r>
              <a:rPr lang="en"/>
              <a:t>(number of edges)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98" name="Google Shape;898;p96"/>
          <p:cNvGraphicFramePr/>
          <p:nvPr/>
        </p:nvGraphicFramePr>
        <p:xfrm>
          <a:off x="5896450" y="2323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899" name="Google Shape;899;p96"/>
          <p:cNvPicPr preferRelativeResize="0"/>
          <p:nvPr/>
        </p:nvPicPr>
        <p:blipFill rotWithShape="1">
          <a:blip r:embed="rId3">
            <a:alphaModFix/>
          </a:blip>
          <a:srcRect b="54217" l="50926" r="2550" t="29106"/>
          <a:stretch/>
        </p:blipFill>
        <p:spPr>
          <a:xfrm>
            <a:off x="5346387" y="1147228"/>
            <a:ext cx="3490675" cy="9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96"/>
          <p:cNvSpPr txBox="1"/>
          <p:nvPr/>
        </p:nvSpPr>
        <p:spPr>
          <a:xfrm>
            <a:off x="5859613" y="2127463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\sum_i \sum_j a_{ij} = 1 + 0 + 0 + 0 + 1 + 0 + 0 + 0 + 0 + 0 + 1 + 1 + 1 + 0 + 0 + 0 + 0 + 0 + 0 + 1 + 1 = 7" id="901" name="Google Shape;90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631" y="3892998"/>
            <a:ext cx="5486401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96"/>
          <p:cNvSpPr/>
          <p:nvPr/>
        </p:nvSpPr>
        <p:spPr>
          <a:xfrm rot="5400000">
            <a:off x="6220900" y="2611700"/>
            <a:ext cx="2053800" cy="207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908" name="Google Shape;908;p97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</a:t>
            </a:r>
            <a:r>
              <a:rPr b="1" lang="en"/>
              <a:t>directed</a:t>
            </a:r>
            <a:r>
              <a:rPr lang="en"/>
              <a:t>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all the cells equals </a:t>
            </a:r>
            <a:r>
              <a:rPr b="1" lang="en"/>
              <a:t>double the graph size </a:t>
            </a:r>
            <a:r>
              <a:rPr lang="en"/>
              <a:t>(twice the number of edges)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909" name="Google Shape;909;p97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910" name="Google Shape;910;p97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1" name="Google Shape;911;p97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912" name="Google Shape;912;p97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\sum_i^{ }\sum_j^{ }a_{ij}=2m" id="913" name="Google Shape;913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7162" y="3912027"/>
            <a:ext cx="1577340" cy="510584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97"/>
          <p:cNvSpPr/>
          <p:nvPr/>
        </p:nvSpPr>
        <p:spPr>
          <a:xfrm rot="5400000">
            <a:off x="6307225" y="2703500"/>
            <a:ext cx="2053800" cy="207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9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920" name="Google Shape;920;p98"/>
          <p:cNvSpPr txBox="1"/>
          <p:nvPr>
            <p:ph idx="1" type="body"/>
          </p:nvPr>
        </p:nvSpPr>
        <p:spPr>
          <a:xfrm>
            <a:off x="311700" y="1225225"/>
            <a:ext cx="473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matrices good for?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Calculating things!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of </a:t>
            </a:r>
            <a:r>
              <a:rPr b="1" lang="en"/>
              <a:t>either</a:t>
            </a:r>
            <a:r>
              <a:rPr lang="en"/>
              <a:t> the rows or the columns in the adjacency matrix is equal to that node’s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that means the matrix formula for the </a:t>
            </a:r>
            <a:r>
              <a:rPr b="1" lang="en"/>
              <a:t>size</a:t>
            </a:r>
            <a:r>
              <a:rPr lang="en"/>
              <a:t> of an </a:t>
            </a:r>
            <a:r>
              <a:rPr b="1" lang="en"/>
              <a:t>undirected graph</a:t>
            </a:r>
            <a:r>
              <a:rPr lang="en"/>
              <a:t> is: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921" name="Google Shape;921;p98"/>
          <p:cNvGrpSpPr/>
          <p:nvPr/>
        </p:nvGrpSpPr>
        <p:grpSpPr>
          <a:xfrm>
            <a:off x="5341625" y="1035703"/>
            <a:ext cx="3490675" cy="1359585"/>
            <a:chOff x="5341638" y="1437303"/>
            <a:chExt cx="3490675" cy="1359585"/>
          </a:xfrm>
        </p:grpSpPr>
        <p:pic>
          <p:nvPicPr>
            <p:cNvPr id="922" name="Google Shape;922;p98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8072"/>
            <a:stretch/>
          </p:blipFill>
          <p:spPr>
            <a:xfrm>
              <a:off x="5341637" y="1437303"/>
              <a:ext cx="3490675" cy="106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3" name="Google Shape;923;p98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924" name="Google Shape;924;p98"/>
          <p:cNvGraphicFramePr/>
          <p:nvPr/>
        </p:nvGraphicFramePr>
        <p:xfrm>
          <a:off x="5891663" y="239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m = \frac{\sum_i^{ }\sum_j^{ }a_{ij}}{2}" id="925" name="Google Shape;925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1868" y="3912027"/>
            <a:ext cx="1828800" cy="6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98"/>
          <p:cNvSpPr/>
          <p:nvPr/>
        </p:nvSpPr>
        <p:spPr>
          <a:xfrm rot="5400000">
            <a:off x="6307225" y="2703500"/>
            <a:ext cx="2053800" cy="207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graphs: Matrix Representation</a:t>
            </a:r>
            <a:endParaRPr/>
          </a:p>
        </p:txBody>
      </p:sp>
      <p:pic>
        <p:nvPicPr>
          <p:cNvPr id="932" name="Google Shape;93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6" y="1637124"/>
            <a:ext cx="3551100" cy="2297313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99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934" name="Google Shape;934;p99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0.6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0.55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0.45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935" name="Google Shape;935;p99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0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941" name="Google Shape;941;p100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942" name="Google Shape;942;p100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0.6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0.55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0.45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943" name="Google Shape;943;p100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44" name="Google Shape;944;p100"/>
          <p:cNvSpPr txBox="1"/>
          <p:nvPr>
            <p:ph idx="1" type="body"/>
          </p:nvPr>
        </p:nvSpPr>
        <p:spPr>
          <a:xfrm>
            <a:off x="311700" y="1225225"/>
            <a:ext cx="4717200" cy="3681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sum of the edge weights coming out of each node is called the vertex </a:t>
            </a:r>
            <a:r>
              <a:rPr b="1" lang="en"/>
              <a:t>out-strength </a:t>
            </a:r>
            <a:r>
              <a:rPr lang="en"/>
              <a:t>S(v)</a:t>
            </a:r>
            <a:r>
              <a:rPr baseline="-25000" lang="en"/>
              <a:t>out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S(a)</a:t>
            </a:r>
            <a:r>
              <a:rPr baseline="-25000" lang="en"/>
              <a:t>out</a:t>
            </a:r>
            <a:r>
              <a:rPr lang="en"/>
              <a:t> = 0 + 0 + 0 + 0.1 + 0.9 = 1.0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100"/>
          <p:cNvSpPr/>
          <p:nvPr/>
        </p:nvSpPr>
        <p:spPr>
          <a:xfrm>
            <a:off x="5154200" y="1725975"/>
            <a:ext cx="36021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1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951" name="Google Shape;951;p101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952" name="Google Shape;952;p101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0.6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0.55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0.45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953" name="Google Shape;953;p101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54" name="Google Shape;954;p101"/>
          <p:cNvSpPr txBox="1"/>
          <p:nvPr>
            <p:ph idx="1" type="body"/>
          </p:nvPr>
        </p:nvSpPr>
        <p:spPr>
          <a:xfrm>
            <a:off x="311700" y="1225225"/>
            <a:ext cx="4717200" cy="3681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</a:t>
            </a:r>
            <a:r>
              <a:rPr lang="en"/>
              <a:t>he sum of the edge weights coming out of each node is called the vertex </a:t>
            </a:r>
            <a:r>
              <a:rPr b="1" lang="en"/>
              <a:t>out-strength </a:t>
            </a:r>
            <a:r>
              <a:rPr lang="en"/>
              <a:t>S(v)</a:t>
            </a:r>
            <a:r>
              <a:rPr baseline="-25000" lang="en"/>
              <a:t>out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S(a)</a:t>
            </a:r>
            <a:r>
              <a:rPr baseline="-25000" lang="en"/>
              <a:t>out</a:t>
            </a:r>
            <a:r>
              <a:rPr lang="en"/>
              <a:t> = 0 + 0 + 0 + 0.1 + 0.9 = 1.0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Sum of the </a:t>
            </a:r>
            <a:r>
              <a:rPr b="1" lang="en"/>
              <a:t>rows</a:t>
            </a:r>
            <a:r>
              <a:rPr lang="en"/>
              <a:t> of the asymmetric valued matrix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101"/>
          <p:cNvSpPr/>
          <p:nvPr/>
        </p:nvSpPr>
        <p:spPr>
          <a:xfrm>
            <a:off x="5154200" y="1725975"/>
            <a:ext cx="36021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S(v_i)_{out}=\sum_{i}^{ }w_{ij}&#10;%1ed59049-61bc-47b1-a33e-39bb37b96668" id="956" name="Google Shape;956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5200" y="3048000"/>
            <a:ext cx="260032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962" name="Google Shape;962;p102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963" name="Google Shape;963;p102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0.6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0.55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0.45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964" name="Google Shape;964;p102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65" name="Google Shape;965;p102"/>
          <p:cNvSpPr txBox="1"/>
          <p:nvPr>
            <p:ph idx="1" type="body"/>
          </p:nvPr>
        </p:nvSpPr>
        <p:spPr>
          <a:xfrm>
            <a:off x="311700" y="1225225"/>
            <a:ext cx="4717200" cy="3681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sum of the edge weights coming into each node is called the vertex </a:t>
            </a:r>
            <a:r>
              <a:rPr b="1" lang="en"/>
              <a:t>in-strength </a:t>
            </a:r>
            <a:r>
              <a:rPr lang="en"/>
              <a:t>S(v)</a:t>
            </a:r>
            <a:r>
              <a:rPr baseline="-25000" lang="en"/>
              <a:t>in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S(a)</a:t>
            </a:r>
            <a:r>
              <a:rPr baseline="-25000" lang="en"/>
              <a:t>in</a:t>
            </a:r>
            <a:r>
              <a:rPr lang="en"/>
              <a:t> = 0.3 + 0 + 0 + 0.55 + 0 = 0.85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102"/>
          <p:cNvSpPr/>
          <p:nvPr/>
        </p:nvSpPr>
        <p:spPr>
          <a:xfrm rot="5400000">
            <a:off x="4009500" y="2673925"/>
            <a:ext cx="3520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0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Metrics from Matrices</a:t>
            </a:r>
            <a:endParaRPr/>
          </a:p>
        </p:txBody>
      </p:sp>
      <p:sp>
        <p:nvSpPr>
          <p:cNvPr id="972" name="Google Shape;972;p103"/>
          <p:cNvSpPr txBox="1"/>
          <p:nvPr/>
        </p:nvSpPr>
        <p:spPr>
          <a:xfrm>
            <a:off x="5134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973" name="Google Shape;973;p103"/>
          <p:cNvGraphicFramePr/>
          <p:nvPr/>
        </p:nvGraphicFramePr>
        <p:xfrm>
          <a:off x="5028888" y="123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507300"/>
                <a:gridCol w="507300"/>
                <a:gridCol w="507300"/>
                <a:gridCol w="507300"/>
                <a:gridCol w="507300"/>
                <a:gridCol w="507275"/>
                <a:gridCol w="507275"/>
              </a:tblGrid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0.9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0.6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0.55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0.45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4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974" name="Google Shape;974;p103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Asymmetric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75" name="Google Shape;975;p103"/>
          <p:cNvSpPr txBox="1"/>
          <p:nvPr>
            <p:ph idx="1" type="body"/>
          </p:nvPr>
        </p:nvSpPr>
        <p:spPr>
          <a:xfrm>
            <a:off x="311700" y="1225225"/>
            <a:ext cx="4717200" cy="3681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sum of the edge weights coming into each node is called the vertex </a:t>
            </a:r>
            <a:r>
              <a:rPr b="1" lang="en"/>
              <a:t>in-strength </a:t>
            </a:r>
            <a:r>
              <a:rPr lang="en"/>
              <a:t>S(v)</a:t>
            </a:r>
            <a:r>
              <a:rPr baseline="-25000" lang="en"/>
              <a:t>in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S(a)</a:t>
            </a:r>
            <a:r>
              <a:rPr baseline="-25000" lang="en"/>
              <a:t>in</a:t>
            </a:r>
            <a:r>
              <a:rPr lang="en"/>
              <a:t> = 0.3 + 0 + 0 + 0.55 + 0 = 0.85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Sum of the </a:t>
            </a:r>
            <a:r>
              <a:rPr b="1" lang="en"/>
              <a:t>columns</a:t>
            </a:r>
            <a:r>
              <a:rPr lang="en"/>
              <a:t> of the asymmetric valued matrix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103"/>
          <p:cNvSpPr/>
          <p:nvPr/>
        </p:nvSpPr>
        <p:spPr>
          <a:xfrm rot="5400000">
            <a:off x="4009500" y="2673925"/>
            <a:ext cx="35205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S(v_i)_{in}=\sum_{j}^{ }w_{ij}&#10;%fc9d5ab4-d211-4413-a0cc-2ec6905ab91f" id="977" name="Google Shape;977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3936" y="3044952"/>
            <a:ext cx="2486025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0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0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988" name="Google Shape;988;p105"/>
          <p:cNvSpPr txBox="1"/>
          <p:nvPr>
            <p:ph idx="1" type="body"/>
          </p:nvPr>
        </p:nvSpPr>
        <p:spPr>
          <a:xfrm>
            <a:off x="311700" y="1225225"/>
            <a:ext cx="5377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105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90" name="Google Shape;990;p105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91" name="Google Shape;991;p105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92" name="Google Shape;992;p105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93" name="Google Shape;993;p105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94" name="Google Shape;994;p105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5" name="Google Shape;995;p105"/>
          <p:cNvCxnSpPr>
            <a:stCxn id="989" idx="7"/>
            <a:endCxn id="99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6" name="Google Shape;996;p105"/>
          <p:cNvCxnSpPr>
            <a:stCxn id="992" idx="3"/>
            <a:endCxn id="99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7" name="Google Shape;997;p105"/>
          <p:cNvCxnSpPr>
            <a:stCxn id="994" idx="3"/>
            <a:endCxn id="99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8" name="Google Shape;998;p105"/>
          <p:cNvCxnSpPr>
            <a:stCxn id="990" idx="4"/>
            <a:endCxn id="99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9" name="Google Shape;999;p105"/>
          <p:cNvCxnSpPr>
            <a:stCxn id="989" idx="5"/>
            <a:endCxn id="99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0" name="Google Shape;1000;p105"/>
          <p:cNvCxnSpPr>
            <a:stCxn id="989" idx="6"/>
            <a:endCxn id="99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1" name="Google Shape;1001;p105"/>
          <p:cNvCxnSpPr>
            <a:stCxn id="991" idx="2"/>
            <a:endCxn id="99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2" name="Google Shape;1002;p105"/>
          <p:cNvCxnSpPr>
            <a:stCxn id="992" idx="5"/>
            <a:endCxn id="99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3" name="Google Shape;1003;p105"/>
          <p:cNvCxnSpPr>
            <a:stCxn id="990" idx="7"/>
            <a:endCxn id="99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4" name="Google Shape;1004;p105"/>
          <p:cNvCxnSpPr>
            <a:stCxn id="994" idx="3"/>
            <a:endCxn id="99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5" name="Google Shape;1005;p105"/>
          <p:cNvCxnSpPr>
            <a:stCxn id="990" idx="6"/>
            <a:endCxn id="99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6" name="Google Shape;1006;p105"/>
          <p:cNvCxnSpPr>
            <a:stCxn id="994" idx="5"/>
            <a:endCxn id="99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007" name="Google Shape;1007;p105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0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013" name="Google Shape;1013;p106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14" name="Google Shape;1014;p106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1015" name="Google Shape;1015;p106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6" name="Google Shape;1016;p106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7" name="Google Shape;1017;p106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8" name="Google Shape;1018;p106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9" name="Google Shape;1019;p106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20" name="Google Shape;1020;p106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21" name="Google Shape;1021;p106"/>
          <p:cNvCxnSpPr>
            <a:stCxn id="1015" idx="7"/>
            <a:endCxn id="101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2" name="Google Shape;1022;p106"/>
          <p:cNvCxnSpPr>
            <a:stCxn id="1018" idx="3"/>
            <a:endCxn id="101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3" name="Google Shape;1023;p106"/>
          <p:cNvCxnSpPr>
            <a:stCxn id="1020" idx="3"/>
            <a:endCxn id="101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4" name="Google Shape;1024;p106"/>
          <p:cNvCxnSpPr>
            <a:stCxn id="1016" idx="4"/>
            <a:endCxn id="101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5" name="Google Shape;1025;p106"/>
          <p:cNvCxnSpPr>
            <a:stCxn id="1015" idx="5"/>
            <a:endCxn id="101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6" name="Google Shape;1026;p106"/>
          <p:cNvCxnSpPr>
            <a:stCxn id="1015" idx="6"/>
            <a:endCxn id="101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7" name="Google Shape;1027;p106"/>
          <p:cNvCxnSpPr>
            <a:stCxn id="1017" idx="2"/>
            <a:endCxn id="101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8" name="Google Shape;1028;p106"/>
          <p:cNvCxnSpPr>
            <a:stCxn id="1018" idx="5"/>
            <a:endCxn id="102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9" name="Google Shape;1029;p106"/>
          <p:cNvCxnSpPr>
            <a:stCxn id="1016" idx="7"/>
            <a:endCxn id="101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0" name="Google Shape;1030;p106"/>
          <p:cNvCxnSpPr>
            <a:stCxn id="1020" idx="3"/>
            <a:endCxn id="101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1" name="Google Shape;1031;p106"/>
          <p:cNvCxnSpPr>
            <a:stCxn id="1016" idx="6"/>
            <a:endCxn id="102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2" name="Google Shape;1032;p106"/>
          <p:cNvCxnSpPr>
            <a:stCxn id="1020" idx="5"/>
            <a:endCxn id="101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0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038" name="Google Shape;1038;p107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5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if node </a:t>
            </a:r>
            <a:r>
              <a:rPr i="1" lang="en"/>
              <a:t>i</a:t>
            </a:r>
            <a:r>
              <a:rPr lang="en"/>
              <a:t> sends a tie to node </a:t>
            </a:r>
            <a:r>
              <a:rPr i="1" lang="en"/>
              <a:t>j</a:t>
            </a:r>
            <a:endParaRPr i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39" name="Google Shape;1039;p107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1040" name="Google Shape;1040;p10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1" name="Google Shape;1041;p10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2" name="Google Shape;1042;p10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3" name="Google Shape;1043;p10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4" name="Google Shape;1044;p10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5" name="Google Shape;1045;p10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46" name="Google Shape;1046;p107"/>
          <p:cNvCxnSpPr>
            <a:stCxn id="1040" idx="7"/>
            <a:endCxn id="1043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7" name="Google Shape;1047;p107"/>
          <p:cNvCxnSpPr>
            <a:stCxn id="1043" idx="3"/>
            <a:endCxn id="1041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8" name="Google Shape;1048;p107"/>
          <p:cNvCxnSpPr>
            <a:stCxn id="1045" idx="3"/>
            <a:endCxn id="1042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9" name="Google Shape;1049;p107"/>
          <p:cNvCxnSpPr>
            <a:stCxn id="1041" idx="4"/>
            <a:endCxn id="1044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0" name="Google Shape;1050;p107"/>
          <p:cNvCxnSpPr>
            <a:stCxn id="1040" idx="5"/>
            <a:endCxn id="1044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1" name="Google Shape;1051;p107"/>
          <p:cNvCxnSpPr>
            <a:stCxn id="1040" idx="6"/>
            <a:endCxn id="1041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2" name="Google Shape;1052;p107"/>
          <p:cNvCxnSpPr>
            <a:stCxn id="1042" idx="2"/>
            <a:endCxn id="1044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3" name="Google Shape;1053;p107"/>
          <p:cNvCxnSpPr>
            <a:stCxn id="1043" idx="5"/>
            <a:endCxn id="1045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4" name="Google Shape;1054;p107"/>
          <p:cNvCxnSpPr>
            <a:stCxn id="1041" idx="7"/>
            <a:endCxn id="1043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5" name="Google Shape;1055;p107"/>
          <p:cNvCxnSpPr>
            <a:stCxn id="1045" idx="3"/>
            <a:endCxn id="1044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6" name="Google Shape;1056;p107"/>
          <p:cNvCxnSpPr>
            <a:stCxn id="1041" idx="6"/>
            <a:endCxn id="1045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7" name="Google Shape;1057;p107"/>
          <p:cNvCxnSpPr>
            <a:stCxn id="1045" idx="5"/>
            <a:endCxn id="1042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10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063" name="Google Shape;1063;p108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5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if node </a:t>
            </a:r>
            <a:r>
              <a:rPr i="1" lang="en"/>
              <a:t>i</a:t>
            </a:r>
            <a:r>
              <a:rPr lang="en"/>
              <a:t> sends a tie to node </a:t>
            </a:r>
            <a:r>
              <a:rPr i="1" lang="en"/>
              <a:t>j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B sends a tie to nodes {A,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means: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a</a:t>
            </a:r>
            <a:r>
              <a:rPr baseline="-25000" lang="en">
                <a:solidFill>
                  <a:srgbClr val="FF0000"/>
                </a:solidFill>
              </a:rPr>
              <a:t>21</a:t>
            </a:r>
            <a:r>
              <a:rPr lang="en">
                <a:solidFill>
                  <a:srgbClr val="FF0000"/>
                </a:solidFill>
              </a:rPr>
              <a:t> = 1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a</a:t>
            </a:r>
            <a:r>
              <a:rPr baseline="-25000" lang="en">
                <a:solidFill>
                  <a:srgbClr val="FF0000"/>
                </a:solidFill>
              </a:rPr>
              <a:t>23</a:t>
            </a:r>
            <a:r>
              <a:rPr lang="en">
                <a:solidFill>
                  <a:srgbClr val="FF0000"/>
                </a:solidFill>
              </a:rPr>
              <a:t> = 1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a</a:t>
            </a:r>
            <a:r>
              <a:rPr baseline="-25000" lang="en">
                <a:solidFill>
                  <a:srgbClr val="FF0000"/>
                </a:solidFill>
              </a:rPr>
              <a:t>24</a:t>
            </a:r>
            <a:r>
              <a:rPr lang="en">
                <a:solidFill>
                  <a:srgbClr val="FF0000"/>
                </a:solidFill>
              </a:rPr>
              <a:t> = 1</a:t>
            </a:r>
            <a:endParaRPr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108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65" name="Google Shape;1065;p108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66" name="Google Shape;1066;p108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67" name="Google Shape;1067;p108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68" name="Google Shape;1068;p108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69" name="Google Shape;1069;p108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70" name="Google Shape;1070;p108"/>
          <p:cNvCxnSpPr>
            <a:stCxn id="1064" idx="7"/>
            <a:endCxn id="106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1" name="Google Shape;1071;p108"/>
          <p:cNvCxnSpPr>
            <a:stCxn id="1067" idx="3"/>
            <a:endCxn id="106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2" name="Google Shape;1072;p108"/>
          <p:cNvCxnSpPr>
            <a:stCxn id="1069" idx="3"/>
            <a:endCxn id="106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3" name="Google Shape;1073;p108"/>
          <p:cNvCxnSpPr>
            <a:stCxn id="1065" idx="4"/>
            <a:endCxn id="106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4" name="Google Shape;1074;p108"/>
          <p:cNvCxnSpPr>
            <a:stCxn id="1064" idx="5"/>
            <a:endCxn id="106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5" name="Google Shape;1075;p108"/>
          <p:cNvCxnSpPr>
            <a:stCxn id="1064" idx="6"/>
            <a:endCxn id="106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6" name="Google Shape;1076;p108"/>
          <p:cNvCxnSpPr>
            <a:stCxn id="1066" idx="2"/>
            <a:endCxn id="106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7" name="Google Shape;1077;p108"/>
          <p:cNvCxnSpPr>
            <a:stCxn id="1067" idx="5"/>
            <a:endCxn id="106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8" name="Google Shape;1078;p108"/>
          <p:cNvCxnSpPr>
            <a:stCxn id="1065" idx="7"/>
            <a:endCxn id="106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9" name="Google Shape;1079;p108"/>
          <p:cNvCxnSpPr>
            <a:stCxn id="1069" idx="3"/>
            <a:endCxn id="106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0" name="Google Shape;1080;p108"/>
          <p:cNvCxnSpPr>
            <a:stCxn id="1065" idx="6"/>
            <a:endCxn id="106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1" name="Google Shape;1081;p108"/>
          <p:cNvCxnSpPr>
            <a:stCxn id="1069" idx="5"/>
            <a:endCxn id="106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082" name="Google Shape;1082;p108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0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088" name="Google Shape;1088;p109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5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if node </a:t>
            </a:r>
            <a:r>
              <a:rPr i="1" lang="en"/>
              <a:t>i</a:t>
            </a:r>
            <a:r>
              <a:rPr lang="en"/>
              <a:t> sends a tie to node </a:t>
            </a:r>
            <a:r>
              <a:rPr i="1" lang="en"/>
              <a:t>j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B sends a tie to nodes {A,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means: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a</a:t>
            </a:r>
            <a:r>
              <a:rPr baseline="-25000" lang="en">
                <a:solidFill>
                  <a:srgbClr val="FF0000"/>
                </a:solidFill>
              </a:rPr>
              <a:t>21</a:t>
            </a:r>
            <a:r>
              <a:rPr lang="en">
                <a:solidFill>
                  <a:srgbClr val="FF0000"/>
                </a:solidFill>
              </a:rPr>
              <a:t> = 1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a</a:t>
            </a:r>
            <a:r>
              <a:rPr baseline="-25000" lang="en">
                <a:solidFill>
                  <a:srgbClr val="FF0000"/>
                </a:solidFill>
              </a:rPr>
              <a:t>23</a:t>
            </a:r>
            <a:r>
              <a:rPr lang="en">
                <a:solidFill>
                  <a:srgbClr val="FF0000"/>
                </a:solidFill>
              </a:rPr>
              <a:t> = 1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a</a:t>
            </a:r>
            <a:r>
              <a:rPr baseline="-25000" lang="en">
                <a:solidFill>
                  <a:srgbClr val="FF0000"/>
                </a:solidFill>
              </a:rPr>
              <a:t>24</a:t>
            </a:r>
            <a:r>
              <a:rPr lang="en">
                <a:solidFill>
                  <a:srgbClr val="FF0000"/>
                </a:solidFill>
              </a:rPr>
              <a:t> = 1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ties a node sends show up in the row!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109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90" name="Google Shape;1090;p109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91" name="Google Shape;1091;p109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92" name="Google Shape;1092;p109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93" name="Google Shape;1093;p109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94" name="Google Shape;1094;p109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95" name="Google Shape;1095;p109"/>
          <p:cNvCxnSpPr>
            <a:stCxn id="1089" idx="7"/>
            <a:endCxn id="109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6" name="Google Shape;1096;p109"/>
          <p:cNvCxnSpPr>
            <a:stCxn id="1092" idx="3"/>
            <a:endCxn id="109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7" name="Google Shape;1097;p109"/>
          <p:cNvCxnSpPr>
            <a:stCxn id="1094" idx="3"/>
            <a:endCxn id="109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8" name="Google Shape;1098;p109"/>
          <p:cNvCxnSpPr>
            <a:stCxn id="1090" idx="4"/>
            <a:endCxn id="109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9" name="Google Shape;1099;p109"/>
          <p:cNvCxnSpPr>
            <a:stCxn id="1089" idx="5"/>
            <a:endCxn id="109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0" name="Google Shape;1100;p109"/>
          <p:cNvCxnSpPr>
            <a:stCxn id="1089" idx="6"/>
            <a:endCxn id="109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1" name="Google Shape;1101;p109"/>
          <p:cNvCxnSpPr>
            <a:stCxn id="1091" idx="2"/>
            <a:endCxn id="109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2" name="Google Shape;1102;p109"/>
          <p:cNvCxnSpPr>
            <a:stCxn id="1092" idx="5"/>
            <a:endCxn id="109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3" name="Google Shape;1103;p109"/>
          <p:cNvCxnSpPr>
            <a:stCxn id="1090" idx="7"/>
            <a:endCxn id="109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4" name="Google Shape;1104;p109"/>
          <p:cNvCxnSpPr>
            <a:stCxn id="1094" idx="3"/>
            <a:endCxn id="109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5" name="Google Shape;1105;p109"/>
          <p:cNvCxnSpPr>
            <a:stCxn id="1090" idx="6"/>
            <a:endCxn id="109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6" name="Google Shape;1106;p109"/>
          <p:cNvCxnSpPr>
            <a:stCxn id="1094" idx="5"/>
            <a:endCxn id="109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graphicFrame>
        <p:nvGraphicFramePr>
          <p:cNvPr id="1107" name="Google Shape;1107;p109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113" name="Google Shape;1113;p110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5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if node </a:t>
            </a:r>
            <a:r>
              <a:rPr i="1" lang="en"/>
              <a:t>i</a:t>
            </a:r>
            <a:r>
              <a:rPr lang="en"/>
              <a:t> sends a tie to node </a:t>
            </a:r>
            <a:r>
              <a:rPr i="1" lang="en"/>
              <a:t>j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we fill out the whole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ties a node </a:t>
            </a:r>
            <a:r>
              <a:rPr b="1" lang="en"/>
              <a:t>receives</a:t>
            </a:r>
            <a:r>
              <a:rPr lang="en"/>
              <a:t> show up in their </a:t>
            </a:r>
            <a:r>
              <a:rPr b="1" lang="en"/>
              <a:t>column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110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15" name="Google Shape;1115;p110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16" name="Google Shape;1116;p110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17" name="Google Shape;1117;p110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18" name="Google Shape;1118;p110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19" name="Google Shape;1119;p110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20" name="Google Shape;1120;p110"/>
          <p:cNvCxnSpPr>
            <a:stCxn id="1114" idx="7"/>
            <a:endCxn id="111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1" name="Google Shape;1121;p110"/>
          <p:cNvCxnSpPr>
            <a:stCxn id="1117" idx="3"/>
            <a:endCxn id="111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2" name="Google Shape;1122;p110"/>
          <p:cNvCxnSpPr>
            <a:stCxn id="1119" idx="3"/>
            <a:endCxn id="111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110"/>
          <p:cNvCxnSpPr>
            <a:stCxn id="1115" idx="4"/>
            <a:endCxn id="111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4" name="Google Shape;1124;p110"/>
          <p:cNvCxnSpPr>
            <a:stCxn id="1114" idx="5"/>
            <a:endCxn id="111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5" name="Google Shape;1125;p110"/>
          <p:cNvCxnSpPr>
            <a:stCxn id="1114" idx="6"/>
            <a:endCxn id="111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6" name="Google Shape;1126;p110"/>
          <p:cNvCxnSpPr>
            <a:stCxn id="1116" idx="2"/>
            <a:endCxn id="111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7" name="Google Shape;1127;p110"/>
          <p:cNvCxnSpPr>
            <a:stCxn id="1117" idx="5"/>
            <a:endCxn id="111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8" name="Google Shape;1128;p110"/>
          <p:cNvCxnSpPr>
            <a:stCxn id="1115" idx="7"/>
            <a:endCxn id="111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9" name="Google Shape;1129;p110"/>
          <p:cNvCxnSpPr>
            <a:stCxn id="1119" idx="3"/>
            <a:endCxn id="111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0" name="Google Shape;1130;p110"/>
          <p:cNvCxnSpPr>
            <a:stCxn id="1115" idx="6"/>
            <a:endCxn id="111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" name="Google Shape;1131;p110"/>
          <p:cNvCxnSpPr>
            <a:stCxn id="1119" idx="5"/>
            <a:endCxn id="111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132" name="Google Shape;1132;p110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11"/>
          <p:cNvSpPr/>
          <p:nvPr/>
        </p:nvSpPr>
        <p:spPr>
          <a:xfrm rot="10800000">
            <a:off x="6673450" y="2400575"/>
            <a:ext cx="534900" cy="2608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139" name="Google Shape;1139;p111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5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if node </a:t>
            </a:r>
            <a:r>
              <a:rPr i="1" lang="en"/>
              <a:t>i</a:t>
            </a:r>
            <a:r>
              <a:rPr lang="en"/>
              <a:t> sends a tie to node </a:t>
            </a:r>
            <a:r>
              <a:rPr i="1" lang="en"/>
              <a:t>j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we fill out the whole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ties a node </a:t>
            </a:r>
            <a:r>
              <a:rPr b="1" lang="en"/>
              <a:t>receives</a:t>
            </a:r>
            <a:r>
              <a:rPr lang="en"/>
              <a:t> show up in their </a:t>
            </a:r>
            <a:r>
              <a:rPr b="1" lang="en"/>
              <a:t>column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receives zero ties!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40" name="Google Shape;1140;p111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1141" name="Google Shape;1141;p111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42" name="Google Shape;1142;p111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43" name="Google Shape;1143;p111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44" name="Google Shape;1144;p111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45" name="Google Shape;1145;p111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46" name="Google Shape;1146;p111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47" name="Google Shape;1147;p111"/>
          <p:cNvCxnSpPr>
            <a:stCxn id="1141" idx="7"/>
            <a:endCxn id="1144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8" name="Google Shape;1148;p111"/>
          <p:cNvCxnSpPr>
            <a:stCxn id="1144" idx="3"/>
            <a:endCxn id="1142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9" name="Google Shape;1149;p111"/>
          <p:cNvCxnSpPr>
            <a:stCxn id="1146" idx="3"/>
            <a:endCxn id="1143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0" name="Google Shape;1150;p111"/>
          <p:cNvCxnSpPr>
            <a:stCxn id="1142" idx="4"/>
            <a:endCxn id="1145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1" name="Google Shape;1151;p111"/>
          <p:cNvCxnSpPr>
            <a:stCxn id="1141" idx="5"/>
            <a:endCxn id="1145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2" name="Google Shape;1152;p111"/>
          <p:cNvCxnSpPr>
            <a:stCxn id="1141" idx="6"/>
            <a:endCxn id="1142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3" name="Google Shape;1153;p111"/>
          <p:cNvCxnSpPr>
            <a:stCxn id="1143" idx="2"/>
            <a:endCxn id="1145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4" name="Google Shape;1154;p111"/>
          <p:cNvCxnSpPr>
            <a:stCxn id="1144" idx="5"/>
            <a:endCxn id="1146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5" name="Google Shape;1155;p111"/>
          <p:cNvCxnSpPr>
            <a:stCxn id="1142" idx="7"/>
            <a:endCxn id="1144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6" name="Google Shape;1156;p111"/>
          <p:cNvCxnSpPr>
            <a:stCxn id="1146" idx="3"/>
            <a:endCxn id="1145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7" name="Google Shape;1157;p111"/>
          <p:cNvCxnSpPr>
            <a:stCxn id="1142" idx="6"/>
            <a:endCxn id="1146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8" name="Google Shape;1158;p111"/>
          <p:cNvCxnSpPr>
            <a:stCxn id="1146" idx="5"/>
            <a:endCxn id="1143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164" name="Google Shape;1164;p112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5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if node </a:t>
            </a:r>
            <a:r>
              <a:rPr i="1" lang="en"/>
              <a:t>i</a:t>
            </a:r>
            <a:r>
              <a:rPr lang="en"/>
              <a:t> sends a tie to node </a:t>
            </a:r>
            <a:r>
              <a:rPr i="1" lang="en"/>
              <a:t>j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we fill out the whole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ties a node </a:t>
            </a:r>
            <a:r>
              <a:rPr b="1" lang="en"/>
              <a:t>receives</a:t>
            </a:r>
            <a:r>
              <a:rPr lang="en"/>
              <a:t> show up in their </a:t>
            </a:r>
            <a:r>
              <a:rPr b="1" lang="en"/>
              <a:t>column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receives zero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 sends zero ties!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65" name="Google Shape;1165;p112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1166" name="Google Shape;1166;p112"/>
          <p:cNvSpPr/>
          <p:nvPr/>
        </p:nvSpPr>
        <p:spPr>
          <a:xfrm rot="5400000">
            <a:off x="7146250" y="2414800"/>
            <a:ext cx="492000" cy="3323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112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8" name="Google Shape;1168;p112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9" name="Google Shape;1169;p112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70" name="Google Shape;1170;p112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71" name="Google Shape;1171;p112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72" name="Google Shape;1172;p112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73" name="Google Shape;1173;p112"/>
          <p:cNvCxnSpPr>
            <a:stCxn id="1167" idx="7"/>
            <a:endCxn id="1170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4" name="Google Shape;1174;p112"/>
          <p:cNvCxnSpPr>
            <a:stCxn id="1170" idx="3"/>
            <a:endCxn id="1168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5" name="Google Shape;1175;p112"/>
          <p:cNvCxnSpPr>
            <a:stCxn id="1172" idx="3"/>
            <a:endCxn id="1169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6" name="Google Shape;1176;p112"/>
          <p:cNvCxnSpPr>
            <a:stCxn id="1168" idx="4"/>
            <a:endCxn id="1171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7" name="Google Shape;1177;p112"/>
          <p:cNvCxnSpPr>
            <a:stCxn id="1167" idx="5"/>
            <a:endCxn id="1171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8" name="Google Shape;1178;p112"/>
          <p:cNvCxnSpPr>
            <a:stCxn id="1167" idx="6"/>
            <a:endCxn id="1168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9" name="Google Shape;1179;p112"/>
          <p:cNvCxnSpPr>
            <a:stCxn id="1169" idx="2"/>
            <a:endCxn id="1171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0" name="Google Shape;1180;p112"/>
          <p:cNvCxnSpPr>
            <a:stCxn id="1170" idx="5"/>
            <a:endCxn id="117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1" name="Google Shape;1181;p112"/>
          <p:cNvCxnSpPr>
            <a:stCxn id="1168" idx="7"/>
            <a:endCxn id="1170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2" name="Google Shape;1182;p112"/>
          <p:cNvCxnSpPr>
            <a:stCxn id="1172" idx="3"/>
            <a:endCxn id="1171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3" name="Google Shape;1183;p112"/>
          <p:cNvCxnSpPr>
            <a:stCxn id="1168" idx="6"/>
            <a:endCxn id="117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4" name="Google Shape;1184;p112"/>
          <p:cNvCxnSpPr>
            <a:stCxn id="1172" idx="5"/>
            <a:endCxn id="1169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190" name="Google Shape;1190;p113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5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if node </a:t>
            </a:r>
            <a:r>
              <a:rPr i="1" lang="en"/>
              <a:t>i</a:t>
            </a:r>
            <a:r>
              <a:rPr lang="en"/>
              <a:t> sends a tie to node </a:t>
            </a:r>
            <a:r>
              <a:rPr i="1" lang="en"/>
              <a:t>j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we fill out the whole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ties a node </a:t>
            </a:r>
            <a:r>
              <a:rPr b="1" lang="en"/>
              <a:t>receives</a:t>
            </a:r>
            <a:r>
              <a:rPr lang="en"/>
              <a:t> show up in their </a:t>
            </a:r>
            <a:r>
              <a:rPr b="1" lang="en"/>
              <a:t>column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receives zero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 sends zero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 receives four ties!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91" name="Google Shape;1191;p113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1192" name="Google Shape;1192;p113"/>
          <p:cNvSpPr/>
          <p:nvPr/>
        </p:nvSpPr>
        <p:spPr>
          <a:xfrm rot="10800000">
            <a:off x="7589520" y="2400575"/>
            <a:ext cx="534900" cy="2608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113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4" name="Google Shape;1194;p113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5" name="Google Shape;1195;p113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6" name="Google Shape;1196;p113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7" name="Google Shape;1197;p113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8" name="Google Shape;1198;p113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99" name="Google Shape;1199;p113"/>
          <p:cNvCxnSpPr>
            <a:stCxn id="1193" idx="7"/>
            <a:endCxn id="1196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0" name="Google Shape;1200;p113"/>
          <p:cNvCxnSpPr>
            <a:stCxn id="1196" idx="3"/>
            <a:endCxn id="1194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1" name="Google Shape;1201;p113"/>
          <p:cNvCxnSpPr>
            <a:stCxn id="1198" idx="3"/>
            <a:endCxn id="1195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2" name="Google Shape;1202;p113"/>
          <p:cNvCxnSpPr>
            <a:stCxn id="1194" idx="4"/>
            <a:endCxn id="1197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3" name="Google Shape;1203;p113"/>
          <p:cNvCxnSpPr>
            <a:stCxn id="1193" idx="5"/>
            <a:endCxn id="1197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4" name="Google Shape;1204;p113"/>
          <p:cNvCxnSpPr>
            <a:stCxn id="1193" idx="6"/>
            <a:endCxn id="1194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5" name="Google Shape;1205;p113"/>
          <p:cNvCxnSpPr>
            <a:stCxn id="1195" idx="2"/>
            <a:endCxn id="1197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6" name="Google Shape;1206;p113"/>
          <p:cNvCxnSpPr>
            <a:stCxn id="1196" idx="5"/>
            <a:endCxn id="1198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7" name="Google Shape;1207;p113"/>
          <p:cNvCxnSpPr>
            <a:stCxn id="1194" idx="7"/>
            <a:endCxn id="1196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8" name="Google Shape;1208;p113"/>
          <p:cNvCxnSpPr>
            <a:stCxn id="1198" idx="3"/>
            <a:endCxn id="1197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9" name="Google Shape;1209;p113"/>
          <p:cNvCxnSpPr>
            <a:stCxn id="1194" idx="6"/>
            <a:endCxn id="1198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0" name="Google Shape;1210;p113"/>
          <p:cNvCxnSpPr>
            <a:stCxn id="1198" idx="5"/>
            <a:endCxn id="1195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216" name="Google Shape;1216;p114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Reciprocal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Nonreciprocal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Disconnected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17" name="Google Shape;1217;p114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1218" name="Google Shape;1218;p114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9" name="Google Shape;1219;p114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0" name="Google Shape;1220;p114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1" name="Google Shape;1221;p114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2" name="Google Shape;1222;p114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3" name="Google Shape;1223;p114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24" name="Google Shape;1224;p114"/>
          <p:cNvCxnSpPr>
            <a:stCxn id="1218" idx="7"/>
            <a:endCxn id="122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5" name="Google Shape;1225;p114"/>
          <p:cNvCxnSpPr>
            <a:stCxn id="1221" idx="3"/>
            <a:endCxn id="121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6" name="Google Shape;1226;p114"/>
          <p:cNvCxnSpPr>
            <a:stCxn id="1223" idx="3"/>
            <a:endCxn id="122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7" name="Google Shape;1227;p114"/>
          <p:cNvCxnSpPr>
            <a:stCxn id="1219" idx="4"/>
            <a:endCxn id="122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8" name="Google Shape;1228;p114"/>
          <p:cNvCxnSpPr>
            <a:stCxn id="1218" idx="5"/>
            <a:endCxn id="122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9" name="Google Shape;1229;p114"/>
          <p:cNvCxnSpPr>
            <a:stCxn id="1218" idx="6"/>
            <a:endCxn id="121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0" name="Google Shape;1230;p114"/>
          <p:cNvCxnSpPr>
            <a:stCxn id="1220" idx="2"/>
            <a:endCxn id="122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1" name="Google Shape;1231;p114"/>
          <p:cNvCxnSpPr>
            <a:stCxn id="1221" idx="5"/>
            <a:endCxn id="122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2" name="Google Shape;1232;p114"/>
          <p:cNvCxnSpPr>
            <a:stCxn id="1219" idx="7"/>
            <a:endCxn id="122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3" name="Google Shape;1233;p114"/>
          <p:cNvCxnSpPr>
            <a:stCxn id="1223" idx="3"/>
            <a:endCxn id="122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4" name="Google Shape;1234;p114"/>
          <p:cNvCxnSpPr>
            <a:stCxn id="1219" idx="6"/>
            <a:endCxn id="122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5" name="Google Shape;1235;p114"/>
          <p:cNvCxnSpPr>
            <a:stCxn id="1223" idx="5"/>
            <a:endCxn id="122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241" name="Google Shape;1241;p115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42" name="Google Shape;1242;p115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1243" name="Google Shape;1243;p115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4" name="Google Shape;1244;p115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5" name="Google Shape;1245;p115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6" name="Google Shape;1246;p115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7" name="Google Shape;1247;p115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8" name="Google Shape;1248;p115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49" name="Google Shape;1249;p115"/>
          <p:cNvCxnSpPr>
            <a:stCxn id="1243" idx="7"/>
            <a:endCxn id="1246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0" name="Google Shape;1250;p115"/>
          <p:cNvCxnSpPr>
            <a:stCxn id="1246" idx="3"/>
            <a:endCxn id="1244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1" name="Google Shape;1251;p115"/>
          <p:cNvCxnSpPr>
            <a:stCxn id="1248" idx="3"/>
            <a:endCxn id="1245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2" name="Google Shape;1252;p115"/>
          <p:cNvCxnSpPr>
            <a:stCxn id="1244" idx="4"/>
            <a:endCxn id="1247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3" name="Google Shape;1253;p115"/>
          <p:cNvCxnSpPr>
            <a:stCxn id="1243" idx="5"/>
            <a:endCxn id="1247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4" name="Google Shape;1254;p115"/>
          <p:cNvCxnSpPr>
            <a:stCxn id="1243" idx="6"/>
            <a:endCxn id="1244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5" name="Google Shape;1255;p115"/>
          <p:cNvCxnSpPr>
            <a:stCxn id="1245" idx="2"/>
            <a:endCxn id="1247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6" name="Google Shape;1256;p115"/>
          <p:cNvCxnSpPr>
            <a:stCxn id="1246" idx="5"/>
            <a:endCxn id="1248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7" name="Google Shape;1257;p115"/>
          <p:cNvCxnSpPr>
            <a:stCxn id="1244" idx="7"/>
            <a:endCxn id="1246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8" name="Google Shape;1258;p115"/>
          <p:cNvCxnSpPr>
            <a:stCxn id="1248" idx="3"/>
            <a:endCxn id="1247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9" name="Google Shape;1259;p115"/>
          <p:cNvCxnSpPr>
            <a:stCxn id="1244" idx="6"/>
            <a:endCxn id="1248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0" name="Google Shape;1260;p115"/>
          <p:cNvCxnSpPr>
            <a:stCxn id="1248" idx="5"/>
            <a:endCxn id="1245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266" name="Google Shape;1266;p116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16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68" name="Google Shape;1268;p116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69" name="Google Shape;1269;p116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0" name="Google Shape;1270;p116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1" name="Google Shape;1271;p116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2" name="Google Shape;1272;p116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73" name="Google Shape;1273;p116"/>
          <p:cNvCxnSpPr>
            <a:stCxn id="1267" idx="7"/>
            <a:endCxn id="1270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4" name="Google Shape;1274;p116"/>
          <p:cNvCxnSpPr>
            <a:stCxn id="1270" idx="3"/>
            <a:endCxn id="1268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5" name="Google Shape;1275;p116"/>
          <p:cNvCxnSpPr>
            <a:stCxn id="1272" idx="3"/>
            <a:endCxn id="1269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6" name="Google Shape;1276;p116"/>
          <p:cNvCxnSpPr>
            <a:stCxn id="1268" idx="4"/>
            <a:endCxn id="1271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7" name="Google Shape;1277;p116"/>
          <p:cNvCxnSpPr>
            <a:stCxn id="1267" idx="5"/>
            <a:endCxn id="1271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8" name="Google Shape;1278;p116"/>
          <p:cNvCxnSpPr>
            <a:stCxn id="1267" idx="6"/>
            <a:endCxn id="1268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9" name="Google Shape;1279;p116"/>
          <p:cNvCxnSpPr>
            <a:stCxn id="1269" idx="2"/>
            <a:endCxn id="1271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0" name="Google Shape;1280;p116"/>
          <p:cNvCxnSpPr>
            <a:stCxn id="1270" idx="5"/>
            <a:endCxn id="127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1" name="Google Shape;1281;p116"/>
          <p:cNvCxnSpPr>
            <a:stCxn id="1268" idx="7"/>
            <a:endCxn id="1270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2" name="Google Shape;1282;p116"/>
          <p:cNvCxnSpPr>
            <a:stCxn id="1272" idx="3"/>
            <a:endCxn id="1271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3" name="Google Shape;1283;p116"/>
          <p:cNvCxnSpPr>
            <a:stCxn id="1268" idx="6"/>
            <a:endCxn id="127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4" name="Google Shape;1284;p116"/>
          <p:cNvCxnSpPr>
            <a:stCxn id="1272" idx="5"/>
            <a:endCxn id="1269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285" name="Google Shape;1285;p116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1286" name="Google Shape;1286;p116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7" name="Google Shape;1287;p116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88" name="Google Shape;1288;p116"/>
          <p:cNvCxnSpPr>
            <a:stCxn id="1286" idx="7"/>
            <a:endCxn id="1287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89" name="Google Shape;1289;p116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0" name="Google Shape;1290;p116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91" name="Google Shape;1291;p116"/>
          <p:cNvCxnSpPr>
            <a:stCxn id="1289" idx="1"/>
            <a:endCxn id="1290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92" name="Google Shape;1292;p116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93" name="Google Shape;1293;p116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94" name="Google Shape;1294;p116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5" name="Google Shape;1295;p116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6" name="Google Shape;1296;p116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97" name="Google Shape;1297;p116"/>
          <p:cNvCxnSpPr>
            <a:stCxn id="1286" idx="5"/>
            <a:endCxn id="1287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303" name="Google Shape;1303;p117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0) OR (a</a:t>
            </a:r>
            <a:r>
              <a:rPr baseline="-25000" lang="en"/>
              <a:t>ij</a:t>
            </a:r>
            <a:r>
              <a:rPr lang="en"/>
              <a:t> = 0 AND a</a:t>
            </a:r>
            <a:r>
              <a:rPr baseline="-25000" lang="en"/>
              <a:t>ji</a:t>
            </a:r>
            <a:r>
              <a:rPr lang="en"/>
              <a:t>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1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5" name="Google Shape;1305;p11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6" name="Google Shape;1306;p11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7" name="Google Shape;1307;p11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8" name="Google Shape;1308;p11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9" name="Google Shape;1309;p11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10" name="Google Shape;1310;p117"/>
          <p:cNvCxnSpPr>
            <a:stCxn id="1304" idx="7"/>
            <a:endCxn id="130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1" name="Google Shape;1311;p117"/>
          <p:cNvCxnSpPr>
            <a:stCxn id="1307" idx="3"/>
            <a:endCxn id="130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2" name="Google Shape;1312;p117"/>
          <p:cNvCxnSpPr>
            <a:stCxn id="1309" idx="3"/>
            <a:endCxn id="130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3" name="Google Shape;1313;p117"/>
          <p:cNvCxnSpPr>
            <a:stCxn id="1305" idx="4"/>
            <a:endCxn id="130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4" name="Google Shape;1314;p117"/>
          <p:cNvCxnSpPr>
            <a:stCxn id="1304" idx="5"/>
            <a:endCxn id="130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5" name="Google Shape;1315;p117"/>
          <p:cNvCxnSpPr>
            <a:stCxn id="1304" idx="6"/>
            <a:endCxn id="130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6" name="Google Shape;1316;p117"/>
          <p:cNvCxnSpPr>
            <a:stCxn id="1306" idx="2"/>
            <a:endCxn id="130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7" name="Google Shape;1317;p117"/>
          <p:cNvCxnSpPr>
            <a:stCxn id="1307" idx="5"/>
            <a:endCxn id="130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8" name="Google Shape;1318;p117"/>
          <p:cNvCxnSpPr>
            <a:stCxn id="1305" idx="7"/>
            <a:endCxn id="130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9" name="Google Shape;1319;p117"/>
          <p:cNvCxnSpPr>
            <a:stCxn id="1309" idx="3"/>
            <a:endCxn id="130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0" name="Google Shape;1320;p117"/>
          <p:cNvCxnSpPr>
            <a:stCxn id="1305" idx="6"/>
            <a:endCxn id="130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1" name="Google Shape;1321;p117"/>
          <p:cNvCxnSpPr>
            <a:stCxn id="1309" idx="5"/>
            <a:endCxn id="130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322" name="Google Shape;1322;p117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23" name="Google Shape;1323;p117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4" name="Google Shape;1324;p117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25" name="Google Shape;1325;p117"/>
          <p:cNvCxnSpPr>
            <a:stCxn id="1323" idx="7"/>
            <a:endCxn id="1324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26" name="Google Shape;1326;p117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7" name="Google Shape;1327;p117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28" name="Google Shape;1328;p117"/>
          <p:cNvCxnSpPr>
            <a:stCxn id="1326" idx="1"/>
            <a:endCxn id="1327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29" name="Google Shape;1329;p117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30" name="Google Shape;1330;p117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31" name="Google Shape;1331;p117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2" name="Google Shape;1332;p117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3" name="Google Shape;1333;p117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34" name="Google Shape;1334;p117"/>
          <p:cNvCxnSpPr>
            <a:stCxn id="1323" idx="5"/>
            <a:endCxn id="1324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340" name="Google Shape;1340;p118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(a</a:t>
            </a:r>
            <a:r>
              <a:rPr baseline="-25000" lang="en">
                <a:solidFill>
                  <a:srgbClr val="FF0000"/>
                </a:solidFill>
              </a:rPr>
              <a:t>15</a:t>
            </a:r>
            <a:r>
              <a:rPr lang="en">
                <a:solidFill>
                  <a:srgbClr val="FF0000"/>
                </a:solidFill>
              </a:rPr>
              <a:t> = 1 AND a</a:t>
            </a:r>
            <a:r>
              <a:rPr baseline="-25000" lang="en">
                <a:solidFill>
                  <a:srgbClr val="FF0000"/>
                </a:solidFill>
              </a:rPr>
              <a:t>51</a:t>
            </a:r>
            <a:r>
              <a:rPr lang="en">
                <a:solidFill>
                  <a:srgbClr val="FF0000"/>
                </a:solidFill>
              </a:rPr>
              <a:t>= 0) </a:t>
            </a:r>
            <a:r>
              <a:rPr lang="en"/>
              <a:t>OR (a</a:t>
            </a:r>
            <a:r>
              <a:rPr baseline="-25000" lang="en"/>
              <a:t>ij</a:t>
            </a:r>
            <a:r>
              <a:rPr lang="en"/>
              <a:t> = 0 AND a</a:t>
            </a:r>
            <a:r>
              <a:rPr baseline="-25000" lang="en"/>
              <a:t>ji</a:t>
            </a:r>
            <a:r>
              <a:rPr lang="en"/>
              <a:t>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18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2" name="Google Shape;1342;p118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3" name="Google Shape;1343;p118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4" name="Google Shape;1344;p118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5" name="Google Shape;1345;p118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6" name="Google Shape;1346;p118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47" name="Google Shape;1347;p118"/>
          <p:cNvCxnSpPr>
            <a:stCxn id="1341" idx="7"/>
            <a:endCxn id="1344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8" name="Google Shape;1348;p118"/>
          <p:cNvCxnSpPr>
            <a:stCxn id="1344" idx="3"/>
            <a:endCxn id="1342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9" name="Google Shape;1349;p118"/>
          <p:cNvCxnSpPr>
            <a:stCxn id="1346" idx="3"/>
            <a:endCxn id="1343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0" name="Google Shape;1350;p118"/>
          <p:cNvCxnSpPr>
            <a:stCxn id="1342" idx="4"/>
            <a:endCxn id="1345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1" name="Google Shape;1351;p118"/>
          <p:cNvCxnSpPr>
            <a:stCxn id="1341" idx="5"/>
            <a:endCxn id="1345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2" name="Google Shape;1352;p118"/>
          <p:cNvCxnSpPr>
            <a:stCxn id="1341" idx="6"/>
            <a:endCxn id="1342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3" name="Google Shape;1353;p118"/>
          <p:cNvCxnSpPr>
            <a:stCxn id="1343" idx="2"/>
            <a:endCxn id="1345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4" name="Google Shape;1354;p118"/>
          <p:cNvCxnSpPr>
            <a:stCxn id="1344" idx="5"/>
            <a:endCxn id="1346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5" name="Google Shape;1355;p118"/>
          <p:cNvCxnSpPr>
            <a:stCxn id="1342" idx="7"/>
            <a:endCxn id="1344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6" name="Google Shape;1356;p118"/>
          <p:cNvCxnSpPr>
            <a:stCxn id="1346" idx="3"/>
            <a:endCxn id="1345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7" name="Google Shape;1357;p118"/>
          <p:cNvCxnSpPr>
            <a:stCxn id="1342" idx="6"/>
            <a:endCxn id="1346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8" name="Google Shape;1358;p118"/>
          <p:cNvCxnSpPr>
            <a:stCxn id="1346" idx="5"/>
            <a:endCxn id="1343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359" name="Google Shape;1359;p118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60" name="Google Shape;1360;p118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1" name="Google Shape;1361;p118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62" name="Google Shape;1362;p118"/>
          <p:cNvCxnSpPr>
            <a:stCxn id="1360" idx="7"/>
            <a:endCxn id="1361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63" name="Google Shape;1363;p118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4" name="Google Shape;1364;p118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65" name="Google Shape;1365;p118"/>
          <p:cNvCxnSpPr>
            <a:stCxn id="1363" idx="1"/>
            <a:endCxn id="1364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66" name="Google Shape;1366;p118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67" name="Google Shape;1367;p118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68" name="Google Shape;1368;p118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9" name="Google Shape;1369;p118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0" name="Google Shape;1370;p118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71" name="Google Shape;1371;p118"/>
          <p:cNvCxnSpPr>
            <a:stCxn id="1360" idx="5"/>
            <a:endCxn id="1361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377" name="Google Shape;1377;p119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0) OR </a:t>
            </a:r>
            <a:r>
              <a:rPr lang="en">
                <a:solidFill>
                  <a:srgbClr val="FF0000"/>
                </a:solidFill>
              </a:rPr>
              <a:t>(a</a:t>
            </a:r>
            <a:r>
              <a:rPr baseline="-25000" lang="en">
                <a:solidFill>
                  <a:srgbClr val="FF0000"/>
                </a:solidFill>
              </a:rPr>
              <a:t>12</a:t>
            </a:r>
            <a:r>
              <a:rPr lang="en">
                <a:solidFill>
                  <a:srgbClr val="FF0000"/>
                </a:solidFill>
              </a:rPr>
              <a:t> = 0 AND a</a:t>
            </a:r>
            <a:r>
              <a:rPr baseline="-25000" lang="en">
                <a:solidFill>
                  <a:srgbClr val="FF0000"/>
                </a:solidFill>
              </a:rPr>
              <a:t>21</a:t>
            </a:r>
            <a:r>
              <a:rPr lang="en">
                <a:solidFill>
                  <a:srgbClr val="FF0000"/>
                </a:solidFill>
              </a:rPr>
              <a:t> = 1)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119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9" name="Google Shape;1379;p119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80" name="Google Shape;1380;p119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81" name="Google Shape;1381;p119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82" name="Google Shape;1382;p119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83" name="Google Shape;1383;p119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84" name="Google Shape;1384;p119"/>
          <p:cNvCxnSpPr>
            <a:stCxn id="1378" idx="7"/>
            <a:endCxn id="138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5" name="Google Shape;1385;p119"/>
          <p:cNvCxnSpPr>
            <a:stCxn id="1381" idx="3"/>
            <a:endCxn id="137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6" name="Google Shape;1386;p119"/>
          <p:cNvCxnSpPr>
            <a:stCxn id="1383" idx="3"/>
            <a:endCxn id="138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7" name="Google Shape;1387;p119"/>
          <p:cNvCxnSpPr>
            <a:stCxn id="1379" idx="4"/>
            <a:endCxn id="138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8" name="Google Shape;1388;p119"/>
          <p:cNvCxnSpPr>
            <a:stCxn id="1378" idx="5"/>
            <a:endCxn id="138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9" name="Google Shape;1389;p119"/>
          <p:cNvCxnSpPr>
            <a:stCxn id="1378" idx="6"/>
            <a:endCxn id="137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0" name="Google Shape;1390;p119"/>
          <p:cNvCxnSpPr>
            <a:stCxn id="1380" idx="2"/>
            <a:endCxn id="138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1" name="Google Shape;1391;p119"/>
          <p:cNvCxnSpPr>
            <a:stCxn id="1381" idx="5"/>
            <a:endCxn id="138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2" name="Google Shape;1392;p119"/>
          <p:cNvCxnSpPr>
            <a:stCxn id="1379" idx="7"/>
            <a:endCxn id="138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3" name="Google Shape;1393;p119"/>
          <p:cNvCxnSpPr>
            <a:stCxn id="1383" idx="3"/>
            <a:endCxn id="138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4" name="Google Shape;1394;p119"/>
          <p:cNvCxnSpPr>
            <a:stCxn id="1379" idx="6"/>
            <a:endCxn id="138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5" name="Google Shape;1395;p119"/>
          <p:cNvCxnSpPr>
            <a:stCxn id="1383" idx="5"/>
            <a:endCxn id="138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396" name="Google Shape;1396;p119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97" name="Google Shape;1397;p119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8" name="Google Shape;1398;p119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99" name="Google Shape;1399;p119"/>
          <p:cNvCxnSpPr>
            <a:stCxn id="1397" idx="7"/>
            <a:endCxn id="1398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00" name="Google Shape;1400;p119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1" name="Google Shape;1401;p119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02" name="Google Shape;1402;p119"/>
          <p:cNvCxnSpPr>
            <a:stCxn id="1400" idx="1"/>
            <a:endCxn id="1401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03" name="Google Shape;1403;p119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04" name="Google Shape;1404;p119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05" name="Google Shape;1405;p119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6" name="Google Shape;1406;p119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7" name="Google Shape;1407;p119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08" name="Google Shape;1408;p119"/>
          <p:cNvCxnSpPr>
            <a:stCxn id="1397" idx="5"/>
            <a:endCxn id="1398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1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414" name="Google Shape;1414;p120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0) OR (a</a:t>
            </a:r>
            <a:r>
              <a:rPr baseline="-25000" lang="en"/>
              <a:t>12</a:t>
            </a:r>
            <a:r>
              <a:rPr lang="en"/>
              <a:t> = 0 AND a</a:t>
            </a:r>
            <a:r>
              <a:rPr baseline="-25000" lang="en"/>
              <a:t>21</a:t>
            </a:r>
            <a:r>
              <a:rPr lang="en"/>
              <a:t>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0 AND a</a:t>
            </a:r>
            <a:r>
              <a:rPr baseline="-25000" lang="en"/>
              <a:t>ji</a:t>
            </a:r>
            <a:r>
              <a:rPr lang="en"/>
              <a:t> = 0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120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16" name="Google Shape;1416;p120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17" name="Google Shape;1417;p120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18" name="Google Shape;1418;p120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19" name="Google Shape;1419;p120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0" name="Google Shape;1420;p120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21" name="Google Shape;1421;p120"/>
          <p:cNvCxnSpPr>
            <a:stCxn id="1415" idx="7"/>
            <a:endCxn id="141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2" name="Google Shape;1422;p120"/>
          <p:cNvCxnSpPr>
            <a:stCxn id="1418" idx="3"/>
            <a:endCxn id="141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3" name="Google Shape;1423;p120"/>
          <p:cNvCxnSpPr>
            <a:stCxn id="1420" idx="3"/>
            <a:endCxn id="141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4" name="Google Shape;1424;p120"/>
          <p:cNvCxnSpPr>
            <a:stCxn id="1416" idx="4"/>
            <a:endCxn id="141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5" name="Google Shape;1425;p120"/>
          <p:cNvCxnSpPr>
            <a:stCxn id="1415" idx="5"/>
            <a:endCxn id="141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6" name="Google Shape;1426;p120"/>
          <p:cNvCxnSpPr>
            <a:stCxn id="1415" idx="6"/>
            <a:endCxn id="141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7" name="Google Shape;1427;p120"/>
          <p:cNvCxnSpPr>
            <a:stCxn id="1417" idx="2"/>
            <a:endCxn id="141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8" name="Google Shape;1428;p120"/>
          <p:cNvCxnSpPr>
            <a:stCxn id="1418" idx="5"/>
            <a:endCxn id="142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9" name="Google Shape;1429;p120"/>
          <p:cNvCxnSpPr>
            <a:stCxn id="1416" idx="7"/>
            <a:endCxn id="141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0" name="Google Shape;1430;p120"/>
          <p:cNvCxnSpPr>
            <a:stCxn id="1420" idx="3"/>
            <a:endCxn id="141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1" name="Google Shape;1431;p120"/>
          <p:cNvCxnSpPr>
            <a:stCxn id="1416" idx="6"/>
            <a:endCxn id="142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2" name="Google Shape;1432;p120"/>
          <p:cNvCxnSpPr>
            <a:stCxn id="1420" idx="5"/>
            <a:endCxn id="141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433" name="Google Shape;1433;p120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34" name="Google Shape;1434;p120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5" name="Google Shape;1435;p120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36" name="Google Shape;1436;p120"/>
          <p:cNvCxnSpPr>
            <a:stCxn id="1434" idx="7"/>
            <a:endCxn id="1435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37" name="Google Shape;1437;p120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8" name="Google Shape;1438;p120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39" name="Google Shape;1439;p120"/>
          <p:cNvCxnSpPr>
            <a:stCxn id="1437" idx="1"/>
            <a:endCxn id="1438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40" name="Google Shape;1440;p120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41" name="Google Shape;1441;p120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42" name="Google Shape;1442;p120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3" name="Google Shape;1443;p120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4" name="Google Shape;1444;p120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45" name="Google Shape;1445;p120"/>
          <p:cNvCxnSpPr>
            <a:stCxn id="1434" idx="5"/>
            <a:endCxn id="1435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1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451" name="Google Shape;1451;p121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0) OR (a</a:t>
            </a:r>
            <a:r>
              <a:rPr baseline="-25000" lang="en"/>
              <a:t>12</a:t>
            </a:r>
            <a:r>
              <a:rPr lang="en"/>
              <a:t> = 0 AND a</a:t>
            </a:r>
            <a:r>
              <a:rPr baseline="-25000" lang="en"/>
              <a:t>21</a:t>
            </a:r>
            <a:r>
              <a:rPr lang="en"/>
              <a:t>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14</a:t>
            </a:r>
            <a:r>
              <a:rPr lang="en"/>
              <a:t> = 0 AND a</a:t>
            </a:r>
            <a:r>
              <a:rPr baseline="-25000" lang="en"/>
              <a:t>41</a:t>
            </a:r>
            <a:r>
              <a:rPr lang="en"/>
              <a:t> = 0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21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53" name="Google Shape;1453;p121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54" name="Google Shape;1454;p121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55" name="Google Shape;1455;p121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56" name="Google Shape;1456;p121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57" name="Google Shape;1457;p121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58" name="Google Shape;1458;p121"/>
          <p:cNvCxnSpPr>
            <a:stCxn id="1452" idx="7"/>
            <a:endCxn id="1455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9" name="Google Shape;1459;p121"/>
          <p:cNvCxnSpPr>
            <a:stCxn id="1455" idx="3"/>
            <a:endCxn id="1453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0" name="Google Shape;1460;p121"/>
          <p:cNvCxnSpPr>
            <a:stCxn id="1457" idx="3"/>
            <a:endCxn id="1454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1" name="Google Shape;1461;p121"/>
          <p:cNvCxnSpPr>
            <a:stCxn id="1453" idx="4"/>
            <a:endCxn id="1456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2" name="Google Shape;1462;p121"/>
          <p:cNvCxnSpPr>
            <a:stCxn id="1452" idx="5"/>
            <a:endCxn id="1456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3" name="Google Shape;1463;p121"/>
          <p:cNvCxnSpPr>
            <a:stCxn id="1452" idx="6"/>
            <a:endCxn id="1453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4" name="Google Shape;1464;p121"/>
          <p:cNvCxnSpPr>
            <a:stCxn id="1454" idx="2"/>
            <a:endCxn id="1456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5" name="Google Shape;1465;p121"/>
          <p:cNvCxnSpPr>
            <a:stCxn id="1455" idx="5"/>
            <a:endCxn id="1457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6" name="Google Shape;1466;p121"/>
          <p:cNvCxnSpPr>
            <a:stCxn id="1453" idx="7"/>
            <a:endCxn id="1455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7" name="Google Shape;1467;p121"/>
          <p:cNvCxnSpPr>
            <a:stCxn id="1457" idx="3"/>
            <a:endCxn id="1456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8" name="Google Shape;1468;p121"/>
          <p:cNvCxnSpPr>
            <a:stCxn id="1453" idx="6"/>
            <a:endCxn id="1457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9" name="Google Shape;1469;p121"/>
          <p:cNvCxnSpPr>
            <a:stCxn id="1457" idx="5"/>
            <a:endCxn id="1454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470" name="Google Shape;1470;p121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{8B0BD6F5-E567-4FCE-9DA1-B842562C88D2}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71" name="Google Shape;1471;p121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2" name="Google Shape;1472;p121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73" name="Google Shape;1473;p121"/>
          <p:cNvCxnSpPr>
            <a:stCxn id="1471" idx="7"/>
            <a:endCxn id="1472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74" name="Google Shape;1474;p121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5" name="Google Shape;1475;p121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76" name="Google Shape;1476;p121"/>
          <p:cNvCxnSpPr>
            <a:stCxn id="1474" idx="1"/>
            <a:endCxn id="1475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77" name="Google Shape;1477;p121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78" name="Google Shape;1478;p121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79" name="Google Shape;1479;p121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0" name="Google Shape;1480;p121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1" name="Google Shape;1481;p121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82" name="Google Shape;1482;p121"/>
          <p:cNvCxnSpPr>
            <a:stCxn id="1471" idx="5"/>
            <a:endCxn id="1472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