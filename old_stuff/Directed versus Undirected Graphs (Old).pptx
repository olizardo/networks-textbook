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Economica"/>
      <p:regular r:id="rId21"/>
      <p:bold r:id="rId22"/>
      <p:italic r:id="rId23"/>
      <p:boldItalic r:id="rId24"/>
    </p:embeddedFont>
    <p:embeddedFont>
      <p:font typeface="Oxygen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Economica-bold.fntdata"/><Relationship Id="rId21" Type="http://schemas.openxmlformats.org/officeDocument/2006/relationships/font" Target="fonts/Economica-regular.fntdata"/><Relationship Id="rId24" Type="http://schemas.openxmlformats.org/officeDocument/2006/relationships/font" Target="fonts/Economica-boldItalic.fntdata"/><Relationship Id="rId23" Type="http://schemas.openxmlformats.org/officeDocument/2006/relationships/font" Target="fonts/Economic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xygen-bold.fntdata"/><Relationship Id="rId25" Type="http://schemas.openxmlformats.org/officeDocument/2006/relationships/font" Target="fonts/Oxygen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9e8482591_1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09e8482591_1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79646aa3e9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79646aa3e9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9646aa3e9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9646aa3e9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9646aa3e9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9646aa3e9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79646aa3e9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79646aa3e9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79646aa3e9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79646aa3e9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9e8482591_1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09e8482591_1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9e8482591_1_2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9e8482591_1_2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9646aa3e9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9646aa3e9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9646aa3e9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9646aa3e9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79646aa3e9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79646aa3e9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9646aa3e9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79646aa3e9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79646aa3e9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79646aa3e9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79646aa3e9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79646aa3e9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79646aa3e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79646aa3e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 Ties in Undirected Graphs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(Simple) Graphs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</a:t>
            </a:r>
            <a:r>
              <a:rPr lang="en"/>
              <a:t> </a:t>
            </a:r>
            <a:r>
              <a:rPr b="1" lang="en"/>
              <a:t>simple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" name="Google Shape;74;p15"/>
          <p:cNvCxnSpPr>
            <a:stCxn id="72" idx="6"/>
            <a:endCxn id="7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" name="Google Shape;78;p15"/>
          <p:cNvCxnSpPr>
            <a:stCxn id="73" idx="7"/>
            <a:endCxn id="7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5"/>
          <p:cNvCxnSpPr>
            <a:stCxn id="77" idx="1"/>
            <a:endCxn id="7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5"/>
          <p:cNvCxnSpPr>
            <a:stCxn id="77" idx="3"/>
            <a:endCxn id="7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5"/>
          <p:cNvCxnSpPr>
            <a:stCxn id="76" idx="1"/>
            <a:endCxn id="7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>
            <a:stCxn id="76" idx="0"/>
            <a:endCxn id="7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</a:t>
            </a:r>
            <a:r>
              <a:rPr b="1" lang="en"/>
              <a:t>simple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graph is a simple graph if: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only one edge joining adjacent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multiedges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are no self-edges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loops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lack directionality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“arrows”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don’t have any properties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Weights, signs, etc.</a:t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1" name="Google Shape;91;p16"/>
          <p:cNvCxnSpPr>
            <a:stCxn id="89" idx="6"/>
            <a:endCxn id="90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" name="Google Shape;95;p16"/>
          <p:cNvCxnSpPr>
            <a:stCxn id="90" idx="7"/>
            <a:endCxn id="9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6"/>
          <p:cNvCxnSpPr>
            <a:stCxn id="94" idx="1"/>
            <a:endCxn id="9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>
            <a:stCxn id="94" idx="3"/>
            <a:endCxn id="9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>
            <a:stCxn id="93" idx="1"/>
            <a:endCxn id="90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>
            <a:stCxn id="93" idx="0"/>
            <a:endCxn id="92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</a:t>
            </a:r>
            <a:r>
              <a:rPr b="1" lang="en"/>
              <a:t>simple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graph is a simple graph if: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only one edge joining adjacent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multiedges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are no self-edges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loops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lack directionality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“arrows”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don’t have any properties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Weights, signs, etc.</a:t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8" name="Google Shape;108;p17"/>
          <p:cNvCxnSpPr>
            <a:stCxn id="106" idx="6"/>
            <a:endCxn id="10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" name="Google Shape;112;p17"/>
          <p:cNvCxnSpPr>
            <a:stCxn id="107" idx="7"/>
            <a:endCxn id="10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7"/>
          <p:cNvCxnSpPr>
            <a:stCxn id="111" idx="1"/>
            <a:endCxn id="10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7"/>
          <p:cNvCxnSpPr>
            <a:stCxn id="111" idx="3"/>
            <a:endCxn id="11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7"/>
          <p:cNvCxnSpPr>
            <a:stCxn id="110" idx="1"/>
            <a:endCxn id="10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7"/>
          <p:cNvCxnSpPr>
            <a:stCxn id="110" idx="0"/>
            <a:endCxn id="10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7"/>
          <p:cNvSpPr/>
          <p:nvPr/>
        </p:nvSpPr>
        <p:spPr>
          <a:xfrm>
            <a:off x="4412850" y="3762225"/>
            <a:ext cx="20304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simple graph!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18" name="Google Shape;118;p17"/>
          <p:cNvCxnSpPr>
            <a:stCxn id="117" idx="7"/>
          </p:cNvCxnSpPr>
          <p:nvPr/>
        </p:nvCxnSpPr>
        <p:spPr>
          <a:xfrm flipH="1" rot="10800000">
            <a:off x="6145905" y="3496210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Depending on the </a:t>
            </a:r>
            <a:r>
              <a:rPr b="1" lang="en"/>
              <a:t>type of social tie</a:t>
            </a:r>
            <a:r>
              <a:rPr lang="en"/>
              <a:t> we are studying we may need to consider other types of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</a:t>
            </a:r>
            <a:r>
              <a:rPr b="1" lang="en"/>
              <a:t>symmetric ties</a:t>
            </a:r>
            <a:r>
              <a:rPr lang="en"/>
              <a:t> like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Colocation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Co-memberships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type of simple graph called an </a:t>
            </a:r>
            <a:r>
              <a:rPr b="1" lang="en"/>
              <a:t>undirected graph </a:t>
            </a:r>
            <a:r>
              <a:rPr lang="en"/>
              <a:t>is fine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7" name="Google Shape;127;p18"/>
          <p:cNvCxnSpPr>
            <a:stCxn id="125" idx="6"/>
            <a:endCxn id="12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1" name="Google Shape;131;p18"/>
          <p:cNvCxnSpPr>
            <a:stCxn id="126" idx="7"/>
            <a:endCxn id="12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>
            <a:stCxn id="130" idx="1"/>
            <a:endCxn id="12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>
            <a:stCxn id="130" idx="3"/>
            <a:endCxn id="12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18"/>
          <p:cNvCxnSpPr>
            <a:stCxn id="129" idx="1"/>
            <a:endCxn id="12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8"/>
          <p:cNvCxnSpPr>
            <a:stCxn id="129" idx="0"/>
            <a:endCxn id="12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8"/>
          <p:cNvSpPr/>
          <p:nvPr/>
        </p:nvSpPr>
        <p:spPr>
          <a:xfrm>
            <a:off x="4412850" y="3762225"/>
            <a:ext cx="20304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 undirected graph!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38" name="Google Shape;138;p18"/>
          <p:cNvCxnSpPr>
            <a:stCxn id="137" idx="7"/>
          </p:cNvCxnSpPr>
          <p:nvPr/>
        </p:nvCxnSpPr>
        <p:spPr>
          <a:xfrm flipH="1" rot="10800000">
            <a:off x="6145905" y="3496210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Depending on the </a:t>
            </a:r>
            <a:r>
              <a:rPr b="1" lang="en"/>
              <a:t>type of social tie</a:t>
            </a:r>
            <a:r>
              <a:rPr lang="en"/>
              <a:t> we are studying we may need to consider other types of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</a:t>
            </a:r>
            <a:r>
              <a:rPr b="1" lang="en"/>
              <a:t>symmetric ties</a:t>
            </a:r>
            <a:r>
              <a:rPr lang="en"/>
              <a:t> like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Colocation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Co-memberships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type of simple graph called an </a:t>
            </a:r>
            <a:r>
              <a:rPr b="1" lang="en"/>
              <a:t>undirected graph </a:t>
            </a:r>
            <a:r>
              <a:rPr lang="en"/>
              <a:t>is fine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" name="Google Shape;147;p19"/>
          <p:cNvCxnSpPr>
            <a:stCxn id="145" idx="6"/>
            <a:endCxn id="14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1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" name="Google Shape;151;p19"/>
          <p:cNvCxnSpPr>
            <a:stCxn id="146" idx="7"/>
            <a:endCxn id="14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9"/>
          <p:cNvCxnSpPr>
            <a:stCxn id="150" idx="1"/>
            <a:endCxn id="14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9"/>
          <p:cNvCxnSpPr>
            <a:stCxn id="150" idx="3"/>
            <a:endCxn id="14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9"/>
          <p:cNvCxnSpPr>
            <a:stCxn id="149" idx="1"/>
            <a:endCxn id="14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9"/>
          <p:cNvCxnSpPr>
            <a:stCxn id="149" idx="0"/>
            <a:endCxn id="14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9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9"/>
          <p:cNvSpPr/>
          <p:nvPr/>
        </p:nvSpPr>
        <p:spPr>
          <a:xfrm>
            <a:off x="2612050" y="3762225"/>
            <a:ext cx="38313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such ties as spending time together or being a member of the same club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58" name="Google Shape;158;p19"/>
          <p:cNvCxnSpPr>
            <a:stCxn id="157" idx="7"/>
          </p:cNvCxnSpPr>
          <p:nvPr/>
        </p:nvCxnSpPr>
        <p:spPr>
          <a:xfrm flipH="1" rot="10800000">
            <a:off x="5882269" y="3496210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Asymmetric Links in Directed Graphs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2" name="Google Shape;172;p21"/>
          <p:cNvCxnSpPr>
            <a:stCxn id="170" idx="6"/>
            <a:endCxn id="17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6" name="Google Shape;176;p21"/>
          <p:cNvCxnSpPr>
            <a:stCxn id="171" idx="7"/>
            <a:endCxn id="1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1"/>
          <p:cNvCxnSpPr>
            <a:stCxn id="175" idx="1"/>
            <a:endCxn id="17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1"/>
          <p:cNvCxnSpPr>
            <a:stCxn id="175" idx="3"/>
            <a:endCxn id="17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1"/>
          <p:cNvCxnSpPr>
            <a:stCxn id="174" idx="0"/>
            <a:endCxn id="17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directed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88" name="Google Shape;188;p22"/>
          <p:cNvCxnSpPr>
            <a:stCxn id="186" idx="5"/>
            <a:endCxn id="18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89" name="Google Shape;189;p2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92" name="Google Shape;192;p22"/>
          <p:cNvCxnSpPr>
            <a:stCxn id="187" idx="7"/>
            <a:endCxn id="18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3" name="Google Shape;193;p22"/>
          <p:cNvCxnSpPr>
            <a:stCxn id="191" idx="1"/>
            <a:endCxn id="18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" name="Google Shape;194;p22"/>
          <p:cNvCxnSpPr>
            <a:stCxn id="191" idx="3"/>
            <a:endCxn id="19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" name="Google Shape;195;p22"/>
          <p:cNvCxnSpPr>
            <a:stCxn id="190" idx="1"/>
            <a:endCxn id="18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6" name="Google Shape;196;p22"/>
          <p:cNvCxnSpPr>
            <a:stCxn id="190" idx="2"/>
            <a:endCxn id="18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7" name="Google Shape;197;p22"/>
          <p:cNvCxnSpPr>
            <a:stCxn id="190" idx="0"/>
            <a:endCxn id="18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2"/>
          <p:cNvCxnSpPr>
            <a:stCxn id="190" idx="7"/>
            <a:endCxn id="18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22"/>
          <p:cNvCxnSpPr>
            <a:stCxn id="187" idx="1"/>
            <a:endCxn id="18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directed graph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 are also called </a:t>
            </a:r>
            <a:r>
              <a:rPr b="1" lang="en"/>
              <a:t>digraphs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08" name="Google Shape;208;p23"/>
          <p:cNvCxnSpPr>
            <a:stCxn id="206" idx="5"/>
            <a:endCxn id="20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9" name="Google Shape;209;p2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12" name="Google Shape;212;p23"/>
          <p:cNvCxnSpPr>
            <a:stCxn id="207" idx="7"/>
            <a:endCxn id="20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3" name="Google Shape;213;p23"/>
          <p:cNvCxnSpPr>
            <a:stCxn id="211" idx="1"/>
            <a:endCxn id="20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" name="Google Shape;214;p23"/>
          <p:cNvCxnSpPr>
            <a:stCxn id="211" idx="3"/>
            <a:endCxn id="21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" name="Google Shape;215;p23"/>
          <p:cNvCxnSpPr>
            <a:stCxn id="210" idx="1"/>
            <a:endCxn id="20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6" name="Google Shape;216;p23"/>
          <p:cNvCxnSpPr>
            <a:stCxn id="210" idx="2"/>
            <a:endCxn id="20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7" name="Google Shape;217;p23"/>
          <p:cNvCxnSpPr>
            <a:stCxn id="210" idx="0"/>
            <a:endCxn id="20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" name="Google Shape;218;p23"/>
          <p:cNvCxnSpPr>
            <a:stCxn id="210" idx="7"/>
            <a:endCxn id="20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" name="Google Shape;219;p23"/>
          <p:cNvCxnSpPr>
            <a:stCxn id="207" idx="1"/>
            <a:endCxn id="20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directed graph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 are also called </a:t>
            </a:r>
            <a:r>
              <a:rPr b="1" lang="en"/>
              <a:t>digraphs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" name="Google Shape;228;p24"/>
          <p:cNvCxnSpPr>
            <a:stCxn id="226" idx="5"/>
            <a:endCxn id="22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9" name="Google Shape;229;p2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" name="Google Shape;230;p2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" name="Google Shape;231;p2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32" name="Google Shape;232;p24"/>
          <p:cNvCxnSpPr>
            <a:stCxn id="227" idx="7"/>
            <a:endCxn id="22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3" name="Google Shape;233;p24"/>
          <p:cNvCxnSpPr>
            <a:stCxn id="231" idx="1"/>
            <a:endCxn id="22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" name="Google Shape;234;p24"/>
          <p:cNvCxnSpPr>
            <a:stCxn id="231" idx="3"/>
            <a:endCxn id="23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" name="Google Shape;235;p24"/>
          <p:cNvCxnSpPr>
            <a:stCxn id="230" idx="1"/>
            <a:endCxn id="22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6" name="Google Shape;236;p24"/>
          <p:cNvCxnSpPr>
            <a:stCxn id="230" idx="2"/>
            <a:endCxn id="22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7" name="Google Shape;237;p24"/>
          <p:cNvCxnSpPr>
            <a:stCxn id="230" idx="0"/>
            <a:endCxn id="22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" name="Google Shape;238;p24"/>
          <p:cNvCxnSpPr>
            <a:stCxn id="230" idx="7"/>
            <a:endCxn id="22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" name="Google Shape;239;p24"/>
          <p:cNvCxnSpPr>
            <a:stCxn id="227" idx="1"/>
            <a:endCxn id="22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0" name="Google Shape;240;p24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41" name="Google Shape;241;p24"/>
          <p:cNvCxnSpPr>
            <a:stCxn id="240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247" name="Google Shape;247;p25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0" name="Google Shape;250;p25"/>
          <p:cNvCxnSpPr>
            <a:stCxn id="248" idx="5"/>
            <a:endCxn id="24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1" name="Google Shape;251;p2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54" name="Google Shape;254;p25"/>
          <p:cNvCxnSpPr>
            <a:stCxn id="249" idx="7"/>
            <a:endCxn id="25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5" name="Google Shape;255;p25"/>
          <p:cNvCxnSpPr>
            <a:stCxn id="253" idx="1"/>
            <a:endCxn id="25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" name="Google Shape;256;p25"/>
          <p:cNvCxnSpPr>
            <a:stCxn id="253" idx="3"/>
            <a:endCxn id="25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" name="Google Shape;257;p25"/>
          <p:cNvCxnSpPr>
            <a:stCxn id="252" idx="1"/>
            <a:endCxn id="25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8" name="Google Shape;258;p25"/>
          <p:cNvCxnSpPr>
            <a:stCxn id="252" idx="2"/>
            <a:endCxn id="249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9" name="Google Shape;259;p25"/>
          <p:cNvCxnSpPr>
            <a:stCxn id="252" idx="0"/>
            <a:endCxn id="249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" name="Google Shape;260;p25"/>
          <p:cNvCxnSpPr>
            <a:stCxn id="252" idx="7"/>
            <a:endCxn id="25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" name="Google Shape;261;p25"/>
          <p:cNvCxnSpPr>
            <a:stCxn id="249" idx="1"/>
            <a:endCxn id="24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2" name="Google Shape;262;p25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also represent an exchange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3" name="Google Shape;263;p25"/>
          <p:cNvCxnSpPr>
            <a:stCxn id="262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269" name="Google Shape;269;p2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 b="1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BE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2" name="Google Shape;272;p26"/>
          <p:cNvCxnSpPr>
            <a:stCxn id="270" idx="5"/>
            <a:endCxn id="271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3" name="Google Shape;273;p2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76" name="Google Shape;276;p26"/>
          <p:cNvCxnSpPr>
            <a:stCxn id="271" idx="7"/>
            <a:endCxn id="2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7" name="Google Shape;277;p26"/>
          <p:cNvCxnSpPr>
            <a:stCxn id="275" idx="1"/>
            <a:endCxn id="27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" name="Google Shape;278;p26"/>
          <p:cNvCxnSpPr>
            <a:stCxn id="275" idx="3"/>
            <a:endCxn id="27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" name="Google Shape;279;p26"/>
          <p:cNvCxnSpPr>
            <a:stCxn id="274" idx="1"/>
            <a:endCxn id="273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0" name="Google Shape;280;p26"/>
          <p:cNvCxnSpPr>
            <a:stCxn id="274" idx="2"/>
            <a:endCxn id="271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1" name="Google Shape;281;p26"/>
          <p:cNvCxnSpPr>
            <a:stCxn id="274" idx="0"/>
            <a:endCxn id="271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2" name="Google Shape;282;p26"/>
          <p:cNvCxnSpPr>
            <a:stCxn id="274" idx="7"/>
            <a:endCxn id="273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3" name="Google Shape;283;p26"/>
          <p:cNvCxnSpPr>
            <a:stCxn id="271" idx="1"/>
            <a:endCxn id="270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84" name="Google Shape;284;p26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85" name="Google Shape;285;p26"/>
          <p:cNvCxnSpPr>
            <a:stCxn id="284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291" name="Google Shape;291;p2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BE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destination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EB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destination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4" name="Google Shape;294;p27"/>
          <p:cNvCxnSpPr>
            <a:stCxn id="292" idx="5"/>
            <a:endCxn id="293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5" name="Google Shape;295;p2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98" name="Google Shape;298;p27"/>
          <p:cNvCxnSpPr>
            <a:stCxn id="293" idx="7"/>
            <a:endCxn id="29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9" name="Google Shape;299;p27"/>
          <p:cNvCxnSpPr>
            <a:stCxn id="297" idx="1"/>
            <a:endCxn id="29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0" name="Google Shape;300;p27"/>
          <p:cNvCxnSpPr>
            <a:stCxn id="297" idx="3"/>
            <a:endCxn id="29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1" name="Google Shape;301;p27"/>
          <p:cNvCxnSpPr>
            <a:stCxn id="296" idx="1"/>
            <a:endCxn id="295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2" name="Google Shape;302;p27"/>
          <p:cNvCxnSpPr>
            <a:stCxn id="296" idx="2"/>
            <a:endCxn id="293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3" name="Google Shape;303;p27"/>
          <p:cNvCxnSpPr>
            <a:stCxn id="296" idx="0"/>
            <a:endCxn id="293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4" name="Google Shape;304;p27"/>
          <p:cNvCxnSpPr>
            <a:stCxn id="296" idx="7"/>
            <a:endCxn id="295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5" name="Google Shape;305;p27"/>
          <p:cNvCxnSpPr>
            <a:stCxn id="293" idx="1"/>
            <a:endCxn id="292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06" name="Google Shape;306;p27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07" name="Google Shape;307;p27"/>
          <p:cNvCxnSpPr>
            <a:stCxn id="306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313" name="Google Shape;313;p2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BE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destination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EB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destination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16" name="Google Shape;316;p28"/>
          <p:cNvCxnSpPr>
            <a:stCxn id="314" idx="5"/>
            <a:endCxn id="315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17" name="Google Shape;317;p2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20" name="Google Shape;320;p28"/>
          <p:cNvCxnSpPr>
            <a:stCxn id="315" idx="7"/>
            <a:endCxn id="31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1" name="Google Shape;321;p28"/>
          <p:cNvCxnSpPr>
            <a:stCxn id="319" idx="1"/>
            <a:endCxn id="31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2" name="Google Shape;322;p28"/>
          <p:cNvCxnSpPr>
            <a:stCxn id="319" idx="3"/>
            <a:endCxn id="31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3" name="Google Shape;323;p28"/>
          <p:cNvCxnSpPr>
            <a:stCxn id="318" idx="1"/>
            <a:endCxn id="317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4" name="Google Shape;324;p28"/>
          <p:cNvCxnSpPr>
            <a:stCxn id="318" idx="2"/>
            <a:endCxn id="315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5" name="Google Shape;325;p28"/>
          <p:cNvCxnSpPr>
            <a:stCxn id="318" idx="0"/>
            <a:endCxn id="315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6" name="Google Shape;326;p28"/>
          <p:cNvCxnSpPr>
            <a:stCxn id="318" idx="7"/>
            <a:endCxn id="317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7" name="Google Shape;327;p28"/>
          <p:cNvCxnSpPr>
            <a:stCxn id="315" idx="1"/>
            <a:endCxn id="314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28" name="Google Shape;328;p28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29" name="Google Shape;329;p28"/>
          <p:cNvCxnSpPr>
            <a:stCxn id="328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