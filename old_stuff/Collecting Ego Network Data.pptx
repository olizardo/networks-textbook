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5143500" cx="9144000"/>
  <p:notesSz cx="6858000" cy="9144000"/>
  <p:embeddedFontLst>
    <p:embeddedFont>
      <p:font typeface="Economica"/>
      <p:regular r:id="rId49"/>
      <p:bold r:id="rId50"/>
      <p:italic r:id="rId51"/>
      <p:boldItalic r:id="rId52"/>
    </p:embeddedFont>
    <p:embeddedFont>
      <p:font typeface="Habibi"/>
      <p:regular r:id="rId53"/>
    </p:embeddedFont>
    <p:embeddedFont>
      <p:font typeface="Open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font" Target="fonts/Economica-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Economica-italic.fntdata"/><Relationship Id="rId50" Type="http://schemas.openxmlformats.org/officeDocument/2006/relationships/font" Target="fonts/Economica-bold.fntdata"/><Relationship Id="rId53" Type="http://schemas.openxmlformats.org/officeDocument/2006/relationships/font" Target="fonts/Habibi-regular.fntdata"/><Relationship Id="rId52" Type="http://schemas.openxmlformats.org/officeDocument/2006/relationships/font" Target="fonts/Economica-boldItalic.fntdata"/><Relationship Id="rId11" Type="http://schemas.openxmlformats.org/officeDocument/2006/relationships/slide" Target="slides/slide5.xml"/><Relationship Id="rId55" Type="http://schemas.openxmlformats.org/officeDocument/2006/relationships/font" Target="fonts/OpenSans-bold.fntdata"/><Relationship Id="rId10" Type="http://schemas.openxmlformats.org/officeDocument/2006/relationships/slide" Target="slides/slide4.xml"/><Relationship Id="rId54" Type="http://schemas.openxmlformats.org/officeDocument/2006/relationships/font" Target="fonts/OpenSans-regular.fntdata"/><Relationship Id="rId13" Type="http://schemas.openxmlformats.org/officeDocument/2006/relationships/slide" Target="slides/slide7.xml"/><Relationship Id="rId57" Type="http://schemas.openxmlformats.org/officeDocument/2006/relationships/font" Target="fonts/OpenSans-boldItalic.fntdata"/><Relationship Id="rId12" Type="http://schemas.openxmlformats.org/officeDocument/2006/relationships/slide" Target="slides/slide6.xml"/><Relationship Id="rId56" Type="http://schemas.openxmlformats.org/officeDocument/2006/relationships/font" Target="fonts/OpenSans-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5828501d4f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5828501d4f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5828501d4f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5828501d4f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828501d4f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5828501d4f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5828501d4f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5828501d4f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5828501d4f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5828501d4f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5828501d4f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5828501d4f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5828501d4f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5828501d4f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5828501d4f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5828501d4f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5828501d4f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5828501d4f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5828501d4f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5828501d4f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5828501d4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5828501d4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5828501d4f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5828501d4f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5828501d4f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5828501d4f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5828501d4f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5828501d4f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5828501d4f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5828501d4f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5828501d4f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5828501d4f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5828501d4f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5828501d4f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5828501d4f_0_8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5828501d4f_0_8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5828501d4f_0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5828501d4f_0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5828501d4f_0_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5828501d4f_0_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5828501d4f_0_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5828501d4f_0_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5828501d4f_0_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5828501d4f_0_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5828501d4f_0_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5828501d4f_0_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5828501d4f_0_9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5828501d4f_0_9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5828501d4f_0_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5828501d4f_0_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5828501d4f_0_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5828501d4f_0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5828501d4f_0_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5828501d4f_0_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5828501d4f_0_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5828501d4f_0_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5828501d4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5828501d4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5828501d4f_0_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5828501d4f_0_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5828501d4f_0_9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5828501d4f_0_9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5828501d4f_0_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5828501d4f_0_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5828501d4f_0_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5828501d4f_0_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5828501d4f_0_9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5828501d4f_0_9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5828501d4f_0_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5828501d4f_0_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5828501d4f_0_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5828501d4f_0_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5828501d4f_0_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5828501d4f_0_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5828501d4f_0_9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5828501d4f_0_9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5828501d4f_0_1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5828501d4f_0_1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5828501d4f_0_1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5828501d4f_0_1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5828501d4f_0_1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5828501d4f_0_1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5828501d4f_0_10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35828501d4f_0_1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6" name="Google Shape;56;p14"/>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7" name="Google Shape;57;p14"/>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58" name="Google Shape;58;p14"/>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5"/>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2" name="Google Shape;62;p15"/>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3" name="Google Shape;63;p15"/>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68" name="Google Shape;68;p1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72" name="Google Shape;72;p17"/>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3" name="Google Shape;73;p17"/>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77" name="Google Shape;77;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0" name="Google Shape;80;p19"/>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1" name="Google Shape;8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0"/>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5" name="Google Shape;8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6" name="Shape 86"/>
        <p:cNvGrpSpPr/>
        <p:nvPr/>
      </p:nvGrpSpPr>
      <p:grpSpPr>
        <a:xfrm>
          <a:off x="0" y="0"/>
          <a:ext cx="0" cy="0"/>
          <a:chOff x="0" y="0"/>
          <a:chExt cx="0" cy="0"/>
        </a:xfrm>
      </p:grpSpPr>
      <p:sp>
        <p:nvSpPr>
          <p:cNvPr id="87" name="Google Shape;87;p21"/>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 name="Google Shape;88;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9" name="Google Shape;89;p21"/>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90" name="Google Shape;90;p21"/>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91" name="Google Shape;91;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92" name="Google Shape;9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3" name="Shape 93"/>
        <p:cNvGrpSpPr/>
        <p:nvPr/>
      </p:nvGrpSpPr>
      <p:grpSpPr>
        <a:xfrm>
          <a:off x="0" y="0"/>
          <a:ext cx="0" cy="0"/>
          <a:chOff x="0" y="0"/>
          <a:chExt cx="0" cy="0"/>
        </a:xfrm>
      </p:grpSpPr>
      <p:sp>
        <p:nvSpPr>
          <p:cNvPr id="94" name="Google Shape;94;p22"/>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95" name="Google Shape;9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6" name="Shape 96"/>
        <p:cNvGrpSpPr/>
        <p:nvPr/>
      </p:nvGrpSpPr>
      <p:grpSpPr>
        <a:xfrm>
          <a:off x="0" y="0"/>
          <a:ext cx="0" cy="0"/>
          <a:chOff x="0" y="0"/>
          <a:chExt cx="0" cy="0"/>
        </a:xfrm>
      </p:grpSpPr>
      <p:sp>
        <p:nvSpPr>
          <p:cNvPr id="97" name="Google Shape;97;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3"/>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99" name="Google Shape;99;p23"/>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00" name="Google Shape;10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52" name="Google Shape;52;p13"/>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06" name="Shape 106"/>
        <p:cNvGrpSpPr/>
        <p:nvPr/>
      </p:nvGrpSpPr>
      <p:grpSpPr>
        <a:xfrm>
          <a:off x="0" y="0"/>
          <a:ext cx="0" cy="0"/>
          <a:chOff x="0" y="0"/>
          <a:chExt cx="0" cy="0"/>
        </a:xfrm>
      </p:grpSpPr>
      <p:sp>
        <p:nvSpPr>
          <p:cNvPr id="107" name="Google Shape;107;p25"/>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Collecting Ego Network Data</a:t>
            </a:r>
            <a:endParaRPr/>
          </a:p>
        </p:txBody>
      </p:sp>
      <p:sp>
        <p:nvSpPr>
          <p:cNvPr id="108" name="Google Shape;108;p25"/>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Where does network data come from?</a:t>
            </a:r>
            <a:endParaRPr/>
          </a:p>
        </p:txBody>
      </p:sp>
      <p:sp>
        <p:nvSpPr>
          <p:cNvPr id="114" name="Google Shape;114;p2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Surveys</a:t>
            </a:r>
            <a:endParaRPr/>
          </a:p>
          <a:p>
            <a:pPr indent="-317500" lvl="1" marL="914400" rtl="0" algn="l">
              <a:spcBef>
                <a:spcPts val="0"/>
              </a:spcBef>
              <a:spcAft>
                <a:spcPts val="0"/>
              </a:spcAft>
              <a:buSzPts val="1400"/>
              <a:buChar char="○"/>
            </a:pPr>
            <a:r>
              <a:rPr lang="en"/>
              <a:t>You </a:t>
            </a:r>
            <a:r>
              <a:rPr b="1" lang="en"/>
              <a:t>ask</a:t>
            </a:r>
            <a:r>
              <a:rPr lang="en"/>
              <a:t> people about their relations</a:t>
            </a:r>
            <a:endParaRPr/>
          </a:p>
          <a:p>
            <a:pPr indent="-317500" lvl="2" marL="1371600" rtl="0" algn="l">
              <a:spcBef>
                <a:spcPts val="0"/>
              </a:spcBef>
              <a:spcAft>
                <a:spcPts val="0"/>
              </a:spcAft>
              <a:buSzPts val="1400"/>
              <a:buChar char="■"/>
            </a:pPr>
            <a:r>
              <a:rPr lang="en"/>
              <a:t>Best approach for the collection of </a:t>
            </a:r>
            <a:r>
              <a:rPr b="1" lang="en"/>
              <a:t>ego network </a:t>
            </a:r>
            <a:r>
              <a:rPr lang="en"/>
              <a:t>data </a:t>
            </a:r>
            <a:endParaRPr/>
          </a:p>
          <a:p>
            <a:pPr indent="0" lvl="0" marL="457200" marR="0" rtl="0" algn="l">
              <a:lnSpc>
                <a:spcPct val="115000"/>
              </a:lnSpc>
              <a:spcBef>
                <a:spcPts val="12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Where does network data come from?</a:t>
            </a:r>
            <a:endParaRPr/>
          </a:p>
        </p:txBody>
      </p:sp>
      <p:sp>
        <p:nvSpPr>
          <p:cNvPr id="120" name="Google Shape;120;p2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Surveys</a:t>
            </a:r>
            <a:endParaRPr/>
          </a:p>
          <a:p>
            <a:pPr indent="-317500" lvl="1" marL="914400" rtl="0" algn="l">
              <a:spcBef>
                <a:spcPts val="0"/>
              </a:spcBef>
              <a:spcAft>
                <a:spcPts val="0"/>
              </a:spcAft>
              <a:buSzPts val="1400"/>
              <a:buChar char="○"/>
            </a:pPr>
            <a:r>
              <a:rPr lang="en"/>
              <a:t>You </a:t>
            </a:r>
            <a:r>
              <a:rPr b="1" lang="en"/>
              <a:t>ask</a:t>
            </a:r>
            <a:r>
              <a:rPr lang="en"/>
              <a:t> people about their relations</a:t>
            </a:r>
            <a:endParaRPr/>
          </a:p>
          <a:p>
            <a:pPr indent="-317500" lvl="2" marL="1371600" rtl="0" algn="l">
              <a:spcBef>
                <a:spcPts val="0"/>
              </a:spcBef>
              <a:spcAft>
                <a:spcPts val="0"/>
              </a:spcAft>
              <a:buSzPts val="1400"/>
              <a:buChar char="■"/>
            </a:pPr>
            <a:r>
              <a:rPr lang="en"/>
              <a:t>Best approach for the collection of </a:t>
            </a:r>
            <a:r>
              <a:rPr b="1" lang="en"/>
              <a:t>ego network </a:t>
            </a:r>
            <a:r>
              <a:rPr lang="en"/>
              <a:t>data </a:t>
            </a:r>
            <a:endParaRPr/>
          </a:p>
          <a:p>
            <a:pPr indent="-342900" lvl="0" marL="457200" marR="0" rtl="0" algn="l">
              <a:lnSpc>
                <a:spcPct val="115000"/>
              </a:lnSpc>
              <a:spcBef>
                <a:spcPts val="0"/>
              </a:spcBef>
              <a:spcAft>
                <a:spcPts val="0"/>
              </a:spcAft>
              <a:buClr>
                <a:schemeClr val="dk1"/>
              </a:buClr>
              <a:buSzPts val="1800"/>
              <a:buFont typeface="Open Sans"/>
              <a:buChar char="●"/>
            </a:pPr>
            <a:r>
              <a:rPr lang="en"/>
              <a:t>Direct Observation</a:t>
            </a:r>
            <a:endParaRPr/>
          </a:p>
          <a:p>
            <a:pPr indent="-317500" lvl="1" marL="914400" marR="0" rtl="0" algn="l">
              <a:lnSpc>
                <a:spcPct val="115000"/>
              </a:lnSpc>
              <a:spcBef>
                <a:spcPts val="0"/>
              </a:spcBef>
              <a:spcAft>
                <a:spcPts val="0"/>
              </a:spcAft>
              <a:buSzPts val="1400"/>
              <a:buChar char="○"/>
            </a:pPr>
            <a:r>
              <a:rPr lang="en"/>
              <a:t>You </a:t>
            </a:r>
            <a:r>
              <a:rPr b="1" lang="en"/>
              <a:t>go</a:t>
            </a:r>
            <a:r>
              <a:rPr lang="en"/>
              <a:t> to a site and </a:t>
            </a:r>
            <a:r>
              <a:rPr b="1" lang="en"/>
              <a:t>record</a:t>
            </a:r>
            <a:r>
              <a:rPr lang="en"/>
              <a:t> interactions between people</a:t>
            </a:r>
            <a:endParaRPr/>
          </a:p>
          <a:p>
            <a:pPr indent="-317500" lvl="2" marL="1371600" marR="0" rtl="0" algn="l">
              <a:lnSpc>
                <a:spcPct val="115000"/>
              </a:lnSpc>
              <a:spcBef>
                <a:spcPts val="0"/>
              </a:spcBef>
              <a:spcAft>
                <a:spcPts val="0"/>
              </a:spcAft>
              <a:buSzPts val="1400"/>
              <a:buChar char="■"/>
            </a:pPr>
            <a:r>
              <a:rPr lang="en"/>
              <a:t>Classrooms</a:t>
            </a:r>
            <a:endParaRPr/>
          </a:p>
          <a:p>
            <a:pPr indent="-317500" lvl="2" marL="1371600" marR="0" rtl="0" algn="l">
              <a:lnSpc>
                <a:spcPct val="115000"/>
              </a:lnSpc>
              <a:spcBef>
                <a:spcPts val="0"/>
              </a:spcBef>
              <a:spcAft>
                <a:spcPts val="0"/>
              </a:spcAft>
              <a:buSzPts val="1400"/>
              <a:buChar char="■"/>
            </a:pPr>
            <a:r>
              <a:rPr lang="en"/>
              <a:t>Neighborhoods</a:t>
            </a:r>
            <a:endParaRPr/>
          </a:p>
          <a:p>
            <a:pPr indent="-317500" lvl="2" marL="1371600" marR="0" rtl="0" algn="l">
              <a:lnSpc>
                <a:spcPct val="115000"/>
              </a:lnSpc>
              <a:spcBef>
                <a:spcPts val="0"/>
              </a:spcBef>
              <a:spcAft>
                <a:spcPts val="0"/>
              </a:spcAft>
              <a:buSzPts val="1400"/>
              <a:buChar char="■"/>
            </a:pPr>
            <a:r>
              <a:rPr lang="en"/>
              <a:t>Karate Club</a:t>
            </a:r>
            <a:endParaRPr/>
          </a:p>
          <a:p>
            <a:pPr indent="-317500" lvl="2" marL="1371600" marR="0" rtl="0" algn="l">
              <a:lnSpc>
                <a:spcPct val="115000"/>
              </a:lnSpc>
              <a:spcBef>
                <a:spcPts val="0"/>
              </a:spcBef>
              <a:spcAft>
                <a:spcPts val="0"/>
              </a:spcAft>
              <a:buSzPts val="1400"/>
              <a:buChar char="■"/>
            </a:pPr>
            <a:r>
              <a:rPr lang="en"/>
              <a:t>Monastery </a:t>
            </a:r>
            <a:endParaRPr/>
          </a:p>
          <a:p>
            <a:pPr indent="-317500" lvl="2" marL="1371600" marR="0" rtl="0" algn="l">
              <a:lnSpc>
                <a:spcPct val="115000"/>
              </a:lnSpc>
              <a:spcBef>
                <a:spcPts val="0"/>
              </a:spcBef>
              <a:spcAft>
                <a:spcPts val="0"/>
              </a:spcAft>
              <a:buSzPts val="1400"/>
              <a:buChar char="■"/>
            </a:pPr>
            <a:r>
              <a:rPr lang="en"/>
              <a:t>Frat House</a:t>
            </a:r>
            <a:endParaRPr/>
          </a:p>
          <a:p>
            <a:pPr indent="-317500" lvl="2" marL="1371600" marR="0" rtl="0" algn="l">
              <a:lnSpc>
                <a:spcPct val="115000"/>
              </a:lnSpc>
              <a:spcBef>
                <a:spcPts val="0"/>
              </a:spcBef>
              <a:spcAft>
                <a:spcPts val="0"/>
              </a:spcAft>
              <a:buSzPts val="1400"/>
              <a:buChar char="■"/>
            </a:pPr>
            <a:r>
              <a:rPr lang="en"/>
              <a:t>Beach?</a:t>
            </a:r>
            <a:endParaRPr/>
          </a:p>
          <a:p>
            <a:pPr indent="-342900" lvl="0" marL="457200" marR="0" rtl="0" algn="l">
              <a:lnSpc>
                <a:spcPct val="115000"/>
              </a:lnSpc>
              <a:spcBef>
                <a:spcPts val="0"/>
              </a:spcBef>
              <a:spcAft>
                <a:spcPts val="0"/>
              </a:spcAft>
              <a:buSzPts val="1800"/>
              <a:buChar char="●"/>
            </a:pPr>
            <a:r>
              <a:rPr lang="en"/>
              <a:t>Big Data - digital traces of communication, interaction</a:t>
            </a:r>
            <a:endParaRPr/>
          </a:p>
        </p:txBody>
      </p:sp>
      <p:sp>
        <p:nvSpPr>
          <p:cNvPr id="121" name="Google Shape;121;p27"/>
          <p:cNvSpPr/>
          <p:nvPr/>
        </p:nvSpPr>
        <p:spPr>
          <a:xfrm>
            <a:off x="311700" y="4132600"/>
            <a:ext cx="6305700" cy="517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Where does network data come from?</a:t>
            </a:r>
            <a:endParaRPr/>
          </a:p>
        </p:txBody>
      </p:sp>
      <p:sp>
        <p:nvSpPr>
          <p:cNvPr id="127" name="Google Shape;127;p28"/>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Surveys</a:t>
            </a:r>
            <a:endParaRPr/>
          </a:p>
          <a:p>
            <a:pPr indent="-317500" lvl="1" marL="914400" rtl="0" algn="l">
              <a:spcBef>
                <a:spcPts val="0"/>
              </a:spcBef>
              <a:spcAft>
                <a:spcPts val="0"/>
              </a:spcAft>
              <a:buSzPts val="1400"/>
              <a:buChar char="○"/>
            </a:pPr>
            <a:r>
              <a:rPr lang="en"/>
              <a:t>You </a:t>
            </a:r>
            <a:r>
              <a:rPr b="1" lang="en"/>
              <a:t>ask</a:t>
            </a:r>
            <a:r>
              <a:rPr lang="en"/>
              <a:t> people about their relations</a:t>
            </a:r>
            <a:endParaRPr/>
          </a:p>
          <a:p>
            <a:pPr indent="-317500" lvl="2" marL="1371600" rtl="0" algn="l">
              <a:spcBef>
                <a:spcPts val="0"/>
              </a:spcBef>
              <a:spcAft>
                <a:spcPts val="0"/>
              </a:spcAft>
              <a:buSzPts val="1400"/>
              <a:buChar char="■"/>
            </a:pPr>
            <a:r>
              <a:rPr lang="en"/>
              <a:t>Best approach for the collection of </a:t>
            </a:r>
            <a:r>
              <a:rPr b="1" lang="en"/>
              <a:t>ego network </a:t>
            </a:r>
            <a:r>
              <a:rPr lang="en"/>
              <a:t>data </a:t>
            </a:r>
            <a:endParaRPr/>
          </a:p>
          <a:p>
            <a:pPr indent="-342900" lvl="0" marL="457200" marR="0" rtl="0" algn="l">
              <a:lnSpc>
                <a:spcPct val="115000"/>
              </a:lnSpc>
              <a:spcBef>
                <a:spcPts val="0"/>
              </a:spcBef>
              <a:spcAft>
                <a:spcPts val="0"/>
              </a:spcAft>
              <a:buClr>
                <a:schemeClr val="dk1"/>
              </a:buClr>
              <a:buSzPts val="1800"/>
              <a:buFont typeface="Open Sans"/>
              <a:buChar char="●"/>
            </a:pPr>
            <a:r>
              <a:rPr lang="en"/>
              <a:t>Direct Observation</a:t>
            </a:r>
            <a:endParaRPr/>
          </a:p>
          <a:p>
            <a:pPr indent="-317500" lvl="1" marL="914400" marR="0" rtl="0" algn="l">
              <a:lnSpc>
                <a:spcPct val="115000"/>
              </a:lnSpc>
              <a:spcBef>
                <a:spcPts val="0"/>
              </a:spcBef>
              <a:spcAft>
                <a:spcPts val="0"/>
              </a:spcAft>
              <a:buSzPts val="1400"/>
              <a:buChar char="○"/>
            </a:pPr>
            <a:r>
              <a:rPr lang="en"/>
              <a:t>You </a:t>
            </a:r>
            <a:r>
              <a:rPr b="1" lang="en"/>
              <a:t>go</a:t>
            </a:r>
            <a:r>
              <a:rPr lang="en"/>
              <a:t> to a site and </a:t>
            </a:r>
            <a:r>
              <a:rPr b="1" lang="en"/>
              <a:t>record</a:t>
            </a:r>
            <a:r>
              <a:rPr lang="en"/>
              <a:t> interactions between people</a:t>
            </a:r>
            <a:endParaRPr/>
          </a:p>
          <a:p>
            <a:pPr indent="-317500" lvl="2" marL="1371600" marR="0" rtl="0" algn="l">
              <a:lnSpc>
                <a:spcPct val="115000"/>
              </a:lnSpc>
              <a:spcBef>
                <a:spcPts val="0"/>
              </a:spcBef>
              <a:spcAft>
                <a:spcPts val="0"/>
              </a:spcAft>
              <a:buSzPts val="1400"/>
              <a:buChar char="■"/>
            </a:pPr>
            <a:r>
              <a:rPr lang="en"/>
              <a:t>Classrooms</a:t>
            </a:r>
            <a:endParaRPr/>
          </a:p>
          <a:p>
            <a:pPr indent="-317500" lvl="2" marL="1371600" marR="0" rtl="0" algn="l">
              <a:lnSpc>
                <a:spcPct val="115000"/>
              </a:lnSpc>
              <a:spcBef>
                <a:spcPts val="0"/>
              </a:spcBef>
              <a:spcAft>
                <a:spcPts val="0"/>
              </a:spcAft>
              <a:buSzPts val="1400"/>
              <a:buChar char="■"/>
            </a:pPr>
            <a:r>
              <a:rPr lang="en"/>
              <a:t>Neighborhoods</a:t>
            </a:r>
            <a:endParaRPr/>
          </a:p>
          <a:p>
            <a:pPr indent="-317500" lvl="2" marL="1371600" marR="0" rtl="0" algn="l">
              <a:lnSpc>
                <a:spcPct val="115000"/>
              </a:lnSpc>
              <a:spcBef>
                <a:spcPts val="0"/>
              </a:spcBef>
              <a:spcAft>
                <a:spcPts val="0"/>
              </a:spcAft>
              <a:buSzPts val="1400"/>
              <a:buChar char="■"/>
            </a:pPr>
            <a:r>
              <a:rPr lang="en"/>
              <a:t>Karate Club</a:t>
            </a:r>
            <a:endParaRPr/>
          </a:p>
          <a:p>
            <a:pPr indent="-317500" lvl="2" marL="1371600" marR="0" rtl="0" algn="l">
              <a:lnSpc>
                <a:spcPct val="115000"/>
              </a:lnSpc>
              <a:spcBef>
                <a:spcPts val="0"/>
              </a:spcBef>
              <a:spcAft>
                <a:spcPts val="0"/>
              </a:spcAft>
              <a:buSzPts val="1400"/>
              <a:buChar char="■"/>
            </a:pPr>
            <a:r>
              <a:rPr lang="en"/>
              <a:t>Monastery </a:t>
            </a:r>
            <a:endParaRPr/>
          </a:p>
          <a:p>
            <a:pPr indent="-317500" lvl="2" marL="1371600" marR="0" rtl="0" algn="l">
              <a:lnSpc>
                <a:spcPct val="115000"/>
              </a:lnSpc>
              <a:spcBef>
                <a:spcPts val="0"/>
              </a:spcBef>
              <a:spcAft>
                <a:spcPts val="0"/>
              </a:spcAft>
              <a:buSzPts val="1400"/>
              <a:buChar char="■"/>
            </a:pPr>
            <a:r>
              <a:rPr lang="en"/>
              <a:t>Frat House</a:t>
            </a:r>
            <a:endParaRPr/>
          </a:p>
          <a:p>
            <a:pPr indent="-317500" lvl="2" marL="1371600" marR="0" rtl="0" algn="l">
              <a:lnSpc>
                <a:spcPct val="115000"/>
              </a:lnSpc>
              <a:spcBef>
                <a:spcPts val="0"/>
              </a:spcBef>
              <a:spcAft>
                <a:spcPts val="0"/>
              </a:spcAft>
              <a:buSzPts val="1400"/>
              <a:buChar char="■"/>
            </a:pPr>
            <a:r>
              <a:rPr lang="en"/>
              <a:t>Beach?</a:t>
            </a:r>
            <a:endParaRPr/>
          </a:p>
          <a:p>
            <a:pPr indent="-342900" lvl="0" marL="457200" marR="0" rtl="0" algn="l">
              <a:lnSpc>
                <a:spcPct val="115000"/>
              </a:lnSpc>
              <a:spcBef>
                <a:spcPts val="0"/>
              </a:spcBef>
              <a:spcAft>
                <a:spcPts val="0"/>
              </a:spcAft>
              <a:buSzPts val="1800"/>
              <a:buChar char="●"/>
            </a:pPr>
            <a:r>
              <a:rPr lang="en"/>
              <a:t>Big Data - digital traces of communication, interaction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Where does network data come from?</a:t>
            </a:r>
            <a:endParaRPr/>
          </a:p>
        </p:txBody>
      </p:sp>
      <p:sp>
        <p:nvSpPr>
          <p:cNvPr id="133" name="Google Shape;133;p2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Surveys</a:t>
            </a:r>
            <a:endParaRPr/>
          </a:p>
          <a:p>
            <a:pPr indent="-317500" lvl="1" marL="914400" rtl="0" algn="l">
              <a:spcBef>
                <a:spcPts val="0"/>
              </a:spcBef>
              <a:spcAft>
                <a:spcPts val="0"/>
              </a:spcAft>
              <a:buSzPts val="1400"/>
              <a:buChar char="○"/>
            </a:pPr>
            <a:r>
              <a:rPr lang="en"/>
              <a:t>You </a:t>
            </a:r>
            <a:r>
              <a:rPr b="1" lang="en"/>
              <a:t>ask</a:t>
            </a:r>
            <a:r>
              <a:rPr lang="en"/>
              <a:t> people about their relations</a:t>
            </a:r>
            <a:endParaRPr/>
          </a:p>
          <a:p>
            <a:pPr indent="-317500" lvl="2" marL="1371600" rtl="0" algn="l">
              <a:spcBef>
                <a:spcPts val="0"/>
              </a:spcBef>
              <a:spcAft>
                <a:spcPts val="0"/>
              </a:spcAft>
              <a:buSzPts val="1400"/>
              <a:buChar char="■"/>
            </a:pPr>
            <a:r>
              <a:rPr lang="en"/>
              <a:t>Best approach for the collection of </a:t>
            </a:r>
            <a:r>
              <a:rPr b="1" lang="en"/>
              <a:t>ego network </a:t>
            </a:r>
            <a:r>
              <a:rPr lang="en"/>
              <a:t>data </a:t>
            </a:r>
            <a:endParaRPr/>
          </a:p>
          <a:p>
            <a:pPr indent="-342900" lvl="0" marL="457200" marR="0" rtl="0" algn="l">
              <a:lnSpc>
                <a:spcPct val="115000"/>
              </a:lnSpc>
              <a:spcBef>
                <a:spcPts val="0"/>
              </a:spcBef>
              <a:spcAft>
                <a:spcPts val="0"/>
              </a:spcAft>
              <a:buClr>
                <a:schemeClr val="dk1"/>
              </a:buClr>
              <a:buSzPts val="1800"/>
              <a:buFont typeface="Open Sans"/>
              <a:buChar char="●"/>
            </a:pPr>
            <a:r>
              <a:rPr lang="en"/>
              <a:t>Direct Observation</a:t>
            </a:r>
            <a:endParaRPr/>
          </a:p>
          <a:p>
            <a:pPr indent="-317500" lvl="1" marL="914400" marR="0" rtl="0" algn="l">
              <a:lnSpc>
                <a:spcPct val="115000"/>
              </a:lnSpc>
              <a:spcBef>
                <a:spcPts val="0"/>
              </a:spcBef>
              <a:spcAft>
                <a:spcPts val="0"/>
              </a:spcAft>
              <a:buSzPts val="1400"/>
              <a:buChar char="○"/>
            </a:pPr>
            <a:r>
              <a:rPr lang="en"/>
              <a:t>You </a:t>
            </a:r>
            <a:r>
              <a:rPr b="1" lang="en"/>
              <a:t>go</a:t>
            </a:r>
            <a:r>
              <a:rPr lang="en"/>
              <a:t> to a site and </a:t>
            </a:r>
            <a:r>
              <a:rPr b="1" lang="en"/>
              <a:t>record</a:t>
            </a:r>
            <a:r>
              <a:rPr lang="en"/>
              <a:t> interactions between people</a:t>
            </a:r>
            <a:endParaRPr/>
          </a:p>
          <a:p>
            <a:pPr indent="-317500" lvl="2" marL="1371600" marR="0" rtl="0" algn="l">
              <a:lnSpc>
                <a:spcPct val="115000"/>
              </a:lnSpc>
              <a:spcBef>
                <a:spcPts val="0"/>
              </a:spcBef>
              <a:spcAft>
                <a:spcPts val="0"/>
              </a:spcAft>
              <a:buSzPts val="1400"/>
              <a:buChar char="■"/>
            </a:pPr>
            <a:r>
              <a:rPr lang="en"/>
              <a:t>Classrooms</a:t>
            </a:r>
            <a:endParaRPr/>
          </a:p>
          <a:p>
            <a:pPr indent="-317500" lvl="2" marL="1371600" marR="0" rtl="0" algn="l">
              <a:lnSpc>
                <a:spcPct val="115000"/>
              </a:lnSpc>
              <a:spcBef>
                <a:spcPts val="0"/>
              </a:spcBef>
              <a:spcAft>
                <a:spcPts val="0"/>
              </a:spcAft>
              <a:buSzPts val="1400"/>
              <a:buChar char="■"/>
            </a:pPr>
            <a:r>
              <a:rPr lang="en"/>
              <a:t>Neighborhoods</a:t>
            </a:r>
            <a:endParaRPr/>
          </a:p>
          <a:p>
            <a:pPr indent="-317500" lvl="2" marL="1371600" marR="0" rtl="0" algn="l">
              <a:lnSpc>
                <a:spcPct val="115000"/>
              </a:lnSpc>
              <a:spcBef>
                <a:spcPts val="0"/>
              </a:spcBef>
              <a:spcAft>
                <a:spcPts val="0"/>
              </a:spcAft>
              <a:buSzPts val="1400"/>
              <a:buChar char="■"/>
            </a:pPr>
            <a:r>
              <a:rPr lang="en"/>
              <a:t>Karate Club</a:t>
            </a:r>
            <a:endParaRPr/>
          </a:p>
          <a:p>
            <a:pPr indent="-317500" lvl="2" marL="1371600" marR="0" rtl="0" algn="l">
              <a:lnSpc>
                <a:spcPct val="115000"/>
              </a:lnSpc>
              <a:spcBef>
                <a:spcPts val="0"/>
              </a:spcBef>
              <a:spcAft>
                <a:spcPts val="0"/>
              </a:spcAft>
              <a:buSzPts val="1400"/>
              <a:buChar char="■"/>
            </a:pPr>
            <a:r>
              <a:rPr lang="en"/>
              <a:t>Monastery </a:t>
            </a:r>
            <a:endParaRPr/>
          </a:p>
          <a:p>
            <a:pPr indent="-317500" lvl="2" marL="1371600" marR="0" rtl="0" algn="l">
              <a:lnSpc>
                <a:spcPct val="115000"/>
              </a:lnSpc>
              <a:spcBef>
                <a:spcPts val="0"/>
              </a:spcBef>
              <a:spcAft>
                <a:spcPts val="0"/>
              </a:spcAft>
              <a:buSzPts val="1400"/>
              <a:buChar char="■"/>
            </a:pPr>
            <a:r>
              <a:rPr lang="en"/>
              <a:t>Frat House</a:t>
            </a:r>
            <a:endParaRPr/>
          </a:p>
          <a:p>
            <a:pPr indent="-317500" lvl="2" marL="1371600" marR="0" rtl="0" algn="l">
              <a:lnSpc>
                <a:spcPct val="115000"/>
              </a:lnSpc>
              <a:spcBef>
                <a:spcPts val="0"/>
              </a:spcBef>
              <a:spcAft>
                <a:spcPts val="0"/>
              </a:spcAft>
              <a:buSzPts val="1400"/>
              <a:buChar char="■"/>
            </a:pPr>
            <a:r>
              <a:rPr lang="en"/>
              <a:t>Beach?</a:t>
            </a:r>
            <a:endParaRPr/>
          </a:p>
          <a:p>
            <a:pPr indent="-342900" lvl="0" marL="457200" marR="0" rtl="0" algn="l">
              <a:lnSpc>
                <a:spcPct val="115000"/>
              </a:lnSpc>
              <a:spcBef>
                <a:spcPts val="0"/>
              </a:spcBef>
              <a:spcAft>
                <a:spcPts val="0"/>
              </a:spcAft>
              <a:buSzPts val="1800"/>
              <a:buChar char="●"/>
            </a:pPr>
            <a:r>
              <a:rPr lang="en"/>
              <a:t>Big Data - digital traces of communication, interaction</a:t>
            </a:r>
            <a:endParaRPr/>
          </a:p>
        </p:txBody>
      </p:sp>
      <p:sp>
        <p:nvSpPr>
          <p:cNvPr id="134" name="Google Shape;134;p29"/>
          <p:cNvSpPr/>
          <p:nvPr/>
        </p:nvSpPr>
        <p:spPr>
          <a:xfrm>
            <a:off x="783775" y="1223150"/>
            <a:ext cx="6163200" cy="914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Ego (personal) networks</a:t>
            </a:r>
            <a:endParaRPr/>
          </a:p>
        </p:txBody>
      </p:sp>
      <p:sp>
        <p:nvSpPr>
          <p:cNvPr id="140" name="Google Shape;140;p30"/>
          <p:cNvSpPr txBox="1"/>
          <p:nvPr>
            <p:ph idx="1" type="body"/>
          </p:nvPr>
        </p:nvSpPr>
        <p:spPr>
          <a:xfrm>
            <a:off x="311700" y="1225225"/>
            <a:ext cx="48474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Sometimes the best way to figure out who a person is connected to is to ask them!</a:t>
            </a:r>
            <a:endParaRPr/>
          </a:p>
          <a:p>
            <a:pPr indent="-317500" lvl="1" marL="914400" rtl="0" algn="l">
              <a:spcBef>
                <a:spcPts val="0"/>
              </a:spcBef>
              <a:spcAft>
                <a:spcPts val="0"/>
              </a:spcAft>
              <a:buSzPts val="1400"/>
              <a:buChar char="○"/>
            </a:pPr>
            <a:r>
              <a:rPr lang="en"/>
              <a:t>This yields personal (ego) networks</a:t>
            </a:r>
            <a:endParaRPr/>
          </a:p>
          <a:p>
            <a:pPr indent="-317500" lvl="1" marL="914400" rtl="0" algn="l">
              <a:spcBef>
                <a:spcPts val="0"/>
              </a:spcBef>
              <a:spcAft>
                <a:spcPts val="0"/>
              </a:spcAft>
              <a:buSzPts val="1400"/>
              <a:buChar char="○"/>
            </a:pPr>
            <a:r>
              <a:rPr lang="en"/>
              <a:t>Information on:</a:t>
            </a:r>
            <a:endParaRPr/>
          </a:p>
          <a:p>
            <a:pPr indent="-317500" lvl="2" marL="1371600" rtl="0" algn="l">
              <a:spcBef>
                <a:spcPts val="0"/>
              </a:spcBef>
              <a:spcAft>
                <a:spcPts val="0"/>
              </a:spcAft>
              <a:buSzPts val="1400"/>
              <a:buChar char="■"/>
            </a:pPr>
            <a:r>
              <a:rPr b="1" lang="en"/>
              <a:t>Ego</a:t>
            </a:r>
            <a:r>
              <a:rPr lang="en"/>
              <a:t> (the individuals)</a:t>
            </a:r>
            <a:endParaRPr/>
          </a:p>
          <a:p>
            <a:pPr indent="-317500" lvl="2" marL="1371600" rtl="0" algn="l">
              <a:spcBef>
                <a:spcPts val="0"/>
              </a:spcBef>
              <a:spcAft>
                <a:spcPts val="0"/>
              </a:spcAft>
              <a:buSzPts val="1400"/>
              <a:buChar char="■"/>
            </a:pPr>
            <a:r>
              <a:rPr lang="en"/>
              <a:t>Role, exchange, interaction </a:t>
            </a:r>
            <a:r>
              <a:rPr b="1" lang="en"/>
              <a:t>relations</a:t>
            </a:r>
            <a:r>
              <a:rPr lang="en"/>
              <a:t> between </a:t>
            </a:r>
            <a:r>
              <a:rPr b="1" lang="en"/>
              <a:t>ego</a:t>
            </a:r>
            <a:r>
              <a:rPr lang="en"/>
              <a:t> and a set of </a:t>
            </a:r>
            <a:r>
              <a:rPr b="1" lang="en"/>
              <a:t>alters</a:t>
            </a:r>
            <a:endParaRPr b="1"/>
          </a:p>
          <a:p>
            <a:pPr indent="-317500" lvl="2" marL="1371600" rtl="0" algn="l">
              <a:spcBef>
                <a:spcPts val="0"/>
              </a:spcBef>
              <a:spcAft>
                <a:spcPts val="0"/>
              </a:spcAft>
              <a:buSzPts val="1400"/>
              <a:buChar char="■"/>
            </a:pPr>
            <a:r>
              <a:rPr b="1" lang="en"/>
              <a:t>Relations among the alters</a:t>
            </a:r>
            <a:r>
              <a:rPr lang="en"/>
              <a:t> from the point of view of ego</a:t>
            </a:r>
            <a:endParaRPr/>
          </a:p>
          <a:p>
            <a:pPr indent="-317500" lvl="2" marL="1371600" rtl="0" algn="l">
              <a:spcBef>
                <a:spcPts val="0"/>
              </a:spcBef>
              <a:spcAft>
                <a:spcPts val="0"/>
              </a:spcAft>
              <a:buSzPts val="1400"/>
              <a:buChar char="■"/>
            </a:pPr>
            <a:r>
              <a:rPr lang="en"/>
              <a:t>Properties of each </a:t>
            </a:r>
            <a:r>
              <a:rPr b="1" lang="en"/>
              <a:t>relation</a:t>
            </a:r>
            <a:r>
              <a:rPr lang="en"/>
              <a:t> from the point of view of ego</a:t>
            </a:r>
            <a:endParaRPr/>
          </a:p>
        </p:txBody>
      </p:sp>
      <p:sp>
        <p:nvSpPr>
          <p:cNvPr id="141" name="Google Shape;141;p30"/>
          <p:cNvSpPr/>
          <p:nvPr/>
        </p:nvSpPr>
        <p:spPr>
          <a:xfrm>
            <a:off x="6428125"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142" name="Google Shape;142;p30"/>
          <p:cNvSpPr/>
          <p:nvPr/>
        </p:nvSpPr>
        <p:spPr>
          <a:xfrm>
            <a:off x="5481600"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143" name="Google Shape;143;p30"/>
          <p:cNvSpPr/>
          <p:nvPr/>
        </p:nvSpPr>
        <p:spPr>
          <a:xfrm>
            <a:off x="6567323" y="115515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144" name="Google Shape;144;p30"/>
          <p:cNvSpPr/>
          <p:nvPr/>
        </p:nvSpPr>
        <p:spPr>
          <a:xfrm>
            <a:off x="7583847"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145" name="Google Shape;145;p30"/>
          <p:cNvSpPr/>
          <p:nvPr/>
        </p:nvSpPr>
        <p:spPr>
          <a:xfrm>
            <a:off x="5481600"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146" name="Google Shape;146;p30"/>
          <p:cNvSpPr/>
          <p:nvPr/>
        </p:nvSpPr>
        <p:spPr>
          <a:xfrm>
            <a:off x="6584686" y="386370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147" name="Google Shape;147;p30"/>
          <p:cNvSpPr/>
          <p:nvPr/>
        </p:nvSpPr>
        <p:spPr>
          <a:xfrm>
            <a:off x="7583847"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148" name="Google Shape;148;p30"/>
          <p:cNvSpPr/>
          <p:nvPr/>
        </p:nvSpPr>
        <p:spPr>
          <a:xfrm>
            <a:off x="5298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149" name="Google Shape;149;p30"/>
          <p:cNvSpPr/>
          <p:nvPr/>
        </p:nvSpPr>
        <p:spPr>
          <a:xfrm>
            <a:off x="7836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150" name="Google Shape;150;p30"/>
          <p:cNvCxnSpPr>
            <a:stCxn id="143" idx="4"/>
            <a:endCxn id="141" idx="0"/>
          </p:cNvCxnSpPr>
          <p:nvPr/>
        </p:nvCxnSpPr>
        <p:spPr>
          <a:xfrm>
            <a:off x="6845573" y="1660351"/>
            <a:ext cx="0" cy="674100"/>
          </a:xfrm>
          <a:prstGeom prst="straightConnector1">
            <a:avLst/>
          </a:prstGeom>
          <a:noFill/>
          <a:ln cap="flat" cmpd="sng" w="28575">
            <a:solidFill>
              <a:srgbClr val="0000FF"/>
            </a:solidFill>
            <a:prstDash val="solid"/>
            <a:round/>
            <a:headEnd len="med" w="med" type="none"/>
            <a:tailEnd len="med" w="med" type="none"/>
          </a:ln>
        </p:spPr>
      </p:cxnSp>
      <p:cxnSp>
        <p:nvCxnSpPr>
          <p:cNvPr id="151" name="Google Shape;151;p30"/>
          <p:cNvCxnSpPr>
            <a:stCxn id="146" idx="0"/>
            <a:endCxn id="141" idx="4"/>
          </p:cNvCxnSpPr>
          <p:nvPr/>
        </p:nvCxnSpPr>
        <p:spPr>
          <a:xfrm rot="10800000">
            <a:off x="6845536" y="3165601"/>
            <a:ext cx="17400" cy="698100"/>
          </a:xfrm>
          <a:prstGeom prst="straightConnector1">
            <a:avLst/>
          </a:prstGeom>
          <a:noFill/>
          <a:ln cap="flat" cmpd="sng" w="28575">
            <a:solidFill>
              <a:srgbClr val="0000FF"/>
            </a:solidFill>
            <a:prstDash val="solid"/>
            <a:round/>
            <a:headEnd len="med" w="med" type="none"/>
            <a:tailEnd len="med" w="med" type="none"/>
          </a:ln>
        </p:spPr>
      </p:cxnSp>
      <p:cxnSp>
        <p:nvCxnSpPr>
          <p:cNvPr id="152" name="Google Shape;152;p30"/>
          <p:cNvCxnSpPr>
            <a:stCxn id="148" idx="6"/>
            <a:endCxn id="141" idx="2"/>
          </p:cNvCxnSpPr>
          <p:nvPr/>
        </p:nvCxnSpPr>
        <p:spPr>
          <a:xfrm>
            <a:off x="58548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153" name="Google Shape;153;p30"/>
          <p:cNvCxnSpPr>
            <a:stCxn id="149" idx="2"/>
            <a:endCxn id="141" idx="6"/>
          </p:cNvCxnSpPr>
          <p:nvPr/>
        </p:nvCxnSpPr>
        <p:spPr>
          <a:xfrm rot="10800000">
            <a:off x="72630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154" name="Google Shape;154;p30"/>
          <p:cNvCxnSpPr>
            <a:stCxn id="141" idx="1"/>
            <a:endCxn id="142" idx="5"/>
          </p:cNvCxnSpPr>
          <p:nvPr/>
        </p:nvCxnSpPr>
        <p:spPr>
          <a:xfrm rot="10800000">
            <a:off x="5956693" y="2115391"/>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155" name="Google Shape;155;p30"/>
          <p:cNvCxnSpPr>
            <a:stCxn id="141" idx="7"/>
            <a:endCxn id="144" idx="3"/>
          </p:cNvCxnSpPr>
          <p:nvPr/>
        </p:nvCxnSpPr>
        <p:spPr>
          <a:xfrm flipH="1" rot="10800000">
            <a:off x="7140757" y="2115391"/>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156" name="Google Shape;156;p30"/>
          <p:cNvCxnSpPr>
            <a:stCxn id="145" idx="7"/>
            <a:endCxn id="141" idx="3"/>
          </p:cNvCxnSpPr>
          <p:nvPr/>
        </p:nvCxnSpPr>
        <p:spPr>
          <a:xfrm flipH="1" rot="10800000">
            <a:off x="5956602" y="3044053"/>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157" name="Google Shape;157;p30"/>
          <p:cNvCxnSpPr>
            <a:stCxn id="147" idx="1"/>
            <a:endCxn id="141" idx="5"/>
          </p:cNvCxnSpPr>
          <p:nvPr/>
        </p:nvCxnSpPr>
        <p:spPr>
          <a:xfrm rot="10800000">
            <a:off x="7140644" y="3044053"/>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158" name="Google Shape;158;p30"/>
          <p:cNvCxnSpPr>
            <a:stCxn id="143" idx="2"/>
            <a:endCxn id="142" idx="0"/>
          </p:cNvCxnSpPr>
          <p:nvPr/>
        </p:nvCxnSpPr>
        <p:spPr>
          <a:xfrm flipH="1">
            <a:off x="5759723" y="1407751"/>
            <a:ext cx="807600" cy="276300"/>
          </a:xfrm>
          <a:prstGeom prst="straightConnector1">
            <a:avLst/>
          </a:prstGeom>
          <a:noFill/>
          <a:ln cap="flat" cmpd="sng" w="28575">
            <a:solidFill>
              <a:srgbClr val="FF00FF"/>
            </a:solidFill>
            <a:prstDash val="solid"/>
            <a:round/>
            <a:headEnd len="med" w="med" type="none"/>
            <a:tailEnd len="med" w="med" type="none"/>
          </a:ln>
        </p:spPr>
      </p:cxnSp>
      <p:cxnSp>
        <p:nvCxnSpPr>
          <p:cNvPr id="159" name="Google Shape;159;p30"/>
          <p:cNvCxnSpPr>
            <a:stCxn id="142" idx="3"/>
            <a:endCxn id="148" idx="0"/>
          </p:cNvCxnSpPr>
          <p:nvPr/>
        </p:nvCxnSpPr>
        <p:spPr>
          <a:xfrm>
            <a:off x="5563098" y="2115333"/>
            <a:ext cx="13500" cy="382200"/>
          </a:xfrm>
          <a:prstGeom prst="straightConnector1">
            <a:avLst/>
          </a:prstGeom>
          <a:noFill/>
          <a:ln cap="flat" cmpd="sng" w="28575">
            <a:solidFill>
              <a:srgbClr val="FF00FF"/>
            </a:solidFill>
            <a:prstDash val="solid"/>
            <a:round/>
            <a:headEnd len="med" w="med" type="none"/>
            <a:tailEnd len="med" w="med" type="none"/>
          </a:ln>
        </p:spPr>
      </p:cxnSp>
      <p:cxnSp>
        <p:nvCxnSpPr>
          <p:cNvPr id="160" name="Google Shape;160;p30"/>
          <p:cNvCxnSpPr>
            <a:stCxn id="143" idx="3"/>
            <a:endCxn id="148" idx="7"/>
          </p:cNvCxnSpPr>
          <p:nvPr/>
        </p:nvCxnSpPr>
        <p:spPr>
          <a:xfrm flipH="1">
            <a:off x="5773421" y="1586366"/>
            <a:ext cx="875400" cy="985200"/>
          </a:xfrm>
          <a:prstGeom prst="straightConnector1">
            <a:avLst/>
          </a:prstGeom>
          <a:noFill/>
          <a:ln cap="flat" cmpd="sng" w="28575">
            <a:solidFill>
              <a:srgbClr val="FF00FF"/>
            </a:solidFill>
            <a:prstDash val="solid"/>
            <a:round/>
            <a:headEnd len="med" w="med" type="none"/>
            <a:tailEnd len="med" w="med" type="none"/>
          </a:ln>
        </p:spPr>
      </p:cxnSp>
      <p:cxnSp>
        <p:nvCxnSpPr>
          <p:cNvPr id="161" name="Google Shape;161;p30"/>
          <p:cNvCxnSpPr>
            <a:stCxn id="143" idx="3"/>
            <a:endCxn id="145" idx="0"/>
          </p:cNvCxnSpPr>
          <p:nvPr/>
        </p:nvCxnSpPr>
        <p:spPr>
          <a:xfrm flipH="1">
            <a:off x="5759921" y="1586366"/>
            <a:ext cx="888900" cy="1724400"/>
          </a:xfrm>
          <a:prstGeom prst="straightConnector1">
            <a:avLst/>
          </a:prstGeom>
          <a:noFill/>
          <a:ln cap="flat" cmpd="sng" w="28575">
            <a:solidFill>
              <a:srgbClr val="FF00FF"/>
            </a:solidFill>
            <a:prstDash val="solid"/>
            <a:round/>
            <a:headEnd len="med" w="med" type="none"/>
            <a:tailEnd len="med" w="med" type="none"/>
          </a:ln>
        </p:spPr>
      </p:cxnSp>
      <p:cxnSp>
        <p:nvCxnSpPr>
          <p:cNvPr id="162" name="Google Shape;162;p30"/>
          <p:cNvCxnSpPr>
            <a:stCxn id="148" idx="4"/>
            <a:endCxn id="145" idx="0"/>
          </p:cNvCxnSpPr>
          <p:nvPr/>
        </p:nvCxnSpPr>
        <p:spPr>
          <a:xfrm>
            <a:off x="5576563" y="3002706"/>
            <a:ext cx="183300" cy="308100"/>
          </a:xfrm>
          <a:prstGeom prst="straightConnector1">
            <a:avLst/>
          </a:prstGeom>
          <a:noFill/>
          <a:ln cap="flat" cmpd="sng" w="28575">
            <a:solidFill>
              <a:srgbClr val="FF00FF"/>
            </a:solidFill>
            <a:prstDash val="solid"/>
            <a:round/>
            <a:headEnd len="med" w="med" type="none"/>
            <a:tailEnd len="med" w="med" type="none"/>
          </a:ln>
        </p:spPr>
      </p:cxnSp>
      <p:cxnSp>
        <p:nvCxnSpPr>
          <p:cNvPr id="163" name="Google Shape;163;p30"/>
          <p:cNvCxnSpPr>
            <a:stCxn id="142" idx="5"/>
            <a:endCxn id="145" idx="7"/>
          </p:cNvCxnSpPr>
          <p:nvPr/>
        </p:nvCxnSpPr>
        <p:spPr>
          <a:xfrm>
            <a:off x="5956602" y="2115333"/>
            <a:ext cx="0" cy="1269600"/>
          </a:xfrm>
          <a:prstGeom prst="straightConnector1">
            <a:avLst/>
          </a:prstGeom>
          <a:noFill/>
          <a:ln cap="flat" cmpd="sng" w="28575">
            <a:solidFill>
              <a:srgbClr val="FF00FF"/>
            </a:solidFill>
            <a:prstDash val="solid"/>
            <a:round/>
            <a:headEnd len="med" w="med" type="none"/>
            <a:tailEnd len="med" w="med" type="none"/>
          </a:ln>
        </p:spPr>
      </p:cxnSp>
      <p:cxnSp>
        <p:nvCxnSpPr>
          <p:cNvPr id="164" name="Google Shape;164;p30"/>
          <p:cNvCxnSpPr>
            <a:stCxn id="149" idx="3"/>
            <a:endCxn id="145" idx="6"/>
          </p:cNvCxnSpPr>
          <p:nvPr/>
        </p:nvCxnSpPr>
        <p:spPr>
          <a:xfrm flipH="1">
            <a:off x="6038010" y="2928721"/>
            <a:ext cx="1879800" cy="634800"/>
          </a:xfrm>
          <a:prstGeom prst="straightConnector1">
            <a:avLst/>
          </a:prstGeom>
          <a:noFill/>
          <a:ln cap="flat" cmpd="sng" w="28575">
            <a:solidFill>
              <a:srgbClr val="FF00FF"/>
            </a:solidFill>
            <a:prstDash val="solid"/>
            <a:round/>
            <a:headEnd len="med" w="med" type="none"/>
            <a:tailEnd len="med" w="med" type="none"/>
          </a:ln>
        </p:spPr>
      </p:cxnSp>
      <p:cxnSp>
        <p:nvCxnSpPr>
          <p:cNvPr id="165" name="Google Shape;165;p30"/>
          <p:cNvCxnSpPr>
            <a:stCxn id="146" idx="2"/>
            <a:endCxn id="145" idx="5"/>
          </p:cNvCxnSpPr>
          <p:nvPr/>
        </p:nvCxnSpPr>
        <p:spPr>
          <a:xfrm rot="10800000">
            <a:off x="5956486" y="3742201"/>
            <a:ext cx="628200" cy="374100"/>
          </a:xfrm>
          <a:prstGeom prst="straightConnector1">
            <a:avLst/>
          </a:prstGeom>
          <a:noFill/>
          <a:ln cap="flat" cmpd="sng" w="28575">
            <a:solidFill>
              <a:srgbClr val="FF00FF"/>
            </a:solidFill>
            <a:prstDash val="solid"/>
            <a:round/>
            <a:headEnd len="med" w="med" type="none"/>
            <a:tailEnd len="med" w="med" type="none"/>
          </a:ln>
        </p:spPr>
      </p:cxnSp>
      <p:cxnSp>
        <p:nvCxnSpPr>
          <p:cNvPr id="166" name="Google Shape;166;p30"/>
          <p:cNvCxnSpPr>
            <a:stCxn id="147" idx="3"/>
          </p:cNvCxnSpPr>
          <p:nvPr/>
        </p:nvCxnSpPr>
        <p:spPr>
          <a:xfrm flipH="1">
            <a:off x="7139144" y="3742083"/>
            <a:ext cx="526200" cy="344100"/>
          </a:xfrm>
          <a:prstGeom prst="straightConnector1">
            <a:avLst/>
          </a:prstGeom>
          <a:noFill/>
          <a:ln cap="flat" cmpd="sng" w="28575">
            <a:solidFill>
              <a:srgbClr val="FF00FF"/>
            </a:solidFill>
            <a:prstDash val="solid"/>
            <a:round/>
            <a:headEnd len="med" w="med" type="none"/>
            <a:tailEnd len="med" w="med" type="none"/>
          </a:ln>
        </p:spPr>
      </p:cxnSp>
      <p:cxnSp>
        <p:nvCxnSpPr>
          <p:cNvPr id="167" name="Google Shape;167;p30"/>
          <p:cNvCxnSpPr>
            <a:stCxn id="149" idx="4"/>
            <a:endCxn id="147" idx="7"/>
          </p:cNvCxnSpPr>
          <p:nvPr/>
        </p:nvCxnSpPr>
        <p:spPr>
          <a:xfrm flipH="1">
            <a:off x="8058763" y="3002706"/>
            <a:ext cx="55800" cy="382200"/>
          </a:xfrm>
          <a:prstGeom prst="straightConnector1">
            <a:avLst/>
          </a:prstGeom>
          <a:noFill/>
          <a:ln cap="flat" cmpd="sng" w="28575">
            <a:solidFill>
              <a:srgbClr val="FF00FF"/>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Types of ties in ego networks</a:t>
            </a:r>
            <a:endParaRPr/>
          </a:p>
        </p:txBody>
      </p:sp>
      <p:sp>
        <p:nvSpPr>
          <p:cNvPr id="173" name="Google Shape;173;p31"/>
          <p:cNvSpPr txBox="1"/>
          <p:nvPr>
            <p:ph idx="1" type="body"/>
          </p:nvPr>
        </p:nvSpPr>
        <p:spPr>
          <a:xfrm>
            <a:off x="311700" y="1225225"/>
            <a:ext cx="48027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Role relations (states)</a:t>
            </a:r>
            <a:endParaRPr/>
          </a:p>
          <a:p>
            <a:pPr indent="-317500" lvl="1" marL="914400" rtl="0" algn="l">
              <a:spcBef>
                <a:spcPts val="0"/>
              </a:spcBef>
              <a:spcAft>
                <a:spcPts val="0"/>
              </a:spcAft>
              <a:buSzPts val="1400"/>
              <a:buChar char="○"/>
            </a:pPr>
            <a:r>
              <a:rPr lang="en"/>
              <a:t>Friends, kin, business partners</a:t>
            </a:r>
            <a:endParaRPr/>
          </a:p>
          <a:p>
            <a:pPr indent="-342900" lvl="0" marL="457200" rtl="0" algn="l">
              <a:spcBef>
                <a:spcPts val="0"/>
              </a:spcBef>
              <a:spcAft>
                <a:spcPts val="0"/>
              </a:spcAft>
              <a:buSzPts val="1800"/>
              <a:buChar char="●"/>
            </a:pPr>
            <a:r>
              <a:rPr lang="en"/>
              <a:t>Interpersonal sentiments and cognitions</a:t>
            </a:r>
            <a:endParaRPr/>
          </a:p>
          <a:p>
            <a:pPr indent="-317500" lvl="1" marL="914400" rtl="0" algn="l">
              <a:spcBef>
                <a:spcPts val="0"/>
              </a:spcBef>
              <a:spcAft>
                <a:spcPts val="0"/>
              </a:spcAft>
              <a:buSzPts val="1400"/>
              <a:buChar char="○"/>
            </a:pPr>
            <a:r>
              <a:rPr lang="en"/>
              <a:t>Liking, trusting, acquaintanceship</a:t>
            </a:r>
            <a:endParaRPr/>
          </a:p>
          <a:p>
            <a:pPr indent="-342900" lvl="0" marL="457200" rtl="0" algn="l">
              <a:spcBef>
                <a:spcPts val="0"/>
              </a:spcBef>
              <a:spcAft>
                <a:spcPts val="0"/>
              </a:spcAft>
              <a:buSzPts val="1800"/>
              <a:buChar char="●"/>
            </a:pPr>
            <a:r>
              <a:rPr lang="en"/>
              <a:t>Behavioral Social Interactions</a:t>
            </a:r>
            <a:endParaRPr/>
          </a:p>
          <a:p>
            <a:pPr indent="-317500" lvl="1" marL="914400" rtl="0" algn="l">
              <a:spcBef>
                <a:spcPts val="0"/>
              </a:spcBef>
              <a:spcAft>
                <a:spcPts val="0"/>
              </a:spcAft>
              <a:buSzPts val="1400"/>
              <a:buChar char="○"/>
            </a:pPr>
            <a:r>
              <a:rPr lang="en"/>
              <a:t>Calling, texting, citing, supporting, resource exchange</a:t>
            </a:r>
            <a:endParaRPr/>
          </a:p>
          <a:p>
            <a:pPr indent="0" lvl="0" marL="0" marR="0" rtl="0" algn="l">
              <a:lnSpc>
                <a:spcPct val="115000"/>
              </a:lnSpc>
              <a:spcBef>
                <a:spcPts val="1200"/>
              </a:spcBef>
              <a:spcAft>
                <a:spcPts val="1600"/>
              </a:spcAft>
              <a:buNone/>
            </a:pPr>
            <a:r>
              <a:t/>
            </a:r>
            <a:endParaRPr/>
          </a:p>
        </p:txBody>
      </p:sp>
      <p:sp>
        <p:nvSpPr>
          <p:cNvPr id="174" name="Google Shape;174;p31"/>
          <p:cNvSpPr/>
          <p:nvPr/>
        </p:nvSpPr>
        <p:spPr>
          <a:xfrm>
            <a:off x="6428125"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175" name="Google Shape;175;p31"/>
          <p:cNvSpPr/>
          <p:nvPr/>
        </p:nvSpPr>
        <p:spPr>
          <a:xfrm>
            <a:off x="5481600"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176" name="Google Shape;176;p31"/>
          <p:cNvSpPr/>
          <p:nvPr/>
        </p:nvSpPr>
        <p:spPr>
          <a:xfrm>
            <a:off x="6567323" y="115515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177" name="Google Shape;177;p31"/>
          <p:cNvSpPr/>
          <p:nvPr/>
        </p:nvSpPr>
        <p:spPr>
          <a:xfrm>
            <a:off x="7583847"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178" name="Google Shape;178;p31"/>
          <p:cNvSpPr/>
          <p:nvPr/>
        </p:nvSpPr>
        <p:spPr>
          <a:xfrm>
            <a:off x="5481600"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179" name="Google Shape;179;p31"/>
          <p:cNvSpPr/>
          <p:nvPr/>
        </p:nvSpPr>
        <p:spPr>
          <a:xfrm>
            <a:off x="6584686" y="386370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180" name="Google Shape;180;p31"/>
          <p:cNvSpPr/>
          <p:nvPr/>
        </p:nvSpPr>
        <p:spPr>
          <a:xfrm>
            <a:off x="7583847"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181" name="Google Shape;181;p31"/>
          <p:cNvSpPr/>
          <p:nvPr/>
        </p:nvSpPr>
        <p:spPr>
          <a:xfrm>
            <a:off x="5298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182" name="Google Shape;182;p31"/>
          <p:cNvSpPr/>
          <p:nvPr/>
        </p:nvSpPr>
        <p:spPr>
          <a:xfrm>
            <a:off x="7836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183" name="Google Shape;183;p31"/>
          <p:cNvCxnSpPr>
            <a:stCxn id="176" idx="4"/>
            <a:endCxn id="174" idx="0"/>
          </p:cNvCxnSpPr>
          <p:nvPr/>
        </p:nvCxnSpPr>
        <p:spPr>
          <a:xfrm>
            <a:off x="6845573" y="1660351"/>
            <a:ext cx="0" cy="674100"/>
          </a:xfrm>
          <a:prstGeom prst="straightConnector1">
            <a:avLst/>
          </a:prstGeom>
          <a:noFill/>
          <a:ln cap="flat" cmpd="sng" w="28575">
            <a:solidFill>
              <a:srgbClr val="0000FF"/>
            </a:solidFill>
            <a:prstDash val="solid"/>
            <a:round/>
            <a:headEnd len="med" w="med" type="none"/>
            <a:tailEnd len="med" w="med" type="none"/>
          </a:ln>
        </p:spPr>
      </p:cxnSp>
      <p:cxnSp>
        <p:nvCxnSpPr>
          <p:cNvPr id="184" name="Google Shape;184;p31"/>
          <p:cNvCxnSpPr>
            <a:stCxn id="179" idx="0"/>
            <a:endCxn id="174" idx="4"/>
          </p:cNvCxnSpPr>
          <p:nvPr/>
        </p:nvCxnSpPr>
        <p:spPr>
          <a:xfrm rot="10800000">
            <a:off x="6845536" y="3165601"/>
            <a:ext cx="17400" cy="698100"/>
          </a:xfrm>
          <a:prstGeom prst="straightConnector1">
            <a:avLst/>
          </a:prstGeom>
          <a:noFill/>
          <a:ln cap="flat" cmpd="sng" w="28575">
            <a:solidFill>
              <a:srgbClr val="0000FF"/>
            </a:solidFill>
            <a:prstDash val="solid"/>
            <a:round/>
            <a:headEnd len="med" w="med" type="none"/>
            <a:tailEnd len="med" w="med" type="none"/>
          </a:ln>
        </p:spPr>
      </p:cxnSp>
      <p:cxnSp>
        <p:nvCxnSpPr>
          <p:cNvPr id="185" name="Google Shape;185;p31"/>
          <p:cNvCxnSpPr>
            <a:stCxn id="181" idx="6"/>
            <a:endCxn id="174" idx="2"/>
          </p:cNvCxnSpPr>
          <p:nvPr/>
        </p:nvCxnSpPr>
        <p:spPr>
          <a:xfrm>
            <a:off x="58548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186" name="Google Shape;186;p31"/>
          <p:cNvCxnSpPr>
            <a:stCxn id="182" idx="2"/>
            <a:endCxn id="174" idx="6"/>
          </p:cNvCxnSpPr>
          <p:nvPr/>
        </p:nvCxnSpPr>
        <p:spPr>
          <a:xfrm rot="10800000">
            <a:off x="72630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187" name="Google Shape;187;p31"/>
          <p:cNvCxnSpPr>
            <a:stCxn id="174" idx="1"/>
            <a:endCxn id="175" idx="5"/>
          </p:cNvCxnSpPr>
          <p:nvPr/>
        </p:nvCxnSpPr>
        <p:spPr>
          <a:xfrm rot="10800000">
            <a:off x="5956693" y="2115391"/>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188" name="Google Shape;188;p31"/>
          <p:cNvCxnSpPr>
            <a:stCxn id="174" idx="7"/>
            <a:endCxn id="177" idx="3"/>
          </p:cNvCxnSpPr>
          <p:nvPr/>
        </p:nvCxnSpPr>
        <p:spPr>
          <a:xfrm flipH="1" rot="10800000">
            <a:off x="7140757" y="2115391"/>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189" name="Google Shape;189;p31"/>
          <p:cNvCxnSpPr>
            <a:stCxn id="178" idx="7"/>
            <a:endCxn id="174" idx="3"/>
          </p:cNvCxnSpPr>
          <p:nvPr/>
        </p:nvCxnSpPr>
        <p:spPr>
          <a:xfrm flipH="1" rot="10800000">
            <a:off x="5956602" y="3044053"/>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190" name="Google Shape;190;p31"/>
          <p:cNvCxnSpPr>
            <a:stCxn id="180" idx="1"/>
            <a:endCxn id="174" idx="5"/>
          </p:cNvCxnSpPr>
          <p:nvPr/>
        </p:nvCxnSpPr>
        <p:spPr>
          <a:xfrm rot="10800000">
            <a:off x="7140644" y="3044053"/>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191" name="Google Shape;191;p31"/>
          <p:cNvCxnSpPr>
            <a:stCxn id="176" idx="2"/>
            <a:endCxn id="175" idx="0"/>
          </p:cNvCxnSpPr>
          <p:nvPr/>
        </p:nvCxnSpPr>
        <p:spPr>
          <a:xfrm flipH="1">
            <a:off x="5759723" y="1407751"/>
            <a:ext cx="807600" cy="276300"/>
          </a:xfrm>
          <a:prstGeom prst="straightConnector1">
            <a:avLst/>
          </a:prstGeom>
          <a:noFill/>
          <a:ln cap="flat" cmpd="sng" w="28575">
            <a:solidFill>
              <a:srgbClr val="FF00FF"/>
            </a:solidFill>
            <a:prstDash val="solid"/>
            <a:round/>
            <a:headEnd len="med" w="med" type="none"/>
            <a:tailEnd len="med" w="med" type="none"/>
          </a:ln>
        </p:spPr>
      </p:cxnSp>
      <p:cxnSp>
        <p:nvCxnSpPr>
          <p:cNvPr id="192" name="Google Shape;192;p31"/>
          <p:cNvCxnSpPr>
            <a:stCxn id="175" idx="3"/>
            <a:endCxn id="181" idx="0"/>
          </p:cNvCxnSpPr>
          <p:nvPr/>
        </p:nvCxnSpPr>
        <p:spPr>
          <a:xfrm>
            <a:off x="5563098" y="2115333"/>
            <a:ext cx="13500" cy="382200"/>
          </a:xfrm>
          <a:prstGeom prst="straightConnector1">
            <a:avLst/>
          </a:prstGeom>
          <a:noFill/>
          <a:ln cap="flat" cmpd="sng" w="28575">
            <a:solidFill>
              <a:srgbClr val="FF00FF"/>
            </a:solidFill>
            <a:prstDash val="solid"/>
            <a:round/>
            <a:headEnd len="med" w="med" type="none"/>
            <a:tailEnd len="med" w="med" type="none"/>
          </a:ln>
        </p:spPr>
      </p:cxnSp>
      <p:cxnSp>
        <p:nvCxnSpPr>
          <p:cNvPr id="193" name="Google Shape;193;p31"/>
          <p:cNvCxnSpPr>
            <a:stCxn id="176" idx="3"/>
            <a:endCxn id="181" idx="7"/>
          </p:cNvCxnSpPr>
          <p:nvPr/>
        </p:nvCxnSpPr>
        <p:spPr>
          <a:xfrm flipH="1">
            <a:off x="5773421" y="1586366"/>
            <a:ext cx="875400" cy="985200"/>
          </a:xfrm>
          <a:prstGeom prst="straightConnector1">
            <a:avLst/>
          </a:prstGeom>
          <a:noFill/>
          <a:ln cap="flat" cmpd="sng" w="28575">
            <a:solidFill>
              <a:srgbClr val="FF00FF"/>
            </a:solidFill>
            <a:prstDash val="solid"/>
            <a:round/>
            <a:headEnd len="med" w="med" type="none"/>
            <a:tailEnd len="med" w="med" type="none"/>
          </a:ln>
        </p:spPr>
      </p:cxnSp>
      <p:cxnSp>
        <p:nvCxnSpPr>
          <p:cNvPr id="194" name="Google Shape;194;p31"/>
          <p:cNvCxnSpPr>
            <a:stCxn id="176" idx="3"/>
            <a:endCxn id="178" idx="0"/>
          </p:cNvCxnSpPr>
          <p:nvPr/>
        </p:nvCxnSpPr>
        <p:spPr>
          <a:xfrm flipH="1">
            <a:off x="5759921" y="1586366"/>
            <a:ext cx="888900" cy="1724400"/>
          </a:xfrm>
          <a:prstGeom prst="straightConnector1">
            <a:avLst/>
          </a:prstGeom>
          <a:noFill/>
          <a:ln cap="flat" cmpd="sng" w="28575">
            <a:solidFill>
              <a:srgbClr val="FF00FF"/>
            </a:solidFill>
            <a:prstDash val="solid"/>
            <a:round/>
            <a:headEnd len="med" w="med" type="none"/>
            <a:tailEnd len="med" w="med" type="none"/>
          </a:ln>
        </p:spPr>
      </p:cxnSp>
      <p:cxnSp>
        <p:nvCxnSpPr>
          <p:cNvPr id="195" name="Google Shape;195;p31"/>
          <p:cNvCxnSpPr>
            <a:stCxn id="181" idx="4"/>
            <a:endCxn id="178" idx="0"/>
          </p:cNvCxnSpPr>
          <p:nvPr/>
        </p:nvCxnSpPr>
        <p:spPr>
          <a:xfrm>
            <a:off x="5576563" y="3002706"/>
            <a:ext cx="183300" cy="308100"/>
          </a:xfrm>
          <a:prstGeom prst="straightConnector1">
            <a:avLst/>
          </a:prstGeom>
          <a:noFill/>
          <a:ln cap="flat" cmpd="sng" w="28575">
            <a:solidFill>
              <a:srgbClr val="FF00FF"/>
            </a:solidFill>
            <a:prstDash val="solid"/>
            <a:round/>
            <a:headEnd len="med" w="med" type="none"/>
            <a:tailEnd len="med" w="med" type="none"/>
          </a:ln>
        </p:spPr>
      </p:cxnSp>
      <p:cxnSp>
        <p:nvCxnSpPr>
          <p:cNvPr id="196" name="Google Shape;196;p31"/>
          <p:cNvCxnSpPr>
            <a:stCxn id="175" idx="5"/>
            <a:endCxn id="178" idx="7"/>
          </p:cNvCxnSpPr>
          <p:nvPr/>
        </p:nvCxnSpPr>
        <p:spPr>
          <a:xfrm>
            <a:off x="5956602" y="2115333"/>
            <a:ext cx="0" cy="1269600"/>
          </a:xfrm>
          <a:prstGeom prst="straightConnector1">
            <a:avLst/>
          </a:prstGeom>
          <a:noFill/>
          <a:ln cap="flat" cmpd="sng" w="28575">
            <a:solidFill>
              <a:srgbClr val="FF00FF"/>
            </a:solidFill>
            <a:prstDash val="solid"/>
            <a:round/>
            <a:headEnd len="med" w="med" type="none"/>
            <a:tailEnd len="med" w="med" type="none"/>
          </a:ln>
        </p:spPr>
      </p:cxnSp>
      <p:cxnSp>
        <p:nvCxnSpPr>
          <p:cNvPr id="197" name="Google Shape;197;p31"/>
          <p:cNvCxnSpPr>
            <a:stCxn id="182" idx="3"/>
            <a:endCxn id="178" idx="6"/>
          </p:cNvCxnSpPr>
          <p:nvPr/>
        </p:nvCxnSpPr>
        <p:spPr>
          <a:xfrm flipH="1">
            <a:off x="6038010" y="2928721"/>
            <a:ext cx="1879800" cy="634800"/>
          </a:xfrm>
          <a:prstGeom prst="straightConnector1">
            <a:avLst/>
          </a:prstGeom>
          <a:noFill/>
          <a:ln cap="flat" cmpd="sng" w="28575">
            <a:solidFill>
              <a:srgbClr val="FF00FF"/>
            </a:solidFill>
            <a:prstDash val="solid"/>
            <a:round/>
            <a:headEnd len="med" w="med" type="none"/>
            <a:tailEnd len="med" w="med" type="none"/>
          </a:ln>
        </p:spPr>
      </p:cxnSp>
      <p:cxnSp>
        <p:nvCxnSpPr>
          <p:cNvPr id="198" name="Google Shape;198;p31"/>
          <p:cNvCxnSpPr>
            <a:stCxn id="179" idx="2"/>
            <a:endCxn id="178" idx="5"/>
          </p:cNvCxnSpPr>
          <p:nvPr/>
        </p:nvCxnSpPr>
        <p:spPr>
          <a:xfrm rot="10800000">
            <a:off x="5956486" y="3742201"/>
            <a:ext cx="628200" cy="374100"/>
          </a:xfrm>
          <a:prstGeom prst="straightConnector1">
            <a:avLst/>
          </a:prstGeom>
          <a:noFill/>
          <a:ln cap="flat" cmpd="sng" w="28575">
            <a:solidFill>
              <a:srgbClr val="FF00FF"/>
            </a:solidFill>
            <a:prstDash val="solid"/>
            <a:round/>
            <a:headEnd len="med" w="med" type="none"/>
            <a:tailEnd len="med" w="med" type="none"/>
          </a:ln>
        </p:spPr>
      </p:cxnSp>
      <p:cxnSp>
        <p:nvCxnSpPr>
          <p:cNvPr id="199" name="Google Shape;199;p31"/>
          <p:cNvCxnSpPr>
            <a:stCxn id="180" idx="3"/>
          </p:cNvCxnSpPr>
          <p:nvPr/>
        </p:nvCxnSpPr>
        <p:spPr>
          <a:xfrm flipH="1">
            <a:off x="7139144" y="3742083"/>
            <a:ext cx="526200" cy="344100"/>
          </a:xfrm>
          <a:prstGeom prst="straightConnector1">
            <a:avLst/>
          </a:prstGeom>
          <a:noFill/>
          <a:ln cap="flat" cmpd="sng" w="28575">
            <a:solidFill>
              <a:srgbClr val="FF00FF"/>
            </a:solidFill>
            <a:prstDash val="solid"/>
            <a:round/>
            <a:headEnd len="med" w="med" type="none"/>
            <a:tailEnd len="med" w="med" type="none"/>
          </a:ln>
        </p:spPr>
      </p:cxnSp>
      <p:cxnSp>
        <p:nvCxnSpPr>
          <p:cNvPr id="200" name="Google Shape;200;p31"/>
          <p:cNvCxnSpPr>
            <a:stCxn id="182" idx="4"/>
            <a:endCxn id="180" idx="7"/>
          </p:cNvCxnSpPr>
          <p:nvPr/>
        </p:nvCxnSpPr>
        <p:spPr>
          <a:xfrm flipH="1">
            <a:off x="8058763" y="3002706"/>
            <a:ext cx="55800" cy="382200"/>
          </a:xfrm>
          <a:prstGeom prst="straightConnector1">
            <a:avLst/>
          </a:prstGeom>
          <a:noFill/>
          <a:ln cap="flat" cmpd="sng" w="28575">
            <a:solidFill>
              <a:srgbClr val="FF00FF"/>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Measuring ego networks: Four steps</a:t>
            </a:r>
            <a:endParaRPr/>
          </a:p>
        </p:txBody>
      </p:sp>
      <p:sp>
        <p:nvSpPr>
          <p:cNvPr id="206" name="Google Shape;206;p32"/>
          <p:cNvSpPr txBox="1"/>
          <p:nvPr>
            <p:ph idx="1" type="body"/>
          </p:nvPr>
        </p:nvSpPr>
        <p:spPr>
          <a:xfrm>
            <a:off x="311700" y="1225225"/>
            <a:ext cx="4802700" cy="33540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AutoNum type="arabicPeriod"/>
            </a:pPr>
            <a:r>
              <a:rPr lang="en"/>
              <a:t>Pick a type of relation you are interested in	</a:t>
            </a:r>
            <a:endParaRPr/>
          </a:p>
          <a:p>
            <a:pPr indent="-317500" lvl="1" marL="914400" marR="0" rtl="0" algn="l">
              <a:lnSpc>
                <a:spcPct val="115000"/>
              </a:lnSpc>
              <a:spcBef>
                <a:spcPts val="0"/>
              </a:spcBef>
              <a:spcAft>
                <a:spcPts val="0"/>
              </a:spcAft>
              <a:buSzPts val="1400"/>
              <a:buChar char="○"/>
            </a:pPr>
            <a:r>
              <a:rPr lang="en"/>
              <a:t>This defines your </a:t>
            </a:r>
            <a:r>
              <a:rPr b="1" lang="en"/>
              <a:t>name generator</a:t>
            </a:r>
            <a:endParaRPr/>
          </a:p>
          <a:p>
            <a:pPr indent="-342900" lvl="0" marL="457200" marR="0" rtl="0" algn="l">
              <a:lnSpc>
                <a:spcPct val="115000"/>
              </a:lnSpc>
              <a:spcBef>
                <a:spcPts val="0"/>
              </a:spcBef>
              <a:spcAft>
                <a:spcPts val="0"/>
              </a:spcAft>
              <a:buSzPts val="1800"/>
              <a:buAutoNum type="arabicPeriod"/>
            </a:pPr>
            <a:r>
              <a:rPr lang="en"/>
              <a:t>Pick a maximum number of </a:t>
            </a:r>
            <a:r>
              <a:rPr b="1" lang="en"/>
              <a:t>alters</a:t>
            </a:r>
            <a:endParaRPr b="1"/>
          </a:p>
          <a:p>
            <a:pPr indent="-317500" lvl="1" marL="914400" marR="0" rtl="0" algn="l">
              <a:lnSpc>
                <a:spcPct val="115000"/>
              </a:lnSpc>
              <a:spcBef>
                <a:spcPts val="0"/>
              </a:spcBef>
              <a:spcAft>
                <a:spcPts val="0"/>
              </a:spcAft>
              <a:buSzPts val="1400"/>
              <a:buChar char="○"/>
            </a:pPr>
            <a:r>
              <a:rPr lang="en"/>
              <a:t>E.g. 5-20</a:t>
            </a:r>
            <a:endParaRPr/>
          </a:p>
          <a:p>
            <a:pPr indent="-342900" lvl="0" marL="457200" marR="0" rtl="0" algn="l">
              <a:lnSpc>
                <a:spcPct val="115000"/>
              </a:lnSpc>
              <a:spcBef>
                <a:spcPts val="0"/>
              </a:spcBef>
              <a:spcAft>
                <a:spcPts val="0"/>
              </a:spcAft>
              <a:buSzPts val="1800"/>
              <a:buAutoNum type="arabicPeriod"/>
            </a:pPr>
            <a:r>
              <a:rPr lang="en"/>
              <a:t>Pick a set of alter and tie-level characteristics you are interested in</a:t>
            </a:r>
            <a:endParaRPr/>
          </a:p>
          <a:p>
            <a:pPr indent="-317500" lvl="1" marL="914400" marR="0" rtl="0" algn="l">
              <a:lnSpc>
                <a:spcPct val="115000"/>
              </a:lnSpc>
              <a:spcBef>
                <a:spcPts val="0"/>
              </a:spcBef>
              <a:spcAft>
                <a:spcPts val="0"/>
              </a:spcAft>
              <a:buSzPts val="1400"/>
              <a:buChar char="○"/>
            </a:pPr>
            <a:r>
              <a:rPr lang="en"/>
              <a:t>This defines your </a:t>
            </a:r>
            <a:r>
              <a:rPr b="1" lang="en"/>
              <a:t>name interpreter</a:t>
            </a:r>
            <a:endParaRPr b="1"/>
          </a:p>
          <a:p>
            <a:pPr indent="-342900" lvl="0" marL="457200" marR="0" rtl="0" algn="l">
              <a:lnSpc>
                <a:spcPct val="115000"/>
              </a:lnSpc>
              <a:spcBef>
                <a:spcPts val="0"/>
              </a:spcBef>
              <a:spcAft>
                <a:spcPts val="0"/>
              </a:spcAft>
              <a:buSzPts val="1800"/>
              <a:buAutoNum type="arabicPeriod"/>
            </a:pPr>
            <a:r>
              <a:rPr lang="en"/>
              <a:t>Collect information about relations between alters (optional)</a:t>
            </a:r>
            <a:endParaRPr/>
          </a:p>
        </p:txBody>
      </p:sp>
      <p:sp>
        <p:nvSpPr>
          <p:cNvPr id="207" name="Google Shape;207;p32"/>
          <p:cNvSpPr/>
          <p:nvPr/>
        </p:nvSpPr>
        <p:spPr>
          <a:xfrm>
            <a:off x="273025" y="2189325"/>
            <a:ext cx="4452000" cy="243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8" name="Google Shape;208;p32"/>
          <p:cNvSpPr/>
          <p:nvPr/>
        </p:nvSpPr>
        <p:spPr>
          <a:xfrm>
            <a:off x="6428125"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209" name="Google Shape;209;p32"/>
          <p:cNvSpPr/>
          <p:nvPr/>
        </p:nvSpPr>
        <p:spPr>
          <a:xfrm>
            <a:off x="5481600"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210" name="Google Shape;210;p32"/>
          <p:cNvSpPr/>
          <p:nvPr/>
        </p:nvSpPr>
        <p:spPr>
          <a:xfrm>
            <a:off x="6567323" y="115515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211" name="Google Shape;211;p32"/>
          <p:cNvSpPr/>
          <p:nvPr/>
        </p:nvSpPr>
        <p:spPr>
          <a:xfrm>
            <a:off x="7583847"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212" name="Google Shape;212;p32"/>
          <p:cNvSpPr/>
          <p:nvPr/>
        </p:nvSpPr>
        <p:spPr>
          <a:xfrm>
            <a:off x="5481600"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213" name="Google Shape;213;p32"/>
          <p:cNvSpPr/>
          <p:nvPr/>
        </p:nvSpPr>
        <p:spPr>
          <a:xfrm>
            <a:off x="6584686" y="386370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214" name="Google Shape;214;p32"/>
          <p:cNvSpPr/>
          <p:nvPr/>
        </p:nvSpPr>
        <p:spPr>
          <a:xfrm>
            <a:off x="7583847"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215" name="Google Shape;215;p32"/>
          <p:cNvSpPr/>
          <p:nvPr/>
        </p:nvSpPr>
        <p:spPr>
          <a:xfrm>
            <a:off x="5298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216" name="Google Shape;216;p32"/>
          <p:cNvSpPr/>
          <p:nvPr/>
        </p:nvSpPr>
        <p:spPr>
          <a:xfrm>
            <a:off x="7836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217" name="Google Shape;217;p32"/>
          <p:cNvCxnSpPr>
            <a:stCxn id="210" idx="4"/>
            <a:endCxn id="208" idx="0"/>
          </p:cNvCxnSpPr>
          <p:nvPr/>
        </p:nvCxnSpPr>
        <p:spPr>
          <a:xfrm>
            <a:off x="6845573" y="1660351"/>
            <a:ext cx="0" cy="674100"/>
          </a:xfrm>
          <a:prstGeom prst="straightConnector1">
            <a:avLst/>
          </a:prstGeom>
          <a:noFill/>
          <a:ln cap="flat" cmpd="sng" w="28575">
            <a:solidFill>
              <a:srgbClr val="0000FF"/>
            </a:solidFill>
            <a:prstDash val="solid"/>
            <a:round/>
            <a:headEnd len="med" w="med" type="none"/>
            <a:tailEnd len="med" w="med" type="none"/>
          </a:ln>
        </p:spPr>
      </p:cxnSp>
      <p:cxnSp>
        <p:nvCxnSpPr>
          <p:cNvPr id="218" name="Google Shape;218;p32"/>
          <p:cNvCxnSpPr>
            <a:stCxn id="213" idx="0"/>
            <a:endCxn id="208" idx="4"/>
          </p:cNvCxnSpPr>
          <p:nvPr/>
        </p:nvCxnSpPr>
        <p:spPr>
          <a:xfrm rot="10800000">
            <a:off x="6845536" y="3165601"/>
            <a:ext cx="17400" cy="698100"/>
          </a:xfrm>
          <a:prstGeom prst="straightConnector1">
            <a:avLst/>
          </a:prstGeom>
          <a:noFill/>
          <a:ln cap="flat" cmpd="sng" w="28575">
            <a:solidFill>
              <a:srgbClr val="0000FF"/>
            </a:solidFill>
            <a:prstDash val="solid"/>
            <a:round/>
            <a:headEnd len="med" w="med" type="none"/>
            <a:tailEnd len="med" w="med" type="none"/>
          </a:ln>
        </p:spPr>
      </p:cxnSp>
      <p:cxnSp>
        <p:nvCxnSpPr>
          <p:cNvPr id="219" name="Google Shape;219;p32"/>
          <p:cNvCxnSpPr>
            <a:stCxn id="215" idx="6"/>
            <a:endCxn id="208" idx="2"/>
          </p:cNvCxnSpPr>
          <p:nvPr/>
        </p:nvCxnSpPr>
        <p:spPr>
          <a:xfrm>
            <a:off x="58548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220" name="Google Shape;220;p32"/>
          <p:cNvCxnSpPr>
            <a:stCxn id="216" idx="2"/>
            <a:endCxn id="208" idx="6"/>
          </p:cNvCxnSpPr>
          <p:nvPr/>
        </p:nvCxnSpPr>
        <p:spPr>
          <a:xfrm rot="10800000">
            <a:off x="72630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221" name="Google Shape;221;p32"/>
          <p:cNvCxnSpPr>
            <a:stCxn id="208" idx="1"/>
            <a:endCxn id="209" idx="5"/>
          </p:cNvCxnSpPr>
          <p:nvPr/>
        </p:nvCxnSpPr>
        <p:spPr>
          <a:xfrm rot="10800000">
            <a:off x="5956693" y="2115391"/>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222" name="Google Shape;222;p32"/>
          <p:cNvCxnSpPr>
            <a:stCxn id="208" idx="7"/>
            <a:endCxn id="211" idx="3"/>
          </p:cNvCxnSpPr>
          <p:nvPr/>
        </p:nvCxnSpPr>
        <p:spPr>
          <a:xfrm flipH="1" rot="10800000">
            <a:off x="7140757" y="2115391"/>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223" name="Google Shape;223;p32"/>
          <p:cNvCxnSpPr>
            <a:stCxn id="212" idx="7"/>
            <a:endCxn id="208" idx="3"/>
          </p:cNvCxnSpPr>
          <p:nvPr/>
        </p:nvCxnSpPr>
        <p:spPr>
          <a:xfrm flipH="1" rot="10800000">
            <a:off x="5956602" y="3044053"/>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224" name="Google Shape;224;p32"/>
          <p:cNvCxnSpPr>
            <a:stCxn id="214" idx="1"/>
            <a:endCxn id="208" idx="5"/>
          </p:cNvCxnSpPr>
          <p:nvPr/>
        </p:nvCxnSpPr>
        <p:spPr>
          <a:xfrm rot="10800000">
            <a:off x="7140644" y="3044053"/>
            <a:ext cx="524700" cy="34080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Measuring ego networks: Four steps</a:t>
            </a:r>
            <a:endParaRPr/>
          </a:p>
        </p:txBody>
      </p:sp>
      <p:sp>
        <p:nvSpPr>
          <p:cNvPr id="230" name="Google Shape;230;p33"/>
          <p:cNvSpPr txBox="1"/>
          <p:nvPr>
            <p:ph idx="1" type="body"/>
          </p:nvPr>
        </p:nvSpPr>
        <p:spPr>
          <a:xfrm>
            <a:off x="311700" y="1225225"/>
            <a:ext cx="4802700" cy="33540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AutoNum type="arabicPeriod"/>
            </a:pPr>
            <a:r>
              <a:rPr lang="en"/>
              <a:t>Pick a type of relation you are interested in	</a:t>
            </a:r>
            <a:endParaRPr/>
          </a:p>
          <a:p>
            <a:pPr indent="-317500" lvl="1" marL="914400" marR="0" rtl="0" algn="l">
              <a:lnSpc>
                <a:spcPct val="115000"/>
              </a:lnSpc>
              <a:spcBef>
                <a:spcPts val="0"/>
              </a:spcBef>
              <a:spcAft>
                <a:spcPts val="0"/>
              </a:spcAft>
              <a:buSzPts val="1400"/>
              <a:buChar char="○"/>
            </a:pPr>
            <a:r>
              <a:rPr lang="en"/>
              <a:t>This defines your </a:t>
            </a:r>
            <a:r>
              <a:rPr b="1" lang="en"/>
              <a:t>name generator</a:t>
            </a:r>
            <a:endParaRPr/>
          </a:p>
          <a:p>
            <a:pPr indent="-342900" lvl="0" marL="457200" marR="0" rtl="0" algn="l">
              <a:lnSpc>
                <a:spcPct val="115000"/>
              </a:lnSpc>
              <a:spcBef>
                <a:spcPts val="0"/>
              </a:spcBef>
              <a:spcAft>
                <a:spcPts val="0"/>
              </a:spcAft>
              <a:buSzPts val="1800"/>
              <a:buAutoNum type="arabicPeriod"/>
            </a:pPr>
            <a:r>
              <a:rPr lang="en"/>
              <a:t>Pick a maximum number of </a:t>
            </a:r>
            <a:r>
              <a:rPr b="1" lang="en"/>
              <a:t>alters</a:t>
            </a:r>
            <a:endParaRPr b="1"/>
          </a:p>
          <a:p>
            <a:pPr indent="-317500" lvl="1" marL="914400" marR="0" rtl="0" algn="l">
              <a:lnSpc>
                <a:spcPct val="115000"/>
              </a:lnSpc>
              <a:spcBef>
                <a:spcPts val="0"/>
              </a:spcBef>
              <a:spcAft>
                <a:spcPts val="0"/>
              </a:spcAft>
              <a:buSzPts val="1400"/>
              <a:buChar char="○"/>
            </a:pPr>
            <a:r>
              <a:rPr lang="en"/>
              <a:t>E.g. 5-20</a:t>
            </a:r>
            <a:endParaRPr/>
          </a:p>
          <a:p>
            <a:pPr indent="-342900" lvl="0" marL="457200" marR="0" rtl="0" algn="l">
              <a:lnSpc>
                <a:spcPct val="115000"/>
              </a:lnSpc>
              <a:spcBef>
                <a:spcPts val="0"/>
              </a:spcBef>
              <a:spcAft>
                <a:spcPts val="0"/>
              </a:spcAft>
              <a:buSzPts val="1800"/>
              <a:buAutoNum type="arabicPeriod"/>
            </a:pPr>
            <a:r>
              <a:rPr lang="en"/>
              <a:t>Pick a set of alter and tie-level characteristics you are interested in</a:t>
            </a:r>
            <a:endParaRPr/>
          </a:p>
          <a:p>
            <a:pPr indent="-317500" lvl="1" marL="914400" marR="0" rtl="0" algn="l">
              <a:lnSpc>
                <a:spcPct val="115000"/>
              </a:lnSpc>
              <a:spcBef>
                <a:spcPts val="0"/>
              </a:spcBef>
              <a:spcAft>
                <a:spcPts val="0"/>
              </a:spcAft>
              <a:buSzPts val="1400"/>
              <a:buChar char="○"/>
            </a:pPr>
            <a:r>
              <a:rPr lang="en"/>
              <a:t>This defines your </a:t>
            </a:r>
            <a:r>
              <a:rPr b="1" lang="en"/>
              <a:t>name interpreter</a:t>
            </a:r>
            <a:endParaRPr b="1"/>
          </a:p>
          <a:p>
            <a:pPr indent="-342900" lvl="0" marL="457200" marR="0" rtl="0" algn="l">
              <a:lnSpc>
                <a:spcPct val="115000"/>
              </a:lnSpc>
              <a:spcBef>
                <a:spcPts val="0"/>
              </a:spcBef>
              <a:spcAft>
                <a:spcPts val="0"/>
              </a:spcAft>
              <a:buSzPts val="1800"/>
              <a:buAutoNum type="arabicPeriod"/>
            </a:pPr>
            <a:r>
              <a:rPr lang="en"/>
              <a:t>Collect information about relations between alters (optional)</a:t>
            </a:r>
            <a:endParaRPr/>
          </a:p>
        </p:txBody>
      </p:sp>
      <p:sp>
        <p:nvSpPr>
          <p:cNvPr id="231" name="Google Shape;231;p33"/>
          <p:cNvSpPr/>
          <p:nvPr/>
        </p:nvSpPr>
        <p:spPr>
          <a:xfrm>
            <a:off x="273025" y="2189325"/>
            <a:ext cx="4452000" cy="243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2" name="Google Shape;232;p33"/>
          <p:cNvSpPr/>
          <p:nvPr/>
        </p:nvSpPr>
        <p:spPr>
          <a:xfrm>
            <a:off x="6428125"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233" name="Google Shape;233;p33"/>
          <p:cNvSpPr/>
          <p:nvPr/>
        </p:nvSpPr>
        <p:spPr>
          <a:xfrm>
            <a:off x="5481600"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234" name="Google Shape;234;p33"/>
          <p:cNvSpPr/>
          <p:nvPr/>
        </p:nvSpPr>
        <p:spPr>
          <a:xfrm>
            <a:off x="6567323" y="115515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235" name="Google Shape;235;p33"/>
          <p:cNvSpPr/>
          <p:nvPr/>
        </p:nvSpPr>
        <p:spPr>
          <a:xfrm>
            <a:off x="7583847"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236" name="Google Shape;236;p33"/>
          <p:cNvSpPr/>
          <p:nvPr/>
        </p:nvSpPr>
        <p:spPr>
          <a:xfrm>
            <a:off x="5481600"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237" name="Google Shape;237;p33"/>
          <p:cNvSpPr/>
          <p:nvPr/>
        </p:nvSpPr>
        <p:spPr>
          <a:xfrm>
            <a:off x="6584686" y="386370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238" name="Google Shape;238;p33"/>
          <p:cNvSpPr/>
          <p:nvPr/>
        </p:nvSpPr>
        <p:spPr>
          <a:xfrm>
            <a:off x="7583847"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239" name="Google Shape;239;p33"/>
          <p:cNvSpPr/>
          <p:nvPr/>
        </p:nvSpPr>
        <p:spPr>
          <a:xfrm>
            <a:off x="5298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240" name="Google Shape;240;p33"/>
          <p:cNvSpPr/>
          <p:nvPr/>
        </p:nvSpPr>
        <p:spPr>
          <a:xfrm>
            <a:off x="7836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241" name="Google Shape;241;p33"/>
          <p:cNvCxnSpPr>
            <a:stCxn id="234" idx="4"/>
            <a:endCxn id="232" idx="0"/>
          </p:cNvCxnSpPr>
          <p:nvPr/>
        </p:nvCxnSpPr>
        <p:spPr>
          <a:xfrm>
            <a:off x="6845573" y="1660351"/>
            <a:ext cx="0" cy="674100"/>
          </a:xfrm>
          <a:prstGeom prst="straightConnector1">
            <a:avLst/>
          </a:prstGeom>
          <a:noFill/>
          <a:ln cap="flat" cmpd="sng" w="28575">
            <a:solidFill>
              <a:srgbClr val="FF0000"/>
            </a:solidFill>
            <a:prstDash val="solid"/>
            <a:round/>
            <a:headEnd len="med" w="med" type="none"/>
            <a:tailEnd len="med" w="med" type="none"/>
          </a:ln>
        </p:spPr>
      </p:cxnSp>
      <p:cxnSp>
        <p:nvCxnSpPr>
          <p:cNvPr id="242" name="Google Shape;242;p33"/>
          <p:cNvCxnSpPr>
            <a:stCxn id="237" idx="0"/>
            <a:endCxn id="232" idx="4"/>
          </p:cNvCxnSpPr>
          <p:nvPr/>
        </p:nvCxnSpPr>
        <p:spPr>
          <a:xfrm rot="10800000">
            <a:off x="6845536" y="3165601"/>
            <a:ext cx="17400" cy="698100"/>
          </a:xfrm>
          <a:prstGeom prst="straightConnector1">
            <a:avLst/>
          </a:prstGeom>
          <a:noFill/>
          <a:ln cap="flat" cmpd="sng" w="28575">
            <a:solidFill>
              <a:srgbClr val="FF0000"/>
            </a:solidFill>
            <a:prstDash val="solid"/>
            <a:round/>
            <a:headEnd len="med" w="med" type="none"/>
            <a:tailEnd len="med" w="med" type="none"/>
          </a:ln>
        </p:spPr>
      </p:cxnSp>
      <p:cxnSp>
        <p:nvCxnSpPr>
          <p:cNvPr id="243" name="Google Shape;243;p33"/>
          <p:cNvCxnSpPr>
            <a:stCxn id="239" idx="6"/>
            <a:endCxn id="232" idx="2"/>
          </p:cNvCxnSpPr>
          <p:nvPr/>
        </p:nvCxnSpPr>
        <p:spPr>
          <a:xfrm>
            <a:off x="5854813" y="2750106"/>
            <a:ext cx="573300" cy="0"/>
          </a:xfrm>
          <a:prstGeom prst="straightConnector1">
            <a:avLst/>
          </a:prstGeom>
          <a:noFill/>
          <a:ln cap="flat" cmpd="sng" w="28575">
            <a:solidFill>
              <a:srgbClr val="FF0000"/>
            </a:solidFill>
            <a:prstDash val="solid"/>
            <a:round/>
            <a:headEnd len="med" w="med" type="none"/>
            <a:tailEnd len="med" w="med" type="none"/>
          </a:ln>
        </p:spPr>
      </p:cxnSp>
      <p:cxnSp>
        <p:nvCxnSpPr>
          <p:cNvPr id="244" name="Google Shape;244;p33"/>
          <p:cNvCxnSpPr>
            <a:stCxn id="240" idx="2"/>
            <a:endCxn id="232" idx="6"/>
          </p:cNvCxnSpPr>
          <p:nvPr/>
        </p:nvCxnSpPr>
        <p:spPr>
          <a:xfrm rot="10800000">
            <a:off x="7263013" y="2750106"/>
            <a:ext cx="573300" cy="0"/>
          </a:xfrm>
          <a:prstGeom prst="straightConnector1">
            <a:avLst/>
          </a:prstGeom>
          <a:noFill/>
          <a:ln cap="flat" cmpd="sng" w="28575">
            <a:solidFill>
              <a:srgbClr val="FF0000"/>
            </a:solidFill>
            <a:prstDash val="solid"/>
            <a:round/>
            <a:headEnd len="med" w="med" type="none"/>
            <a:tailEnd len="med" w="med" type="none"/>
          </a:ln>
        </p:spPr>
      </p:cxnSp>
      <p:cxnSp>
        <p:nvCxnSpPr>
          <p:cNvPr id="245" name="Google Shape;245;p33"/>
          <p:cNvCxnSpPr>
            <a:stCxn id="232" idx="1"/>
            <a:endCxn id="233" idx="5"/>
          </p:cNvCxnSpPr>
          <p:nvPr/>
        </p:nvCxnSpPr>
        <p:spPr>
          <a:xfrm rot="10800000">
            <a:off x="5956693" y="2115391"/>
            <a:ext cx="593700" cy="340800"/>
          </a:xfrm>
          <a:prstGeom prst="straightConnector1">
            <a:avLst/>
          </a:prstGeom>
          <a:noFill/>
          <a:ln cap="flat" cmpd="sng" w="28575">
            <a:solidFill>
              <a:srgbClr val="FF0000"/>
            </a:solidFill>
            <a:prstDash val="solid"/>
            <a:round/>
            <a:headEnd len="med" w="med" type="none"/>
            <a:tailEnd len="med" w="med" type="none"/>
          </a:ln>
        </p:spPr>
      </p:cxnSp>
      <p:cxnSp>
        <p:nvCxnSpPr>
          <p:cNvPr id="246" name="Google Shape;246;p33"/>
          <p:cNvCxnSpPr>
            <a:stCxn id="232" idx="7"/>
            <a:endCxn id="235" idx="3"/>
          </p:cNvCxnSpPr>
          <p:nvPr/>
        </p:nvCxnSpPr>
        <p:spPr>
          <a:xfrm flipH="1" rot="10800000">
            <a:off x="7140757" y="2115391"/>
            <a:ext cx="524700" cy="340800"/>
          </a:xfrm>
          <a:prstGeom prst="straightConnector1">
            <a:avLst/>
          </a:prstGeom>
          <a:noFill/>
          <a:ln cap="flat" cmpd="sng" w="28575">
            <a:solidFill>
              <a:srgbClr val="FF0000"/>
            </a:solidFill>
            <a:prstDash val="solid"/>
            <a:round/>
            <a:headEnd len="med" w="med" type="none"/>
            <a:tailEnd len="med" w="med" type="none"/>
          </a:ln>
        </p:spPr>
      </p:cxnSp>
      <p:cxnSp>
        <p:nvCxnSpPr>
          <p:cNvPr id="247" name="Google Shape;247;p33"/>
          <p:cNvCxnSpPr>
            <a:stCxn id="236" idx="7"/>
            <a:endCxn id="232" idx="3"/>
          </p:cNvCxnSpPr>
          <p:nvPr/>
        </p:nvCxnSpPr>
        <p:spPr>
          <a:xfrm flipH="1" rot="10800000">
            <a:off x="5956602" y="3044053"/>
            <a:ext cx="593700" cy="340800"/>
          </a:xfrm>
          <a:prstGeom prst="straightConnector1">
            <a:avLst/>
          </a:prstGeom>
          <a:noFill/>
          <a:ln cap="flat" cmpd="sng" w="28575">
            <a:solidFill>
              <a:srgbClr val="FF0000"/>
            </a:solidFill>
            <a:prstDash val="solid"/>
            <a:round/>
            <a:headEnd len="med" w="med" type="none"/>
            <a:tailEnd len="med" w="med" type="none"/>
          </a:ln>
        </p:spPr>
      </p:cxnSp>
      <p:cxnSp>
        <p:nvCxnSpPr>
          <p:cNvPr id="248" name="Google Shape;248;p33"/>
          <p:cNvCxnSpPr>
            <a:stCxn id="238" idx="1"/>
            <a:endCxn id="232" idx="5"/>
          </p:cNvCxnSpPr>
          <p:nvPr/>
        </p:nvCxnSpPr>
        <p:spPr>
          <a:xfrm rot="10800000">
            <a:off x="7140644" y="3044053"/>
            <a:ext cx="524700" cy="3408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Measuring ego networks: Four steps</a:t>
            </a:r>
            <a:endParaRPr/>
          </a:p>
        </p:txBody>
      </p:sp>
      <p:sp>
        <p:nvSpPr>
          <p:cNvPr id="254" name="Google Shape;254;p34"/>
          <p:cNvSpPr txBox="1"/>
          <p:nvPr>
            <p:ph idx="1" type="body"/>
          </p:nvPr>
        </p:nvSpPr>
        <p:spPr>
          <a:xfrm>
            <a:off x="311700" y="1225225"/>
            <a:ext cx="4802700" cy="33540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AutoNum type="arabicPeriod"/>
            </a:pPr>
            <a:r>
              <a:rPr lang="en"/>
              <a:t>Pick a type of relation you are interested in	</a:t>
            </a:r>
            <a:endParaRPr/>
          </a:p>
          <a:p>
            <a:pPr indent="-317500" lvl="1" marL="914400" marR="0" rtl="0" algn="l">
              <a:lnSpc>
                <a:spcPct val="115000"/>
              </a:lnSpc>
              <a:spcBef>
                <a:spcPts val="0"/>
              </a:spcBef>
              <a:spcAft>
                <a:spcPts val="0"/>
              </a:spcAft>
              <a:buSzPts val="1400"/>
              <a:buChar char="○"/>
            </a:pPr>
            <a:r>
              <a:rPr lang="en"/>
              <a:t>This defines your </a:t>
            </a:r>
            <a:r>
              <a:rPr b="1" lang="en"/>
              <a:t>name generator</a:t>
            </a:r>
            <a:endParaRPr/>
          </a:p>
          <a:p>
            <a:pPr indent="-342900" lvl="0" marL="457200" marR="0" rtl="0" algn="l">
              <a:lnSpc>
                <a:spcPct val="115000"/>
              </a:lnSpc>
              <a:spcBef>
                <a:spcPts val="0"/>
              </a:spcBef>
              <a:spcAft>
                <a:spcPts val="0"/>
              </a:spcAft>
              <a:buSzPts val="1800"/>
              <a:buAutoNum type="arabicPeriod"/>
            </a:pPr>
            <a:r>
              <a:rPr lang="en"/>
              <a:t>Pick a maximum number of </a:t>
            </a:r>
            <a:r>
              <a:rPr b="1" lang="en"/>
              <a:t>alters</a:t>
            </a:r>
            <a:endParaRPr b="1"/>
          </a:p>
          <a:p>
            <a:pPr indent="-317500" lvl="1" marL="914400" marR="0" rtl="0" algn="l">
              <a:lnSpc>
                <a:spcPct val="115000"/>
              </a:lnSpc>
              <a:spcBef>
                <a:spcPts val="0"/>
              </a:spcBef>
              <a:spcAft>
                <a:spcPts val="0"/>
              </a:spcAft>
              <a:buSzPts val="1400"/>
              <a:buChar char="○"/>
            </a:pPr>
            <a:r>
              <a:rPr lang="en"/>
              <a:t>E.g. 5-20</a:t>
            </a:r>
            <a:endParaRPr/>
          </a:p>
          <a:p>
            <a:pPr indent="-342900" lvl="0" marL="457200" marR="0" rtl="0" algn="l">
              <a:lnSpc>
                <a:spcPct val="115000"/>
              </a:lnSpc>
              <a:spcBef>
                <a:spcPts val="0"/>
              </a:spcBef>
              <a:spcAft>
                <a:spcPts val="0"/>
              </a:spcAft>
              <a:buSzPts val="1800"/>
              <a:buAutoNum type="arabicPeriod"/>
            </a:pPr>
            <a:r>
              <a:rPr lang="en"/>
              <a:t>Pick a set of alter and tie-level characteristics you are interested in</a:t>
            </a:r>
            <a:endParaRPr/>
          </a:p>
          <a:p>
            <a:pPr indent="-317500" lvl="1" marL="914400" marR="0" rtl="0" algn="l">
              <a:lnSpc>
                <a:spcPct val="115000"/>
              </a:lnSpc>
              <a:spcBef>
                <a:spcPts val="0"/>
              </a:spcBef>
              <a:spcAft>
                <a:spcPts val="0"/>
              </a:spcAft>
              <a:buSzPts val="1400"/>
              <a:buChar char="○"/>
            </a:pPr>
            <a:r>
              <a:rPr lang="en"/>
              <a:t>This defines your </a:t>
            </a:r>
            <a:r>
              <a:rPr b="1" lang="en"/>
              <a:t>name interpreter</a:t>
            </a:r>
            <a:endParaRPr b="1"/>
          </a:p>
          <a:p>
            <a:pPr indent="-342900" lvl="0" marL="457200" marR="0" rtl="0" algn="l">
              <a:lnSpc>
                <a:spcPct val="115000"/>
              </a:lnSpc>
              <a:spcBef>
                <a:spcPts val="0"/>
              </a:spcBef>
              <a:spcAft>
                <a:spcPts val="0"/>
              </a:spcAft>
              <a:buSzPts val="1800"/>
              <a:buAutoNum type="arabicPeriod"/>
            </a:pPr>
            <a:r>
              <a:rPr lang="en"/>
              <a:t>Collect information about relations between alters (optional)</a:t>
            </a:r>
            <a:endParaRPr/>
          </a:p>
        </p:txBody>
      </p:sp>
      <p:sp>
        <p:nvSpPr>
          <p:cNvPr id="255" name="Google Shape;255;p34"/>
          <p:cNvSpPr/>
          <p:nvPr/>
        </p:nvSpPr>
        <p:spPr>
          <a:xfrm>
            <a:off x="273025" y="2802575"/>
            <a:ext cx="4452000" cy="1821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56" name="Google Shape;256;p34"/>
          <p:cNvSpPr/>
          <p:nvPr/>
        </p:nvSpPr>
        <p:spPr>
          <a:xfrm>
            <a:off x="6428125"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257" name="Google Shape;257;p34"/>
          <p:cNvSpPr/>
          <p:nvPr/>
        </p:nvSpPr>
        <p:spPr>
          <a:xfrm>
            <a:off x="5481600"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258" name="Google Shape;258;p34"/>
          <p:cNvSpPr/>
          <p:nvPr/>
        </p:nvSpPr>
        <p:spPr>
          <a:xfrm>
            <a:off x="6567323" y="115515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259" name="Google Shape;259;p34"/>
          <p:cNvSpPr/>
          <p:nvPr/>
        </p:nvSpPr>
        <p:spPr>
          <a:xfrm>
            <a:off x="7583847"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260" name="Google Shape;260;p34"/>
          <p:cNvSpPr/>
          <p:nvPr/>
        </p:nvSpPr>
        <p:spPr>
          <a:xfrm>
            <a:off x="5481600"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261" name="Google Shape;261;p34"/>
          <p:cNvSpPr/>
          <p:nvPr/>
        </p:nvSpPr>
        <p:spPr>
          <a:xfrm>
            <a:off x="6584686" y="386370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262" name="Google Shape;262;p34"/>
          <p:cNvSpPr/>
          <p:nvPr/>
        </p:nvSpPr>
        <p:spPr>
          <a:xfrm>
            <a:off x="7583847"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263" name="Google Shape;263;p34"/>
          <p:cNvSpPr/>
          <p:nvPr/>
        </p:nvSpPr>
        <p:spPr>
          <a:xfrm>
            <a:off x="5298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264" name="Google Shape;264;p34"/>
          <p:cNvSpPr/>
          <p:nvPr/>
        </p:nvSpPr>
        <p:spPr>
          <a:xfrm>
            <a:off x="7836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265" name="Google Shape;265;p34"/>
          <p:cNvCxnSpPr>
            <a:stCxn id="258" idx="4"/>
            <a:endCxn id="256" idx="0"/>
          </p:cNvCxnSpPr>
          <p:nvPr/>
        </p:nvCxnSpPr>
        <p:spPr>
          <a:xfrm>
            <a:off x="6845573" y="1660351"/>
            <a:ext cx="0" cy="674100"/>
          </a:xfrm>
          <a:prstGeom prst="straightConnector1">
            <a:avLst/>
          </a:prstGeom>
          <a:noFill/>
          <a:ln cap="flat" cmpd="sng" w="28575">
            <a:solidFill>
              <a:srgbClr val="0000FF"/>
            </a:solidFill>
            <a:prstDash val="solid"/>
            <a:round/>
            <a:headEnd len="med" w="med" type="none"/>
            <a:tailEnd len="med" w="med" type="none"/>
          </a:ln>
        </p:spPr>
      </p:cxnSp>
      <p:cxnSp>
        <p:nvCxnSpPr>
          <p:cNvPr id="266" name="Google Shape;266;p34"/>
          <p:cNvCxnSpPr>
            <a:stCxn id="261" idx="0"/>
            <a:endCxn id="256" idx="4"/>
          </p:cNvCxnSpPr>
          <p:nvPr/>
        </p:nvCxnSpPr>
        <p:spPr>
          <a:xfrm rot="10800000">
            <a:off x="6845536" y="3165601"/>
            <a:ext cx="17400" cy="698100"/>
          </a:xfrm>
          <a:prstGeom prst="straightConnector1">
            <a:avLst/>
          </a:prstGeom>
          <a:noFill/>
          <a:ln cap="flat" cmpd="sng" w="28575">
            <a:solidFill>
              <a:srgbClr val="0000FF"/>
            </a:solidFill>
            <a:prstDash val="solid"/>
            <a:round/>
            <a:headEnd len="med" w="med" type="none"/>
            <a:tailEnd len="med" w="med" type="none"/>
          </a:ln>
        </p:spPr>
      </p:cxnSp>
      <p:cxnSp>
        <p:nvCxnSpPr>
          <p:cNvPr id="267" name="Google Shape;267;p34"/>
          <p:cNvCxnSpPr>
            <a:stCxn id="263" idx="6"/>
            <a:endCxn id="256" idx="2"/>
          </p:cNvCxnSpPr>
          <p:nvPr/>
        </p:nvCxnSpPr>
        <p:spPr>
          <a:xfrm>
            <a:off x="58548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268" name="Google Shape;268;p34"/>
          <p:cNvCxnSpPr>
            <a:stCxn id="264" idx="2"/>
            <a:endCxn id="256" idx="6"/>
          </p:cNvCxnSpPr>
          <p:nvPr/>
        </p:nvCxnSpPr>
        <p:spPr>
          <a:xfrm rot="10800000">
            <a:off x="72630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269" name="Google Shape;269;p34"/>
          <p:cNvCxnSpPr>
            <a:stCxn id="256" idx="1"/>
            <a:endCxn id="257" idx="5"/>
          </p:cNvCxnSpPr>
          <p:nvPr/>
        </p:nvCxnSpPr>
        <p:spPr>
          <a:xfrm rot="10800000">
            <a:off x="5956693" y="2115391"/>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270" name="Google Shape;270;p34"/>
          <p:cNvCxnSpPr>
            <a:stCxn id="256" idx="7"/>
            <a:endCxn id="259" idx="3"/>
          </p:cNvCxnSpPr>
          <p:nvPr/>
        </p:nvCxnSpPr>
        <p:spPr>
          <a:xfrm flipH="1" rot="10800000">
            <a:off x="7140757" y="2115391"/>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271" name="Google Shape;271;p34"/>
          <p:cNvCxnSpPr>
            <a:stCxn id="260" idx="7"/>
            <a:endCxn id="256" idx="3"/>
          </p:cNvCxnSpPr>
          <p:nvPr/>
        </p:nvCxnSpPr>
        <p:spPr>
          <a:xfrm flipH="1" rot="10800000">
            <a:off x="5956602" y="3044053"/>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272" name="Google Shape;272;p34"/>
          <p:cNvCxnSpPr>
            <a:stCxn id="262" idx="1"/>
            <a:endCxn id="256" idx="5"/>
          </p:cNvCxnSpPr>
          <p:nvPr/>
        </p:nvCxnSpPr>
        <p:spPr>
          <a:xfrm rot="10800000">
            <a:off x="7140644" y="3044053"/>
            <a:ext cx="524700" cy="34080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Measuring ego networks: Four steps</a:t>
            </a:r>
            <a:endParaRPr/>
          </a:p>
        </p:txBody>
      </p:sp>
      <p:sp>
        <p:nvSpPr>
          <p:cNvPr id="278" name="Google Shape;278;p35"/>
          <p:cNvSpPr txBox="1"/>
          <p:nvPr>
            <p:ph idx="1" type="body"/>
          </p:nvPr>
        </p:nvSpPr>
        <p:spPr>
          <a:xfrm>
            <a:off x="311700" y="1225225"/>
            <a:ext cx="4802700" cy="33540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AutoNum type="arabicPeriod"/>
            </a:pPr>
            <a:r>
              <a:rPr lang="en"/>
              <a:t>Pick a type of relation you are interested in	</a:t>
            </a:r>
            <a:endParaRPr/>
          </a:p>
          <a:p>
            <a:pPr indent="-317500" lvl="1" marL="914400" marR="0" rtl="0" algn="l">
              <a:lnSpc>
                <a:spcPct val="115000"/>
              </a:lnSpc>
              <a:spcBef>
                <a:spcPts val="0"/>
              </a:spcBef>
              <a:spcAft>
                <a:spcPts val="0"/>
              </a:spcAft>
              <a:buSzPts val="1400"/>
              <a:buChar char="○"/>
            </a:pPr>
            <a:r>
              <a:rPr lang="en"/>
              <a:t>This defines your </a:t>
            </a:r>
            <a:r>
              <a:rPr b="1" lang="en"/>
              <a:t>name generator</a:t>
            </a:r>
            <a:endParaRPr/>
          </a:p>
          <a:p>
            <a:pPr indent="-342900" lvl="0" marL="457200" marR="0" rtl="0" algn="l">
              <a:lnSpc>
                <a:spcPct val="115000"/>
              </a:lnSpc>
              <a:spcBef>
                <a:spcPts val="0"/>
              </a:spcBef>
              <a:spcAft>
                <a:spcPts val="0"/>
              </a:spcAft>
              <a:buSzPts val="1800"/>
              <a:buAutoNum type="arabicPeriod"/>
            </a:pPr>
            <a:r>
              <a:rPr lang="en"/>
              <a:t>Pick a maximum number of </a:t>
            </a:r>
            <a:r>
              <a:rPr b="1" lang="en"/>
              <a:t>alters</a:t>
            </a:r>
            <a:endParaRPr b="1"/>
          </a:p>
          <a:p>
            <a:pPr indent="-317500" lvl="1" marL="914400" marR="0" rtl="0" algn="l">
              <a:lnSpc>
                <a:spcPct val="115000"/>
              </a:lnSpc>
              <a:spcBef>
                <a:spcPts val="0"/>
              </a:spcBef>
              <a:spcAft>
                <a:spcPts val="0"/>
              </a:spcAft>
              <a:buSzPts val="1400"/>
              <a:buChar char="○"/>
            </a:pPr>
            <a:r>
              <a:rPr lang="en"/>
              <a:t>E.g. 5-20</a:t>
            </a:r>
            <a:endParaRPr/>
          </a:p>
          <a:p>
            <a:pPr indent="-342900" lvl="0" marL="457200" marR="0" rtl="0" algn="l">
              <a:lnSpc>
                <a:spcPct val="115000"/>
              </a:lnSpc>
              <a:spcBef>
                <a:spcPts val="0"/>
              </a:spcBef>
              <a:spcAft>
                <a:spcPts val="0"/>
              </a:spcAft>
              <a:buSzPts val="1800"/>
              <a:buAutoNum type="arabicPeriod"/>
            </a:pPr>
            <a:r>
              <a:rPr lang="en"/>
              <a:t>Pick a set of alter and tie-level characteristics you are interested in</a:t>
            </a:r>
            <a:endParaRPr/>
          </a:p>
          <a:p>
            <a:pPr indent="-317500" lvl="1" marL="914400" marR="0" rtl="0" algn="l">
              <a:lnSpc>
                <a:spcPct val="115000"/>
              </a:lnSpc>
              <a:spcBef>
                <a:spcPts val="0"/>
              </a:spcBef>
              <a:spcAft>
                <a:spcPts val="0"/>
              </a:spcAft>
              <a:buSzPts val="1400"/>
              <a:buChar char="○"/>
            </a:pPr>
            <a:r>
              <a:rPr lang="en"/>
              <a:t>This defines your </a:t>
            </a:r>
            <a:r>
              <a:rPr b="1" lang="en"/>
              <a:t>name interpreter</a:t>
            </a:r>
            <a:endParaRPr b="1"/>
          </a:p>
          <a:p>
            <a:pPr indent="-342900" lvl="0" marL="457200" marR="0" rtl="0" algn="l">
              <a:lnSpc>
                <a:spcPct val="115000"/>
              </a:lnSpc>
              <a:spcBef>
                <a:spcPts val="0"/>
              </a:spcBef>
              <a:spcAft>
                <a:spcPts val="0"/>
              </a:spcAft>
              <a:buSzPts val="1800"/>
              <a:buAutoNum type="arabicPeriod"/>
            </a:pPr>
            <a:r>
              <a:rPr lang="en"/>
              <a:t>Collect information about relations between alters (optional)</a:t>
            </a:r>
            <a:endParaRPr/>
          </a:p>
        </p:txBody>
      </p:sp>
      <p:cxnSp>
        <p:nvCxnSpPr>
          <p:cNvPr id="279" name="Google Shape;279;p35"/>
          <p:cNvCxnSpPr>
            <a:stCxn id="280" idx="3"/>
            <a:endCxn id="281" idx="0"/>
          </p:cNvCxnSpPr>
          <p:nvPr/>
        </p:nvCxnSpPr>
        <p:spPr>
          <a:xfrm>
            <a:off x="5563098" y="2115333"/>
            <a:ext cx="13500" cy="382200"/>
          </a:xfrm>
          <a:prstGeom prst="straightConnector1">
            <a:avLst/>
          </a:prstGeom>
          <a:noFill/>
          <a:ln cap="flat" cmpd="sng" w="28575">
            <a:solidFill>
              <a:srgbClr val="FF00FF"/>
            </a:solidFill>
            <a:prstDash val="solid"/>
            <a:round/>
            <a:headEnd len="med" w="med" type="none"/>
            <a:tailEnd len="med" w="med" type="none"/>
          </a:ln>
        </p:spPr>
      </p:cxnSp>
      <p:sp>
        <p:nvSpPr>
          <p:cNvPr id="282" name="Google Shape;282;p35"/>
          <p:cNvSpPr/>
          <p:nvPr/>
        </p:nvSpPr>
        <p:spPr>
          <a:xfrm>
            <a:off x="273025" y="3638625"/>
            <a:ext cx="4452000" cy="98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3" name="Google Shape;283;p35"/>
          <p:cNvSpPr/>
          <p:nvPr/>
        </p:nvSpPr>
        <p:spPr>
          <a:xfrm>
            <a:off x="6428125"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284" name="Google Shape;284;p35"/>
          <p:cNvSpPr/>
          <p:nvPr/>
        </p:nvSpPr>
        <p:spPr>
          <a:xfrm>
            <a:off x="5481600"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285" name="Google Shape;285;p35"/>
          <p:cNvSpPr/>
          <p:nvPr/>
        </p:nvSpPr>
        <p:spPr>
          <a:xfrm>
            <a:off x="6567323" y="115515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286" name="Google Shape;286;p35"/>
          <p:cNvSpPr/>
          <p:nvPr/>
        </p:nvSpPr>
        <p:spPr>
          <a:xfrm>
            <a:off x="7583847"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287" name="Google Shape;287;p35"/>
          <p:cNvSpPr/>
          <p:nvPr/>
        </p:nvSpPr>
        <p:spPr>
          <a:xfrm>
            <a:off x="5481600"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288" name="Google Shape;288;p35"/>
          <p:cNvSpPr/>
          <p:nvPr/>
        </p:nvSpPr>
        <p:spPr>
          <a:xfrm>
            <a:off x="6584686" y="386370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289" name="Google Shape;289;p35"/>
          <p:cNvSpPr/>
          <p:nvPr/>
        </p:nvSpPr>
        <p:spPr>
          <a:xfrm>
            <a:off x="7583847"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290" name="Google Shape;290;p35"/>
          <p:cNvSpPr/>
          <p:nvPr/>
        </p:nvSpPr>
        <p:spPr>
          <a:xfrm>
            <a:off x="5298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291" name="Google Shape;291;p35"/>
          <p:cNvSpPr/>
          <p:nvPr/>
        </p:nvSpPr>
        <p:spPr>
          <a:xfrm>
            <a:off x="7836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292" name="Google Shape;292;p35"/>
          <p:cNvCxnSpPr>
            <a:stCxn id="285" idx="4"/>
            <a:endCxn id="283" idx="0"/>
          </p:cNvCxnSpPr>
          <p:nvPr/>
        </p:nvCxnSpPr>
        <p:spPr>
          <a:xfrm>
            <a:off x="6845573" y="1660351"/>
            <a:ext cx="0" cy="674100"/>
          </a:xfrm>
          <a:prstGeom prst="straightConnector1">
            <a:avLst/>
          </a:prstGeom>
          <a:noFill/>
          <a:ln cap="flat" cmpd="sng" w="28575">
            <a:solidFill>
              <a:srgbClr val="0000FF"/>
            </a:solidFill>
            <a:prstDash val="solid"/>
            <a:round/>
            <a:headEnd len="med" w="med" type="none"/>
            <a:tailEnd len="med" w="med" type="none"/>
          </a:ln>
        </p:spPr>
      </p:cxnSp>
      <p:cxnSp>
        <p:nvCxnSpPr>
          <p:cNvPr id="293" name="Google Shape;293;p35"/>
          <p:cNvCxnSpPr>
            <a:stCxn id="288" idx="0"/>
            <a:endCxn id="283" idx="4"/>
          </p:cNvCxnSpPr>
          <p:nvPr/>
        </p:nvCxnSpPr>
        <p:spPr>
          <a:xfrm rot="10800000">
            <a:off x="6845536" y="3165601"/>
            <a:ext cx="17400" cy="698100"/>
          </a:xfrm>
          <a:prstGeom prst="straightConnector1">
            <a:avLst/>
          </a:prstGeom>
          <a:noFill/>
          <a:ln cap="flat" cmpd="sng" w="28575">
            <a:solidFill>
              <a:srgbClr val="0000FF"/>
            </a:solidFill>
            <a:prstDash val="solid"/>
            <a:round/>
            <a:headEnd len="med" w="med" type="none"/>
            <a:tailEnd len="med" w="med" type="none"/>
          </a:ln>
        </p:spPr>
      </p:cxnSp>
      <p:cxnSp>
        <p:nvCxnSpPr>
          <p:cNvPr id="294" name="Google Shape;294;p35"/>
          <p:cNvCxnSpPr>
            <a:stCxn id="290" idx="6"/>
            <a:endCxn id="283" idx="2"/>
          </p:cNvCxnSpPr>
          <p:nvPr/>
        </p:nvCxnSpPr>
        <p:spPr>
          <a:xfrm>
            <a:off x="58548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295" name="Google Shape;295;p35"/>
          <p:cNvCxnSpPr>
            <a:stCxn id="291" idx="2"/>
            <a:endCxn id="283" idx="6"/>
          </p:cNvCxnSpPr>
          <p:nvPr/>
        </p:nvCxnSpPr>
        <p:spPr>
          <a:xfrm rot="10800000">
            <a:off x="72630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296" name="Google Shape;296;p35"/>
          <p:cNvCxnSpPr>
            <a:stCxn id="283" idx="1"/>
            <a:endCxn id="284" idx="5"/>
          </p:cNvCxnSpPr>
          <p:nvPr/>
        </p:nvCxnSpPr>
        <p:spPr>
          <a:xfrm rot="10800000">
            <a:off x="5956693" y="2115391"/>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297" name="Google Shape;297;p35"/>
          <p:cNvCxnSpPr>
            <a:stCxn id="283" idx="7"/>
            <a:endCxn id="286" idx="3"/>
          </p:cNvCxnSpPr>
          <p:nvPr/>
        </p:nvCxnSpPr>
        <p:spPr>
          <a:xfrm flipH="1" rot="10800000">
            <a:off x="7140757" y="2115391"/>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298" name="Google Shape;298;p35"/>
          <p:cNvCxnSpPr>
            <a:stCxn id="287" idx="7"/>
            <a:endCxn id="283" idx="3"/>
          </p:cNvCxnSpPr>
          <p:nvPr/>
        </p:nvCxnSpPr>
        <p:spPr>
          <a:xfrm flipH="1" rot="10800000">
            <a:off x="5956602" y="3044053"/>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299" name="Google Shape;299;p35"/>
          <p:cNvCxnSpPr>
            <a:stCxn id="289" idx="1"/>
            <a:endCxn id="283" idx="5"/>
          </p:cNvCxnSpPr>
          <p:nvPr/>
        </p:nvCxnSpPr>
        <p:spPr>
          <a:xfrm rot="10800000">
            <a:off x="7140644" y="3044053"/>
            <a:ext cx="524700" cy="34080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Measuring ego networks: Four steps</a:t>
            </a:r>
            <a:endParaRPr/>
          </a:p>
        </p:txBody>
      </p:sp>
      <p:sp>
        <p:nvSpPr>
          <p:cNvPr id="305" name="Google Shape;305;p36"/>
          <p:cNvSpPr txBox="1"/>
          <p:nvPr>
            <p:ph idx="1" type="body"/>
          </p:nvPr>
        </p:nvSpPr>
        <p:spPr>
          <a:xfrm>
            <a:off x="311700" y="1225225"/>
            <a:ext cx="4802700" cy="33540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AutoNum type="arabicPeriod"/>
            </a:pPr>
            <a:r>
              <a:rPr lang="en"/>
              <a:t>Pick a type of relation you are interested in	</a:t>
            </a:r>
            <a:endParaRPr/>
          </a:p>
          <a:p>
            <a:pPr indent="-317500" lvl="1" marL="914400" marR="0" rtl="0" algn="l">
              <a:lnSpc>
                <a:spcPct val="115000"/>
              </a:lnSpc>
              <a:spcBef>
                <a:spcPts val="0"/>
              </a:spcBef>
              <a:spcAft>
                <a:spcPts val="0"/>
              </a:spcAft>
              <a:buSzPts val="1400"/>
              <a:buChar char="○"/>
            </a:pPr>
            <a:r>
              <a:rPr lang="en"/>
              <a:t>This defines your </a:t>
            </a:r>
            <a:r>
              <a:rPr b="1" lang="en"/>
              <a:t>name generator</a:t>
            </a:r>
            <a:endParaRPr/>
          </a:p>
          <a:p>
            <a:pPr indent="-342900" lvl="0" marL="457200" marR="0" rtl="0" algn="l">
              <a:lnSpc>
                <a:spcPct val="115000"/>
              </a:lnSpc>
              <a:spcBef>
                <a:spcPts val="0"/>
              </a:spcBef>
              <a:spcAft>
                <a:spcPts val="0"/>
              </a:spcAft>
              <a:buSzPts val="1800"/>
              <a:buAutoNum type="arabicPeriod"/>
            </a:pPr>
            <a:r>
              <a:rPr lang="en"/>
              <a:t>Pick a maximum number of </a:t>
            </a:r>
            <a:r>
              <a:rPr b="1" lang="en"/>
              <a:t>alters</a:t>
            </a:r>
            <a:endParaRPr b="1"/>
          </a:p>
          <a:p>
            <a:pPr indent="-317500" lvl="1" marL="914400" marR="0" rtl="0" algn="l">
              <a:lnSpc>
                <a:spcPct val="115000"/>
              </a:lnSpc>
              <a:spcBef>
                <a:spcPts val="0"/>
              </a:spcBef>
              <a:spcAft>
                <a:spcPts val="0"/>
              </a:spcAft>
              <a:buSzPts val="1400"/>
              <a:buChar char="○"/>
            </a:pPr>
            <a:r>
              <a:rPr lang="en"/>
              <a:t>E.g. 5-20</a:t>
            </a:r>
            <a:endParaRPr/>
          </a:p>
          <a:p>
            <a:pPr indent="-342900" lvl="0" marL="457200" marR="0" rtl="0" algn="l">
              <a:lnSpc>
                <a:spcPct val="115000"/>
              </a:lnSpc>
              <a:spcBef>
                <a:spcPts val="0"/>
              </a:spcBef>
              <a:spcAft>
                <a:spcPts val="0"/>
              </a:spcAft>
              <a:buSzPts val="1800"/>
              <a:buAutoNum type="arabicPeriod"/>
            </a:pPr>
            <a:r>
              <a:rPr lang="en"/>
              <a:t>Pick a set of alter and tie-level characteristics you are interested in</a:t>
            </a:r>
            <a:endParaRPr/>
          </a:p>
          <a:p>
            <a:pPr indent="-317500" lvl="1" marL="914400" marR="0" rtl="0" algn="l">
              <a:lnSpc>
                <a:spcPct val="115000"/>
              </a:lnSpc>
              <a:spcBef>
                <a:spcPts val="0"/>
              </a:spcBef>
              <a:spcAft>
                <a:spcPts val="0"/>
              </a:spcAft>
              <a:buSzPts val="1400"/>
              <a:buChar char="○"/>
            </a:pPr>
            <a:r>
              <a:rPr lang="en"/>
              <a:t>This defines your </a:t>
            </a:r>
            <a:r>
              <a:rPr b="1" lang="en"/>
              <a:t>name interpreter</a:t>
            </a:r>
            <a:endParaRPr b="1"/>
          </a:p>
          <a:p>
            <a:pPr indent="-342900" lvl="0" marL="457200" marR="0" rtl="0" algn="l">
              <a:lnSpc>
                <a:spcPct val="115000"/>
              </a:lnSpc>
              <a:spcBef>
                <a:spcPts val="0"/>
              </a:spcBef>
              <a:spcAft>
                <a:spcPts val="0"/>
              </a:spcAft>
              <a:buSzPts val="1800"/>
              <a:buAutoNum type="arabicPeriod"/>
            </a:pPr>
            <a:r>
              <a:rPr lang="en"/>
              <a:t>Collect information about relations between alters (optional)</a:t>
            </a:r>
            <a:endParaRPr/>
          </a:p>
        </p:txBody>
      </p:sp>
      <p:sp>
        <p:nvSpPr>
          <p:cNvPr id="306" name="Google Shape;306;p36"/>
          <p:cNvSpPr/>
          <p:nvPr/>
        </p:nvSpPr>
        <p:spPr>
          <a:xfrm>
            <a:off x="6428125"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307" name="Google Shape;307;p36"/>
          <p:cNvSpPr/>
          <p:nvPr/>
        </p:nvSpPr>
        <p:spPr>
          <a:xfrm>
            <a:off x="5481600"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308" name="Google Shape;308;p36"/>
          <p:cNvSpPr/>
          <p:nvPr/>
        </p:nvSpPr>
        <p:spPr>
          <a:xfrm>
            <a:off x="6567323" y="115515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309" name="Google Shape;309;p36"/>
          <p:cNvSpPr/>
          <p:nvPr/>
        </p:nvSpPr>
        <p:spPr>
          <a:xfrm>
            <a:off x="7583847"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310" name="Google Shape;310;p36"/>
          <p:cNvSpPr/>
          <p:nvPr/>
        </p:nvSpPr>
        <p:spPr>
          <a:xfrm>
            <a:off x="5481600"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311" name="Google Shape;311;p36"/>
          <p:cNvSpPr/>
          <p:nvPr/>
        </p:nvSpPr>
        <p:spPr>
          <a:xfrm>
            <a:off x="6584686" y="386370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312" name="Google Shape;312;p36"/>
          <p:cNvSpPr/>
          <p:nvPr/>
        </p:nvSpPr>
        <p:spPr>
          <a:xfrm>
            <a:off x="7583847"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313" name="Google Shape;313;p36"/>
          <p:cNvSpPr/>
          <p:nvPr/>
        </p:nvSpPr>
        <p:spPr>
          <a:xfrm>
            <a:off x="5298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314" name="Google Shape;314;p36"/>
          <p:cNvSpPr/>
          <p:nvPr/>
        </p:nvSpPr>
        <p:spPr>
          <a:xfrm>
            <a:off x="7836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315" name="Google Shape;315;p36"/>
          <p:cNvCxnSpPr>
            <a:stCxn id="308" idx="4"/>
            <a:endCxn id="306" idx="0"/>
          </p:cNvCxnSpPr>
          <p:nvPr/>
        </p:nvCxnSpPr>
        <p:spPr>
          <a:xfrm>
            <a:off x="6845573" y="1660351"/>
            <a:ext cx="0" cy="674100"/>
          </a:xfrm>
          <a:prstGeom prst="straightConnector1">
            <a:avLst/>
          </a:prstGeom>
          <a:noFill/>
          <a:ln cap="flat" cmpd="sng" w="28575">
            <a:solidFill>
              <a:srgbClr val="0000FF"/>
            </a:solidFill>
            <a:prstDash val="solid"/>
            <a:round/>
            <a:headEnd len="med" w="med" type="none"/>
            <a:tailEnd len="med" w="med" type="none"/>
          </a:ln>
        </p:spPr>
      </p:cxnSp>
      <p:cxnSp>
        <p:nvCxnSpPr>
          <p:cNvPr id="316" name="Google Shape;316;p36"/>
          <p:cNvCxnSpPr>
            <a:stCxn id="311" idx="0"/>
            <a:endCxn id="306" idx="4"/>
          </p:cNvCxnSpPr>
          <p:nvPr/>
        </p:nvCxnSpPr>
        <p:spPr>
          <a:xfrm rot="10800000">
            <a:off x="6845536" y="3165601"/>
            <a:ext cx="17400" cy="698100"/>
          </a:xfrm>
          <a:prstGeom prst="straightConnector1">
            <a:avLst/>
          </a:prstGeom>
          <a:noFill/>
          <a:ln cap="flat" cmpd="sng" w="28575">
            <a:solidFill>
              <a:srgbClr val="0000FF"/>
            </a:solidFill>
            <a:prstDash val="solid"/>
            <a:round/>
            <a:headEnd len="med" w="med" type="none"/>
            <a:tailEnd len="med" w="med" type="none"/>
          </a:ln>
        </p:spPr>
      </p:cxnSp>
      <p:cxnSp>
        <p:nvCxnSpPr>
          <p:cNvPr id="317" name="Google Shape;317;p36"/>
          <p:cNvCxnSpPr>
            <a:stCxn id="313" idx="6"/>
            <a:endCxn id="306" idx="2"/>
          </p:cNvCxnSpPr>
          <p:nvPr/>
        </p:nvCxnSpPr>
        <p:spPr>
          <a:xfrm>
            <a:off x="58548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318" name="Google Shape;318;p36"/>
          <p:cNvCxnSpPr>
            <a:stCxn id="314" idx="2"/>
            <a:endCxn id="306" idx="6"/>
          </p:cNvCxnSpPr>
          <p:nvPr/>
        </p:nvCxnSpPr>
        <p:spPr>
          <a:xfrm rot="10800000">
            <a:off x="72630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319" name="Google Shape;319;p36"/>
          <p:cNvCxnSpPr>
            <a:stCxn id="306" idx="1"/>
            <a:endCxn id="307" idx="5"/>
          </p:cNvCxnSpPr>
          <p:nvPr/>
        </p:nvCxnSpPr>
        <p:spPr>
          <a:xfrm rot="10800000">
            <a:off x="5956693" y="2115391"/>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320" name="Google Shape;320;p36"/>
          <p:cNvCxnSpPr>
            <a:stCxn id="306" idx="7"/>
            <a:endCxn id="309" idx="3"/>
          </p:cNvCxnSpPr>
          <p:nvPr/>
        </p:nvCxnSpPr>
        <p:spPr>
          <a:xfrm flipH="1" rot="10800000">
            <a:off x="7140757" y="2115391"/>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321" name="Google Shape;321;p36"/>
          <p:cNvCxnSpPr>
            <a:stCxn id="310" idx="7"/>
            <a:endCxn id="306" idx="3"/>
          </p:cNvCxnSpPr>
          <p:nvPr/>
        </p:nvCxnSpPr>
        <p:spPr>
          <a:xfrm flipH="1" rot="10800000">
            <a:off x="5956602" y="3044053"/>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322" name="Google Shape;322;p36"/>
          <p:cNvCxnSpPr>
            <a:stCxn id="312" idx="1"/>
            <a:endCxn id="306" idx="5"/>
          </p:cNvCxnSpPr>
          <p:nvPr/>
        </p:nvCxnSpPr>
        <p:spPr>
          <a:xfrm rot="10800000">
            <a:off x="7140644" y="3044053"/>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323" name="Google Shape;323;p36"/>
          <p:cNvCxnSpPr>
            <a:stCxn id="308" idx="2"/>
            <a:endCxn id="307" idx="0"/>
          </p:cNvCxnSpPr>
          <p:nvPr/>
        </p:nvCxnSpPr>
        <p:spPr>
          <a:xfrm flipH="1">
            <a:off x="5759723" y="1407751"/>
            <a:ext cx="807600" cy="276300"/>
          </a:xfrm>
          <a:prstGeom prst="straightConnector1">
            <a:avLst/>
          </a:prstGeom>
          <a:noFill/>
          <a:ln cap="flat" cmpd="sng" w="28575">
            <a:solidFill>
              <a:srgbClr val="FF00FF"/>
            </a:solidFill>
            <a:prstDash val="solid"/>
            <a:round/>
            <a:headEnd len="med" w="med" type="none"/>
            <a:tailEnd len="med" w="med" type="none"/>
          </a:ln>
        </p:spPr>
      </p:cxnSp>
      <p:cxnSp>
        <p:nvCxnSpPr>
          <p:cNvPr id="324" name="Google Shape;324;p36"/>
          <p:cNvCxnSpPr>
            <a:stCxn id="307" idx="3"/>
            <a:endCxn id="313" idx="0"/>
          </p:cNvCxnSpPr>
          <p:nvPr/>
        </p:nvCxnSpPr>
        <p:spPr>
          <a:xfrm>
            <a:off x="5563098" y="2115333"/>
            <a:ext cx="13500" cy="382200"/>
          </a:xfrm>
          <a:prstGeom prst="straightConnector1">
            <a:avLst/>
          </a:prstGeom>
          <a:noFill/>
          <a:ln cap="flat" cmpd="sng" w="28575">
            <a:solidFill>
              <a:srgbClr val="FF00FF"/>
            </a:solidFill>
            <a:prstDash val="solid"/>
            <a:round/>
            <a:headEnd len="med" w="med" type="none"/>
            <a:tailEnd len="med" w="med" type="none"/>
          </a:ln>
        </p:spPr>
      </p:cxnSp>
      <p:cxnSp>
        <p:nvCxnSpPr>
          <p:cNvPr id="325" name="Google Shape;325;p36"/>
          <p:cNvCxnSpPr>
            <a:stCxn id="308" idx="3"/>
            <a:endCxn id="313" idx="7"/>
          </p:cNvCxnSpPr>
          <p:nvPr/>
        </p:nvCxnSpPr>
        <p:spPr>
          <a:xfrm flipH="1">
            <a:off x="5773421" y="1586366"/>
            <a:ext cx="875400" cy="985200"/>
          </a:xfrm>
          <a:prstGeom prst="straightConnector1">
            <a:avLst/>
          </a:prstGeom>
          <a:noFill/>
          <a:ln cap="flat" cmpd="sng" w="28575">
            <a:solidFill>
              <a:srgbClr val="FF00FF"/>
            </a:solidFill>
            <a:prstDash val="solid"/>
            <a:round/>
            <a:headEnd len="med" w="med" type="none"/>
            <a:tailEnd len="med" w="med" type="none"/>
          </a:ln>
        </p:spPr>
      </p:cxnSp>
      <p:cxnSp>
        <p:nvCxnSpPr>
          <p:cNvPr id="326" name="Google Shape;326;p36"/>
          <p:cNvCxnSpPr>
            <a:stCxn id="308" idx="3"/>
            <a:endCxn id="310" idx="0"/>
          </p:cNvCxnSpPr>
          <p:nvPr/>
        </p:nvCxnSpPr>
        <p:spPr>
          <a:xfrm flipH="1">
            <a:off x="5759921" y="1586366"/>
            <a:ext cx="888900" cy="1724400"/>
          </a:xfrm>
          <a:prstGeom prst="straightConnector1">
            <a:avLst/>
          </a:prstGeom>
          <a:noFill/>
          <a:ln cap="flat" cmpd="sng" w="28575">
            <a:solidFill>
              <a:srgbClr val="FF00FF"/>
            </a:solidFill>
            <a:prstDash val="solid"/>
            <a:round/>
            <a:headEnd len="med" w="med" type="none"/>
            <a:tailEnd len="med" w="med" type="none"/>
          </a:ln>
        </p:spPr>
      </p:cxnSp>
      <p:cxnSp>
        <p:nvCxnSpPr>
          <p:cNvPr id="327" name="Google Shape;327;p36"/>
          <p:cNvCxnSpPr>
            <a:stCxn id="313" idx="4"/>
            <a:endCxn id="310" idx="0"/>
          </p:cNvCxnSpPr>
          <p:nvPr/>
        </p:nvCxnSpPr>
        <p:spPr>
          <a:xfrm>
            <a:off x="5576563" y="3002706"/>
            <a:ext cx="183300" cy="308100"/>
          </a:xfrm>
          <a:prstGeom prst="straightConnector1">
            <a:avLst/>
          </a:prstGeom>
          <a:noFill/>
          <a:ln cap="flat" cmpd="sng" w="28575">
            <a:solidFill>
              <a:srgbClr val="FF00FF"/>
            </a:solidFill>
            <a:prstDash val="solid"/>
            <a:round/>
            <a:headEnd len="med" w="med" type="none"/>
            <a:tailEnd len="med" w="med" type="none"/>
          </a:ln>
        </p:spPr>
      </p:cxnSp>
      <p:cxnSp>
        <p:nvCxnSpPr>
          <p:cNvPr id="328" name="Google Shape;328;p36"/>
          <p:cNvCxnSpPr>
            <a:stCxn id="307" idx="5"/>
            <a:endCxn id="310" idx="7"/>
          </p:cNvCxnSpPr>
          <p:nvPr/>
        </p:nvCxnSpPr>
        <p:spPr>
          <a:xfrm>
            <a:off x="5956602" y="2115333"/>
            <a:ext cx="0" cy="1269600"/>
          </a:xfrm>
          <a:prstGeom prst="straightConnector1">
            <a:avLst/>
          </a:prstGeom>
          <a:noFill/>
          <a:ln cap="flat" cmpd="sng" w="28575">
            <a:solidFill>
              <a:srgbClr val="FF00FF"/>
            </a:solidFill>
            <a:prstDash val="solid"/>
            <a:round/>
            <a:headEnd len="med" w="med" type="none"/>
            <a:tailEnd len="med" w="med" type="none"/>
          </a:ln>
        </p:spPr>
      </p:cxnSp>
      <p:cxnSp>
        <p:nvCxnSpPr>
          <p:cNvPr id="329" name="Google Shape;329;p36"/>
          <p:cNvCxnSpPr>
            <a:stCxn id="314" idx="3"/>
            <a:endCxn id="310" idx="6"/>
          </p:cNvCxnSpPr>
          <p:nvPr/>
        </p:nvCxnSpPr>
        <p:spPr>
          <a:xfrm flipH="1">
            <a:off x="6038010" y="2928721"/>
            <a:ext cx="1879800" cy="634800"/>
          </a:xfrm>
          <a:prstGeom prst="straightConnector1">
            <a:avLst/>
          </a:prstGeom>
          <a:noFill/>
          <a:ln cap="flat" cmpd="sng" w="28575">
            <a:solidFill>
              <a:srgbClr val="FF00FF"/>
            </a:solidFill>
            <a:prstDash val="solid"/>
            <a:round/>
            <a:headEnd len="med" w="med" type="none"/>
            <a:tailEnd len="med" w="med" type="none"/>
          </a:ln>
        </p:spPr>
      </p:cxnSp>
      <p:cxnSp>
        <p:nvCxnSpPr>
          <p:cNvPr id="330" name="Google Shape;330;p36"/>
          <p:cNvCxnSpPr>
            <a:stCxn id="311" idx="2"/>
            <a:endCxn id="310" idx="5"/>
          </p:cNvCxnSpPr>
          <p:nvPr/>
        </p:nvCxnSpPr>
        <p:spPr>
          <a:xfrm rot="10800000">
            <a:off x="5956486" y="3742201"/>
            <a:ext cx="628200" cy="374100"/>
          </a:xfrm>
          <a:prstGeom prst="straightConnector1">
            <a:avLst/>
          </a:prstGeom>
          <a:noFill/>
          <a:ln cap="flat" cmpd="sng" w="28575">
            <a:solidFill>
              <a:srgbClr val="FF00FF"/>
            </a:solidFill>
            <a:prstDash val="solid"/>
            <a:round/>
            <a:headEnd len="med" w="med" type="none"/>
            <a:tailEnd len="med" w="med" type="none"/>
          </a:ln>
        </p:spPr>
      </p:cxnSp>
      <p:cxnSp>
        <p:nvCxnSpPr>
          <p:cNvPr id="331" name="Google Shape;331;p36"/>
          <p:cNvCxnSpPr>
            <a:stCxn id="312" idx="3"/>
          </p:cNvCxnSpPr>
          <p:nvPr/>
        </p:nvCxnSpPr>
        <p:spPr>
          <a:xfrm flipH="1">
            <a:off x="7139144" y="3742083"/>
            <a:ext cx="526200" cy="344100"/>
          </a:xfrm>
          <a:prstGeom prst="straightConnector1">
            <a:avLst/>
          </a:prstGeom>
          <a:noFill/>
          <a:ln cap="flat" cmpd="sng" w="28575">
            <a:solidFill>
              <a:srgbClr val="FF00FF"/>
            </a:solidFill>
            <a:prstDash val="solid"/>
            <a:round/>
            <a:headEnd len="med" w="med" type="none"/>
            <a:tailEnd len="med" w="med" type="none"/>
          </a:ln>
        </p:spPr>
      </p:cxnSp>
      <p:cxnSp>
        <p:nvCxnSpPr>
          <p:cNvPr id="332" name="Google Shape;332;p36"/>
          <p:cNvCxnSpPr>
            <a:stCxn id="314" idx="4"/>
            <a:endCxn id="312" idx="7"/>
          </p:cNvCxnSpPr>
          <p:nvPr/>
        </p:nvCxnSpPr>
        <p:spPr>
          <a:xfrm flipH="1">
            <a:off x="8058763" y="3002706"/>
            <a:ext cx="55800" cy="382200"/>
          </a:xfrm>
          <a:prstGeom prst="straightConnector1">
            <a:avLst/>
          </a:prstGeom>
          <a:noFill/>
          <a:ln cap="flat" cmpd="sng" w="28575">
            <a:solidFill>
              <a:srgbClr val="FF00FF"/>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generators: Four approaches</a:t>
            </a:r>
            <a:endParaRPr/>
          </a:p>
        </p:txBody>
      </p:sp>
      <p:sp>
        <p:nvSpPr>
          <p:cNvPr id="338" name="Google Shape;338;p37"/>
          <p:cNvSpPr txBox="1"/>
          <p:nvPr>
            <p:ph idx="1" type="body"/>
          </p:nvPr>
        </p:nvSpPr>
        <p:spPr>
          <a:xfrm>
            <a:off x="311700" y="1225225"/>
            <a:ext cx="48027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Role-Relation Approach</a:t>
            </a:r>
            <a:endParaRPr/>
          </a:p>
          <a:p>
            <a:pPr indent="-317500" lvl="1" marL="914400" rtl="0" algn="l">
              <a:spcBef>
                <a:spcPts val="0"/>
              </a:spcBef>
              <a:spcAft>
                <a:spcPts val="0"/>
              </a:spcAft>
              <a:buSzPts val="1400"/>
              <a:buChar char="○"/>
            </a:pPr>
            <a:r>
              <a:rPr lang="en"/>
              <a:t>Neighbors, friends, kin, co-authors</a:t>
            </a:r>
            <a:endParaRPr/>
          </a:p>
          <a:p>
            <a:pPr indent="-342900" lvl="0" marL="457200" rtl="0" algn="l">
              <a:spcBef>
                <a:spcPts val="0"/>
              </a:spcBef>
              <a:spcAft>
                <a:spcPts val="0"/>
              </a:spcAft>
              <a:buSzPts val="1800"/>
              <a:buChar char="●"/>
            </a:pPr>
            <a:r>
              <a:rPr lang="en"/>
              <a:t>Interaction Approach</a:t>
            </a:r>
            <a:endParaRPr/>
          </a:p>
          <a:p>
            <a:pPr indent="-317500" lvl="1" marL="914400" rtl="0" algn="l">
              <a:spcBef>
                <a:spcPts val="0"/>
              </a:spcBef>
              <a:spcAft>
                <a:spcPts val="0"/>
              </a:spcAft>
              <a:buSzPts val="1400"/>
              <a:buChar char="○"/>
            </a:pPr>
            <a:r>
              <a:rPr lang="en"/>
              <a:t>Frequency, duration of contact</a:t>
            </a:r>
            <a:endParaRPr/>
          </a:p>
          <a:p>
            <a:pPr indent="-342900" lvl="0" marL="457200" rtl="0" algn="l">
              <a:spcBef>
                <a:spcPts val="0"/>
              </a:spcBef>
              <a:spcAft>
                <a:spcPts val="0"/>
              </a:spcAft>
              <a:buSzPts val="1800"/>
              <a:buChar char="●"/>
            </a:pPr>
            <a:r>
              <a:rPr lang="en"/>
              <a:t>Affective Approach</a:t>
            </a:r>
            <a:endParaRPr/>
          </a:p>
          <a:p>
            <a:pPr indent="-317500" lvl="1" marL="914400" rtl="0" algn="l">
              <a:spcBef>
                <a:spcPts val="0"/>
              </a:spcBef>
              <a:spcAft>
                <a:spcPts val="0"/>
              </a:spcAft>
              <a:buSzPts val="1400"/>
              <a:buChar char="○"/>
            </a:pPr>
            <a:r>
              <a:rPr lang="en"/>
              <a:t>Significant, close, enemies</a:t>
            </a:r>
            <a:endParaRPr/>
          </a:p>
          <a:p>
            <a:pPr indent="-342900" lvl="0" marL="457200" rtl="0" algn="l">
              <a:spcBef>
                <a:spcPts val="0"/>
              </a:spcBef>
              <a:spcAft>
                <a:spcPts val="0"/>
              </a:spcAft>
              <a:buSzPts val="1800"/>
              <a:buChar char="●"/>
            </a:pPr>
            <a:r>
              <a:rPr lang="en"/>
              <a:t>Exchange Approach</a:t>
            </a:r>
            <a:endParaRPr/>
          </a:p>
          <a:p>
            <a:pPr indent="-317500" lvl="1" marL="914400" rtl="0" algn="l">
              <a:spcBef>
                <a:spcPts val="0"/>
              </a:spcBef>
              <a:spcAft>
                <a:spcPts val="0"/>
              </a:spcAft>
              <a:buSzPts val="1400"/>
              <a:buChar char="○"/>
            </a:pPr>
            <a:r>
              <a:rPr lang="en"/>
              <a:t>Information, favors, support, resources</a:t>
            </a:r>
            <a:endParaRPr/>
          </a:p>
          <a:p>
            <a:pPr indent="-342900" lvl="0" marL="457200" rtl="0" algn="l">
              <a:spcBef>
                <a:spcPts val="0"/>
              </a:spcBef>
              <a:spcAft>
                <a:spcPts val="0"/>
              </a:spcAft>
              <a:buSzPts val="1800"/>
              <a:buChar char="●"/>
            </a:pPr>
            <a:r>
              <a:rPr lang="en"/>
              <a:t>Different approaches can produce ego-networks with different structural characteristics!</a:t>
            </a:r>
            <a:endParaRPr/>
          </a:p>
        </p:txBody>
      </p:sp>
      <p:sp>
        <p:nvSpPr>
          <p:cNvPr id="339" name="Google Shape;339;p37"/>
          <p:cNvSpPr/>
          <p:nvPr/>
        </p:nvSpPr>
        <p:spPr>
          <a:xfrm>
            <a:off x="6428125"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340" name="Google Shape;340;p37"/>
          <p:cNvSpPr/>
          <p:nvPr/>
        </p:nvSpPr>
        <p:spPr>
          <a:xfrm>
            <a:off x="5481600"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341" name="Google Shape;341;p37"/>
          <p:cNvSpPr/>
          <p:nvPr/>
        </p:nvSpPr>
        <p:spPr>
          <a:xfrm>
            <a:off x="6567323" y="115515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342" name="Google Shape;342;p37"/>
          <p:cNvSpPr/>
          <p:nvPr/>
        </p:nvSpPr>
        <p:spPr>
          <a:xfrm>
            <a:off x="7583847"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343" name="Google Shape;343;p37"/>
          <p:cNvSpPr/>
          <p:nvPr/>
        </p:nvSpPr>
        <p:spPr>
          <a:xfrm>
            <a:off x="5481600"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344" name="Google Shape;344;p37"/>
          <p:cNvSpPr/>
          <p:nvPr/>
        </p:nvSpPr>
        <p:spPr>
          <a:xfrm>
            <a:off x="6584686" y="386370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345" name="Google Shape;345;p37"/>
          <p:cNvSpPr/>
          <p:nvPr/>
        </p:nvSpPr>
        <p:spPr>
          <a:xfrm>
            <a:off x="7583847"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346" name="Google Shape;346;p37"/>
          <p:cNvSpPr/>
          <p:nvPr/>
        </p:nvSpPr>
        <p:spPr>
          <a:xfrm>
            <a:off x="5298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347" name="Google Shape;347;p37"/>
          <p:cNvSpPr/>
          <p:nvPr/>
        </p:nvSpPr>
        <p:spPr>
          <a:xfrm>
            <a:off x="7836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348" name="Google Shape;348;p37"/>
          <p:cNvCxnSpPr>
            <a:stCxn id="341" idx="4"/>
            <a:endCxn id="339" idx="0"/>
          </p:cNvCxnSpPr>
          <p:nvPr/>
        </p:nvCxnSpPr>
        <p:spPr>
          <a:xfrm>
            <a:off x="6845573" y="1660351"/>
            <a:ext cx="0" cy="674100"/>
          </a:xfrm>
          <a:prstGeom prst="straightConnector1">
            <a:avLst/>
          </a:prstGeom>
          <a:noFill/>
          <a:ln cap="flat" cmpd="sng" w="28575">
            <a:solidFill>
              <a:srgbClr val="0000FF"/>
            </a:solidFill>
            <a:prstDash val="solid"/>
            <a:round/>
            <a:headEnd len="med" w="med" type="none"/>
            <a:tailEnd len="med" w="med" type="none"/>
          </a:ln>
        </p:spPr>
      </p:cxnSp>
      <p:cxnSp>
        <p:nvCxnSpPr>
          <p:cNvPr id="349" name="Google Shape;349;p37"/>
          <p:cNvCxnSpPr>
            <a:stCxn id="344" idx="0"/>
            <a:endCxn id="339" idx="4"/>
          </p:cNvCxnSpPr>
          <p:nvPr/>
        </p:nvCxnSpPr>
        <p:spPr>
          <a:xfrm rot="10800000">
            <a:off x="6845536" y="3165601"/>
            <a:ext cx="17400" cy="698100"/>
          </a:xfrm>
          <a:prstGeom prst="straightConnector1">
            <a:avLst/>
          </a:prstGeom>
          <a:noFill/>
          <a:ln cap="flat" cmpd="sng" w="28575">
            <a:solidFill>
              <a:srgbClr val="0000FF"/>
            </a:solidFill>
            <a:prstDash val="solid"/>
            <a:round/>
            <a:headEnd len="med" w="med" type="none"/>
            <a:tailEnd len="med" w="med" type="none"/>
          </a:ln>
        </p:spPr>
      </p:cxnSp>
      <p:cxnSp>
        <p:nvCxnSpPr>
          <p:cNvPr id="350" name="Google Shape;350;p37"/>
          <p:cNvCxnSpPr>
            <a:stCxn id="346" idx="6"/>
            <a:endCxn id="339" idx="2"/>
          </p:cNvCxnSpPr>
          <p:nvPr/>
        </p:nvCxnSpPr>
        <p:spPr>
          <a:xfrm>
            <a:off x="58548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351" name="Google Shape;351;p37"/>
          <p:cNvCxnSpPr>
            <a:stCxn id="347" idx="2"/>
            <a:endCxn id="339" idx="6"/>
          </p:cNvCxnSpPr>
          <p:nvPr/>
        </p:nvCxnSpPr>
        <p:spPr>
          <a:xfrm rot="10800000">
            <a:off x="72630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352" name="Google Shape;352;p37"/>
          <p:cNvCxnSpPr>
            <a:stCxn id="339" idx="1"/>
            <a:endCxn id="340" idx="5"/>
          </p:cNvCxnSpPr>
          <p:nvPr/>
        </p:nvCxnSpPr>
        <p:spPr>
          <a:xfrm rot="10800000">
            <a:off x="5956693" y="2115391"/>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353" name="Google Shape;353;p37"/>
          <p:cNvCxnSpPr>
            <a:stCxn id="339" idx="7"/>
            <a:endCxn id="342" idx="3"/>
          </p:cNvCxnSpPr>
          <p:nvPr/>
        </p:nvCxnSpPr>
        <p:spPr>
          <a:xfrm flipH="1" rot="10800000">
            <a:off x="7140757" y="2115391"/>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354" name="Google Shape;354;p37"/>
          <p:cNvCxnSpPr>
            <a:stCxn id="343" idx="7"/>
            <a:endCxn id="339" idx="3"/>
          </p:cNvCxnSpPr>
          <p:nvPr/>
        </p:nvCxnSpPr>
        <p:spPr>
          <a:xfrm flipH="1" rot="10800000">
            <a:off x="5956602" y="3044053"/>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355" name="Google Shape;355;p37"/>
          <p:cNvCxnSpPr>
            <a:stCxn id="345" idx="1"/>
            <a:endCxn id="339" idx="5"/>
          </p:cNvCxnSpPr>
          <p:nvPr/>
        </p:nvCxnSpPr>
        <p:spPr>
          <a:xfrm rot="10800000">
            <a:off x="7140644" y="3044053"/>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356" name="Google Shape;356;p37"/>
          <p:cNvCxnSpPr>
            <a:stCxn id="341" idx="2"/>
            <a:endCxn id="340" idx="0"/>
          </p:cNvCxnSpPr>
          <p:nvPr/>
        </p:nvCxnSpPr>
        <p:spPr>
          <a:xfrm flipH="1">
            <a:off x="5759723" y="1407751"/>
            <a:ext cx="807600" cy="276300"/>
          </a:xfrm>
          <a:prstGeom prst="straightConnector1">
            <a:avLst/>
          </a:prstGeom>
          <a:noFill/>
          <a:ln cap="flat" cmpd="sng" w="28575">
            <a:solidFill>
              <a:srgbClr val="FF00FF"/>
            </a:solidFill>
            <a:prstDash val="solid"/>
            <a:round/>
            <a:headEnd len="med" w="med" type="none"/>
            <a:tailEnd len="med" w="med" type="none"/>
          </a:ln>
        </p:spPr>
      </p:cxnSp>
      <p:cxnSp>
        <p:nvCxnSpPr>
          <p:cNvPr id="357" name="Google Shape;357;p37"/>
          <p:cNvCxnSpPr>
            <a:stCxn id="340" idx="3"/>
            <a:endCxn id="346" idx="0"/>
          </p:cNvCxnSpPr>
          <p:nvPr/>
        </p:nvCxnSpPr>
        <p:spPr>
          <a:xfrm>
            <a:off x="5563098" y="2115333"/>
            <a:ext cx="13500" cy="382200"/>
          </a:xfrm>
          <a:prstGeom prst="straightConnector1">
            <a:avLst/>
          </a:prstGeom>
          <a:noFill/>
          <a:ln cap="flat" cmpd="sng" w="28575">
            <a:solidFill>
              <a:srgbClr val="FF00FF"/>
            </a:solidFill>
            <a:prstDash val="solid"/>
            <a:round/>
            <a:headEnd len="med" w="med" type="none"/>
            <a:tailEnd len="med" w="med" type="none"/>
          </a:ln>
        </p:spPr>
      </p:cxnSp>
      <p:cxnSp>
        <p:nvCxnSpPr>
          <p:cNvPr id="358" name="Google Shape;358;p37"/>
          <p:cNvCxnSpPr>
            <a:stCxn id="341" idx="3"/>
            <a:endCxn id="346" idx="7"/>
          </p:cNvCxnSpPr>
          <p:nvPr/>
        </p:nvCxnSpPr>
        <p:spPr>
          <a:xfrm flipH="1">
            <a:off x="5773421" y="1586366"/>
            <a:ext cx="875400" cy="985200"/>
          </a:xfrm>
          <a:prstGeom prst="straightConnector1">
            <a:avLst/>
          </a:prstGeom>
          <a:noFill/>
          <a:ln cap="flat" cmpd="sng" w="28575">
            <a:solidFill>
              <a:srgbClr val="FF00FF"/>
            </a:solidFill>
            <a:prstDash val="solid"/>
            <a:round/>
            <a:headEnd len="med" w="med" type="none"/>
            <a:tailEnd len="med" w="med" type="none"/>
          </a:ln>
        </p:spPr>
      </p:cxnSp>
      <p:cxnSp>
        <p:nvCxnSpPr>
          <p:cNvPr id="359" name="Google Shape;359;p37"/>
          <p:cNvCxnSpPr>
            <a:stCxn id="341" idx="3"/>
            <a:endCxn id="343" idx="0"/>
          </p:cNvCxnSpPr>
          <p:nvPr/>
        </p:nvCxnSpPr>
        <p:spPr>
          <a:xfrm flipH="1">
            <a:off x="5759921" y="1586366"/>
            <a:ext cx="888900" cy="1724400"/>
          </a:xfrm>
          <a:prstGeom prst="straightConnector1">
            <a:avLst/>
          </a:prstGeom>
          <a:noFill/>
          <a:ln cap="flat" cmpd="sng" w="28575">
            <a:solidFill>
              <a:srgbClr val="FF00FF"/>
            </a:solidFill>
            <a:prstDash val="solid"/>
            <a:round/>
            <a:headEnd len="med" w="med" type="none"/>
            <a:tailEnd len="med" w="med" type="none"/>
          </a:ln>
        </p:spPr>
      </p:cxnSp>
      <p:cxnSp>
        <p:nvCxnSpPr>
          <p:cNvPr id="360" name="Google Shape;360;p37"/>
          <p:cNvCxnSpPr>
            <a:stCxn id="346" idx="4"/>
            <a:endCxn id="343" idx="0"/>
          </p:cNvCxnSpPr>
          <p:nvPr/>
        </p:nvCxnSpPr>
        <p:spPr>
          <a:xfrm>
            <a:off x="5576563" y="3002706"/>
            <a:ext cx="183300" cy="308100"/>
          </a:xfrm>
          <a:prstGeom prst="straightConnector1">
            <a:avLst/>
          </a:prstGeom>
          <a:noFill/>
          <a:ln cap="flat" cmpd="sng" w="28575">
            <a:solidFill>
              <a:srgbClr val="FF00FF"/>
            </a:solidFill>
            <a:prstDash val="solid"/>
            <a:round/>
            <a:headEnd len="med" w="med" type="none"/>
            <a:tailEnd len="med" w="med" type="none"/>
          </a:ln>
        </p:spPr>
      </p:cxnSp>
      <p:cxnSp>
        <p:nvCxnSpPr>
          <p:cNvPr id="361" name="Google Shape;361;p37"/>
          <p:cNvCxnSpPr>
            <a:stCxn id="340" idx="5"/>
            <a:endCxn id="343" idx="7"/>
          </p:cNvCxnSpPr>
          <p:nvPr/>
        </p:nvCxnSpPr>
        <p:spPr>
          <a:xfrm>
            <a:off x="5956602" y="2115333"/>
            <a:ext cx="0" cy="1269600"/>
          </a:xfrm>
          <a:prstGeom prst="straightConnector1">
            <a:avLst/>
          </a:prstGeom>
          <a:noFill/>
          <a:ln cap="flat" cmpd="sng" w="28575">
            <a:solidFill>
              <a:srgbClr val="FF00FF"/>
            </a:solidFill>
            <a:prstDash val="solid"/>
            <a:round/>
            <a:headEnd len="med" w="med" type="none"/>
            <a:tailEnd len="med" w="med" type="none"/>
          </a:ln>
        </p:spPr>
      </p:cxnSp>
      <p:cxnSp>
        <p:nvCxnSpPr>
          <p:cNvPr id="362" name="Google Shape;362;p37"/>
          <p:cNvCxnSpPr>
            <a:stCxn id="347" idx="3"/>
            <a:endCxn id="343" idx="6"/>
          </p:cNvCxnSpPr>
          <p:nvPr/>
        </p:nvCxnSpPr>
        <p:spPr>
          <a:xfrm flipH="1">
            <a:off x="6038010" y="2928721"/>
            <a:ext cx="1879800" cy="634800"/>
          </a:xfrm>
          <a:prstGeom prst="straightConnector1">
            <a:avLst/>
          </a:prstGeom>
          <a:noFill/>
          <a:ln cap="flat" cmpd="sng" w="28575">
            <a:solidFill>
              <a:srgbClr val="FF00FF"/>
            </a:solidFill>
            <a:prstDash val="solid"/>
            <a:round/>
            <a:headEnd len="med" w="med" type="none"/>
            <a:tailEnd len="med" w="med" type="none"/>
          </a:ln>
        </p:spPr>
      </p:cxnSp>
      <p:cxnSp>
        <p:nvCxnSpPr>
          <p:cNvPr id="363" name="Google Shape;363;p37"/>
          <p:cNvCxnSpPr>
            <a:stCxn id="344" idx="2"/>
            <a:endCxn id="343" idx="5"/>
          </p:cNvCxnSpPr>
          <p:nvPr/>
        </p:nvCxnSpPr>
        <p:spPr>
          <a:xfrm rot="10800000">
            <a:off x="5956486" y="3742201"/>
            <a:ext cx="628200" cy="374100"/>
          </a:xfrm>
          <a:prstGeom prst="straightConnector1">
            <a:avLst/>
          </a:prstGeom>
          <a:noFill/>
          <a:ln cap="flat" cmpd="sng" w="28575">
            <a:solidFill>
              <a:srgbClr val="FF00FF"/>
            </a:solidFill>
            <a:prstDash val="solid"/>
            <a:round/>
            <a:headEnd len="med" w="med" type="none"/>
            <a:tailEnd len="med" w="med" type="none"/>
          </a:ln>
        </p:spPr>
      </p:cxnSp>
      <p:cxnSp>
        <p:nvCxnSpPr>
          <p:cNvPr id="364" name="Google Shape;364;p37"/>
          <p:cNvCxnSpPr>
            <a:stCxn id="345" idx="3"/>
          </p:cNvCxnSpPr>
          <p:nvPr/>
        </p:nvCxnSpPr>
        <p:spPr>
          <a:xfrm flipH="1">
            <a:off x="7139144" y="3742083"/>
            <a:ext cx="526200" cy="344100"/>
          </a:xfrm>
          <a:prstGeom prst="straightConnector1">
            <a:avLst/>
          </a:prstGeom>
          <a:noFill/>
          <a:ln cap="flat" cmpd="sng" w="28575">
            <a:solidFill>
              <a:srgbClr val="FF00FF"/>
            </a:solidFill>
            <a:prstDash val="solid"/>
            <a:round/>
            <a:headEnd len="med" w="med" type="none"/>
            <a:tailEnd len="med" w="med" type="none"/>
          </a:ln>
        </p:spPr>
      </p:cxnSp>
      <p:cxnSp>
        <p:nvCxnSpPr>
          <p:cNvPr id="365" name="Google Shape;365;p37"/>
          <p:cNvCxnSpPr>
            <a:stCxn id="347" idx="4"/>
            <a:endCxn id="345" idx="7"/>
          </p:cNvCxnSpPr>
          <p:nvPr/>
        </p:nvCxnSpPr>
        <p:spPr>
          <a:xfrm flipH="1">
            <a:off x="8058763" y="3002706"/>
            <a:ext cx="55800" cy="382200"/>
          </a:xfrm>
          <a:prstGeom prst="straightConnector1">
            <a:avLst/>
          </a:prstGeom>
          <a:noFill/>
          <a:ln cap="flat" cmpd="sng" w="28575">
            <a:solidFill>
              <a:srgbClr val="FF00FF"/>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generators: Four approaches</a:t>
            </a:r>
            <a:endParaRPr/>
          </a:p>
        </p:txBody>
      </p:sp>
      <p:sp>
        <p:nvSpPr>
          <p:cNvPr id="371" name="Google Shape;371;p38"/>
          <p:cNvSpPr txBox="1"/>
          <p:nvPr>
            <p:ph idx="1" type="body"/>
          </p:nvPr>
        </p:nvSpPr>
        <p:spPr>
          <a:xfrm>
            <a:off x="311700" y="1225225"/>
            <a:ext cx="4802700" cy="3354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Role-Relation Approach</a:t>
            </a:r>
            <a:endParaRPr/>
          </a:p>
          <a:p>
            <a:pPr indent="-317500" lvl="1" marL="914400" rtl="0" algn="l">
              <a:spcBef>
                <a:spcPts val="0"/>
              </a:spcBef>
              <a:spcAft>
                <a:spcPts val="0"/>
              </a:spcAft>
              <a:buSzPts val="1400"/>
              <a:buChar char="○"/>
            </a:pPr>
            <a:r>
              <a:rPr i="1" lang="en"/>
              <a:t>“list the names of up to [X] [</a:t>
            </a:r>
            <a:r>
              <a:rPr i="1" lang="en">
                <a:solidFill>
                  <a:srgbClr val="FF0000"/>
                </a:solidFill>
              </a:rPr>
              <a:t>friends, co-workers, co-authors, roommates</a:t>
            </a:r>
            <a:r>
              <a:rPr i="1" lang="en"/>
              <a:t>, etc.]”</a:t>
            </a:r>
            <a:endParaRPr i="1"/>
          </a:p>
          <a:p>
            <a:pPr indent="-342900" lvl="0" marL="457200" rtl="0" algn="l">
              <a:spcBef>
                <a:spcPts val="0"/>
              </a:spcBef>
              <a:spcAft>
                <a:spcPts val="0"/>
              </a:spcAft>
              <a:buSzPts val="1800"/>
              <a:buChar char="●"/>
            </a:pPr>
            <a:r>
              <a:rPr lang="en"/>
              <a:t>Interaction Approach</a:t>
            </a:r>
            <a:endParaRPr/>
          </a:p>
          <a:p>
            <a:pPr indent="-317500" lvl="1" marL="914400" rtl="0" algn="l">
              <a:spcBef>
                <a:spcPts val="0"/>
              </a:spcBef>
              <a:spcAft>
                <a:spcPts val="0"/>
              </a:spcAft>
              <a:buSzPts val="1400"/>
              <a:buChar char="○"/>
            </a:pPr>
            <a:r>
              <a:rPr i="1" lang="en"/>
              <a:t>“list the names of up to [X] of the people you most </a:t>
            </a:r>
            <a:r>
              <a:rPr i="1" lang="en">
                <a:solidFill>
                  <a:srgbClr val="FF0000"/>
                </a:solidFill>
              </a:rPr>
              <a:t>frequently interact </a:t>
            </a:r>
            <a:r>
              <a:rPr i="1" lang="en"/>
              <a:t>with</a:t>
            </a:r>
            <a:endParaRPr i="1"/>
          </a:p>
          <a:p>
            <a:pPr indent="-342900" lvl="0" marL="457200" rtl="0" algn="l">
              <a:spcBef>
                <a:spcPts val="0"/>
              </a:spcBef>
              <a:spcAft>
                <a:spcPts val="0"/>
              </a:spcAft>
              <a:buSzPts val="1800"/>
              <a:buChar char="●"/>
            </a:pPr>
            <a:r>
              <a:rPr lang="en"/>
              <a:t>Affective Approach</a:t>
            </a:r>
            <a:endParaRPr/>
          </a:p>
          <a:p>
            <a:pPr indent="-317500" lvl="1" marL="914400" rtl="0" algn="l">
              <a:spcBef>
                <a:spcPts val="0"/>
              </a:spcBef>
              <a:spcAft>
                <a:spcPts val="0"/>
              </a:spcAft>
              <a:buSzPts val="1400"/>
              <a:buChar char="○"/>
            </a:pPr>
            <a:r>
              <a:rPr i="1" lang="en"/>
              <a:t>“list the names of up to [X] of the people you [</a:t>
            </a:r>
            <a:r>
              <a:rPr i="1" lang="en">
                <a:solidFill>
                  <a:srgbClr val="FF0000"/>
                </a:solidFill>
              </a:rPr>
              <a:t>feel</a:t>
            </a:r>
            <a:r>
              <a:rPr i="1" lang="en"/>
              <a:t> </a:t>
            </a:r>
            <a:r>
              <a:rPr i="1" lang="en">
                <a:solidFill>
                  <a:srgbClr val="FF0000"/>
                </a:solidFill>
              </a:rPr>
              <a:t>closest to, trust most, etc.</a:t>
            </a:r>
            <a:r>
              <a:rPr i="1" lang="en"/>
              <a:t>]”</a:t>
            </a:r>
            <a:endParaRPr i="1"/>
          </a:p>
          <a:p>
            <a:pPr indent="-342900" lvl="0" marL="457200" rtl="0" algn="l">
              <a:spcBef>
                <a:spcPts val="0"/>
              </a:spcBef>
              <a:spcAft>
                <a:spcPts val="0"/>
              </a:spcAft>
              <a:buSzPts val="1800"/>
              <a:buChar char="●"/>
            </a:pPr>
            <a:r>
              <a:rPr lang="en"/>
              <a:t>Exchange Approach</a:t>
            </a:r>
            <a:endParaRPr/>
          </a:p>
          <a:p>
            <a:pPr indent="-317500" lvl="1" marL="914400" rtl="0" algn="l">
              <a:spcBef>
                <a:spcPts val="0"/>
              </a:spcBef>
              <a:spcAft>
                <a:spcPts val="0"/>
              </a:spcAft>
              <a:buSzPts val="1400"/>
              <a:buChar char="○"/>
            </a:pPr>
            <a:r>
              <a:rPr i="1" lang="en"/>
              <a:t>“list the names of up to [X] of the people you would go to for [</a:t>
            </a:r>
            <a:r>
              <a:rPr i="1" lang="en">
                <a:solidFill>
                  <a:srgbClr val="FF0000"/>
                </a:solidFill>
              </a:rPr>
              <a:t>advice, financial support, etc</a:t>
            </a:r>
            <a:r>
              <a:rPr i="1" lang="en"/>
              <a:t>.]</a:t>
            </a:r>
            <a:endParaRPr i="1"/>
          </a:p>
          <a:p>
            <a:pPr indent="0" lvl="0" marL="457200" rtl="0" algn="l">
              <a:spcBef>
                <a:spcPts val="1200"/>
              </a:spcBef>
              <a:spcAft>
                <a:spcPts val="1200"/>
              </a:spcAft>
              <a:buNone/>
            </a:pPr>
            <a:r>
              <a:t/>
            </a:r>
            <a:endParaRPr/>
          </a:p>
        </p:txBody>
      </p:sp>
      <p:sp>
        <p:nvSpPr>
          <p:cNvPr id="372" name="Google Shape;372;p38"/>
          <p:cNvSpPr/>
          <p:nvPr/>
        </p:nvSpPr>
        <p:spPr>
          <a:xfrm>
            <a:off x="6428125"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373" name="Google Shape;373;p38"/>
          <p:cNvSpPr/>
          <p:nvPr/>
        </p:nvSpPr>
        <p:spPr>
          <a:xfrm>
            <a:off x="5481600"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374" name="Google Shape;374;p38"/>
          <p:cNvSpPr/>
          <p:nvPr/>
        </p:nvSpPr>
        <p:spPr>
          <a:xfrm>
            <a:off x="6567323" y="115515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375" name="Google Shape;375;p38"/>
          <p:cNvSpPr/>
          <p:nvPr/>
        </p:nvSpPr>
        <p:spPr>
          <a:xfrm>
            <a:off x="7583847"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376" name="Google Shape;376;p38"/>
          <p:cNvSpPr/>
          <p:nvPr/>
        </p:nvSpPr>
        <p:spPr>
          <a:xfrm>
            <a:off x="5481600"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377" name="Google Shape;377;p38"/>
          <p:cNvSpPr/>
          <p:nvPr/>
        </p:nvSpPr>
        <p:spPr>
          <a:xfrm>
            <a:off x="6584686" y="386370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378" name="Google Shape;378;p38"/>
          <p:cNvSpPr/>
          <p:nvPr/>
        </p:nvSpPr>
        <p:spPr>
          <a:xfrm>
            <a:off x="7583847"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379" name="Google Shape;379;p38"/>
          <p:cNvSpPr/>
          <p:nvPr/>
        </p:nvSpPr>
        <p:spPr>
          <a:xfrm>
            <a:off x="5298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380" name="Google Shape;380;p38"/>
          <p:cNvSpPr/>
          <p:nvPr/>
        </p:nvSpPr>
        <p:spPr>
          <a:xfrm>
            <a:off x="7836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381" name="Google Shape;381;p38"/>
          <p:cNvCxnSpPr>
            <a:stCxn id="374" idx="4"/>
            <a:endCxn id="372" idx="0"/>
          </p:cNvCxnSpPr>
          <p:nvPr/>
        </p:nvCxnSpPr>
        <p:spPr>
          <a:xfrm>
            <a:off x="6845573" y="1660351"/>
            <a:ext cx="0" cy="674100"/>
          </a:xfrm>
          <a:prstGeom prst="straightConnector1">
            <a:avLst/>
          </a:prstGeom>
          <a:noFill/>
          <a:ln cap="flat" cmpd="sng" w="28575">
            <a:solidFill>
              <a:srgbClr val="0000FF"/>
            </a:solidFill>
            <a:prstDash val="solid"/>
            <a:round/>
            <a:headEnd len="med" w="med" type="none"/>
            <a:tailEnd len="med" w="med" type="none"/>
          </a:ln>
        </p:spPr>
      </p:cxnSp>
      <p:cxnSp>
        <p:nvCxnSpPr>
          <p:cNvPr id="382" name="Google Shape;382;p38"/>
          <p:cNvCxnSpPr>
            <a:stCxn id="377" idx="0"/>
            <a:endCxn id="372" idx="4"/>
          </p:cNvCxnSpPr>
          <p:nvPr/>
        </p:nvCxnSpPr>
        <p:spPr>
          <a:xfrm rot="10800000">
            <a:off x="6845536" y="3165601"/>
            <a:ext cx="17400" cy="698100"/>
          </a:xfrm>
          <a:prstGeom prst="straightConnector1">
            <a:avLst/>
          </a:prstGeom>
          <a:noFill/>
          <a:ln cap="flat" cmpd="sng" w="28575">
            <a:solidFill>
              <a:srgbClr val="0000FF"/>
            </a:solidFill>
            <a:prstDash val="solid"/>
            <a:round/>
            <a:headEnd len="med" w="med" type="none"/>
            <a:tailEnd len="med" w="med" type="none"/>
          </a:ln>
        </p:spPr>
      </p:cxnSp>
      <p:cxnSp>
        <p:nvCxnSpPr>
          <p:cNvPr id="383" name="Google Shape;383;p38"/>
          <p:cNvCxnSpPr>
            <a:stCxn id="379" idx="6"/>
            <a:endCxn id="372" idx="2"/>
          </p:cNvCxnSpPr>
          <p:nvPr/>
        </p:nvCxnSpPr>
        <p:spPr>
          <a:xfrm>
            <a:off x="58548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384" name="Google Shape;384;p38"/>
          <p:cNvCxnSpPr>
            <a:stCxn id="380" idx="2"/>
            <a:endCxn id="372" idx="6"/>
          </p:cNvCxnSpPr>
          <p:nvPr/>
        </p:nvCxnSpPr>
        <p:spPr>
          <a:xfrm rot="10800000">
            <a:off x="72630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385" name="Google Shape;385;p38"/>
          <p:cNvCxnSpPr>
            <a:stCxn id="372" idx="1"/>
            <a:endCxn id="373" idx="5"/>
          </p:cNvCxnSpPr>
          <p:nvPr/>
        </p:nvCxnSpPr>
        <p:spPr>
          <a:xfrm rot="10800000">
            <a:off x="5956693" y="2115391"/>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386" name="Google Shape;386;p38"/>
          <p:cNvCxnSpPr>
            <a:stCxn id="372" idx="7"/>
            <a:endCxn id="375" idx="3"/>
          </p:cNvCxnSpPr>
          <p:nvPr/>
        </p:nvCxnSpPr>
        <p:spPr>
          <a:xfrm flipH="1" rot="10800000">
            <a:off x="7140757" y="2115391"/>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387" name="Google Shape;387;p38"/>
          <p:cNvCxnSpPr>
            <a:stCxn id="376" idx="7"/>
            <a:endCxn id="372" idx="3"/>
          </p:cNvCxnSpPr>
          <p:nvPr/>
        </p:nvCxnSpPr>
        <p:spPr>
          <a:xfrm flipH="1" rot="10800000">
            <a:off x="5956602" y="3044053"/>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388" name="Google Shape;388;p38"/>
          <p:cNvCxnSpPr>
            <a:stCxn id="378" idx="1"/>
            <a:endCxn id="372" idx="5"/>
          </p:cNvCxnSpPr>
          <p:nvPr/>
        </p:nvCxnSpPr>
        <p:spPr>
          <a:xfrm rot="10800000">
            <a:off x="7140644" y="3044053"/>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389" name="Google Shape;389;p38"/>
          <p:cNvCxnSpPr>
            <a:stCxn id="374" idx="2"/>
            <a:endCxn id="373" idx="0"/>
          </p:cNvCxnSpPr>
          <p:nvPr/>
        </p:nvCxnSpPr>
        <p:spPr>
          <a:xfrm flipH="1">
            <a:off x="5759723" y="1407751"/>
            <a:ext cx="807600" cy="276300"/>
          </a:xfrm>
          <a:prstGeom prst="straightConnector1">
            <a:avLst/>
          </a:prstGeom>
          <a:noFill/>
          <a:ln cap="flat" cmpd="sng" w="28575">
            <a:solidFill>
              <a:srgbClr val="FF00FF"/>
            </a:solidFill>
            <a:prstDash val="solid"/>
            <a:round/>
            <a:headEnd len="med" w="med" type="none"/>
            <a:tailEnd len="med" w="med" type="none"/>
          </a:ln>
        </p:spPr>
      </p:cxnSp>
      <p:cxnSp>
        <p:nvCxnSpPr>
          <p:cNvPr id="390" name="Google Shape;390;p38"/>
          <p:cNvCxnSpPr>
            <a:stCxn id="373" idx="3"/>
            <a:endCxn id="379" idx="0"/>
          </p:cNvCxnSpPr>
          <p:nvPr/>
        </p:nvCxnSpPr>
        <p:spPr>
          <a:xfrm>
            <a:off x="5563098" y="2115333"/>
            <a:ext cx="13500" cy="382200"/>
          </a:xfrm>
          <a:prstGeom prst="straightConnector1">
            <a:avLst/>
          </a:prstGeom>
          <a:noFill/>
          <a:ln cap="flat" cmpd="sng" w="28575">
            <a:solidFill>
              <a:srgbClr val="FF00FF"/>
            </a:solidFill>
            <a:prstDash val="solid"/>
            <a:round/>
            <a:headEnd len="med" w="med" type="none"/>
            <a:tailEnd len="med" w="med" type="none"/>
          </a:ln>
        </p:spPr>
      </p:cxnSp>
      <p:cxnSp>
        <p:nvCxnSpPr>
          <p:cNvPr id="391" name="Google Shape;391;p38"/>
          <p:cNvCxnSpPr>
            <a:stCxn id="374" idx="3"/>
            <a:endCxn id="379" idx="7"/>
          </p:cNvCxnSpPr>
          <p:nvPr/>
        </p:nvCxnSpPr>
        <p:spPr>
          <a:xfrm flipH="1">
            <a:off x="5773421" y="1586366"/>
            <a:ext cx="875400" cy="985200"/>
          </a:xfrm>
          <a:prstGeom prst="straightConnector1">
            <a:avLst/>
          </a:prstGeom>
          <a:noFill/>
          <a:ln cap="flat" cmpd="sng" w="28575">
            <a:solidFill>
              <a:srgbClr val="FF00FF"/>
            </a:solidFill>
            <a:prstDash val="solid"/>
            <a:round/>
            <a:headEnd len="med" w="med" type="none"/>
            <a:tailEnd len="med" w="med" type="none"/>
          </a:ln>
        </p:spPr>
      </p:cxnSp>
      <p:cxnSp>
        <p:nvCxnSpPr>
          <p:cNvPr id="392" name="Google Shape;392;p38"/>
          <p:cNvCxnSpPr>
            <a:stCxn id="374" idx="3"/>
            <a:endCxn id="376" idx="0"/>
          </p:cNvCxnSpPr>
          <p:nvPr/>
        </p:nvCxnSpPr>
        <p:spPr>
          <a:xfrm flipH="1">
            <a:off x="5759921" y="1586366"/>
            <a:ext cx="888900" cy="1724400"/>
          </a:xfrm>
          <a:prstGeom prst="straightConnector1">
            <a:avLst/>
          </a:prstGeom>
          <a:noFill/>
          <a:ln cap="flat" cmpd="sng" w="28575">
            <a:solidFill>
              <a:srgbClr val="FF00FF"/>
            </a:solidFill>
            <a:prstDash val="solid"/>
            <a:round/>
            <a:headEnd len="med" w="med" type="none"/>
            <a:tailEnd len="med" w="med" type="none"/>
          </a:ln>
        </p:spPr>
      </p:cxnSp>
      <p:cxnSp>
        <p:nvCxnSpPr>
          <p:cNvPr id="393" name="Google Shape;393;p38"/>
          <p:cNvCxnSpPr>
            <a:stCxn id="379" idx="4"/>
            <a:endCxn id="376" idx="0"/>
          </p:cNvCxnSpPr>
          <p:nvPr/>
        </p:nvCxnSpPr>
        <p:spPr>
          <a:xfrm>
            <a:off x="5576563" y="3002706"/>
            <a:ext cx="183300" cy="308100"/>
          </a:xfrm>
          <a:prstGeom prst="straightConnector1">
            <a:avLst/>
          </a:prstGeom>
          <a:noFill/>
          <a:ln cap="flat" cmpd="sng" w="28575">
            <a:solidFill>
              <a:srgbClr val="FF00FF"/>
            </a:solidFill>
            <a:prstDash val="solid"/>
            <a:round/>
            <a:headEnd len="med" w="med" type="none"/>
            <a:tailEnd len="med" w="med" type="none"/>
          </a:ln>
        </p:spPr>
      </p:cxnSp>
      <p:cxnSp>
        <p:nvCxnSpPr>
          <p:cNvPr id="394" name="Google Shape;394;p38"/>
          <p:cNvCxnSpPr>
            <a:stCxn id="373" idx="5"/>
            <a:endCxn id="376" idx="7"/>
          </p:cNvCxnSpPr>
          <p:nvPr/>
        </p:nvCxnSpPr>
        <p:spPr>
          <a:xfrm>
            <a:off x="5956602" y="2115333"/>
            <a:ext cx="0" cy="1269600"/>
          </a:xfrm>
          <a:prstGeom prst="straightConnector1">
            <a:avLst/>
          </a:prstGeom>
          <a:noFill/>
          <a:ln cap="flat" cmpd="sng" w="28575">
            <a:solidFill>
              <a:srgbClr val="FF00FF"/>
            </a:solidFill>
            <a:prstDash val="solid"/>
            <a:round/>
            <a:headEnd len="med" w="med" type="none"/>
            <a:tailEnd len="med" w="med" type="none"/>
          </a:ln>
        </p:spPr>
      </p:cxnSp>
      <p:cxnSp>
        <p:nvCxnSpPr>
          <p:cNvPr id="395" name="Google Shape;395;p38"/>
          <p:cNvCxnSpPr>
            <a:stCxn id="380" idx="3"/>
            <a:endCxn id="376" idx="6"/>
          </p:cNvCxnSpPr>
          <p:nvPr/>
        </p:nvCxnSpPr>
        <p:spPr>
          <a:xfrm flipH="1">
            <a:off x="6038010" y="2928721"/>
            <a:ext cx="1879800" cy="634800"/>
          </a:xfrm>
          <a:prstGeom prst="straightConnector1">
            <a:avLst/>
          </a:prstGeom>
          <a:noFill/>
          <a:ln cap="flat" cmpd="sng" w="28575">
            <a:solidFill>
              <a:srgbClr val="FF00FF"/>
            </a:solidFill>
            <a:prstDash val="solid"/>
            <a:round/>
            <a:headEnd len="med" w="med" type="none"/>
            <a:tailEnd len="med" w="med" type="none"/>
          </a:ln>
        </p:spPr>
      </p:cxnSp>
      <p:cxnSp>
        <p:nvCxnSpPr>
          <p:cNvPr id="396" name="Google Shape;396;p38"/>
          <p:cNvCxnSpPr>
            <a:stCxn id="377" idx="2"/>
            <a:endCxn id="376" idx="5"/>
          </p:cNvCxnSpPr>
          <p:nvPr/>
        </p:nvCxnSpPr>
        <p:spPr>
          <a:xfrm rot="10800000">
            <a:off x="5956486" y="3742201"/>
            <a:ext cx="628200" cy="374100"/>
          </a:xfrm>
          <a:prstGeom prst="straightConnector1">
            <a:avLst/>
          </a:prstGeom>
          <a:noFill/>
          <a:ln cap="flat" cmpd="sng" w="28575">
            <a:solidFill>
              <a:srgbClr val="FF00FF"/>
            </a:solidFill>
            <a:prstDash val="solid"/>
            <a:round/>
            <a:headEnd len="med" w="med" type="none"/>
            <a:tailEnd len="med" w="med" type="none"/>
          </a:ln>
        </p:spPr>
      </p:cxnSp>
      <p:cxnSp>
        <p:nvCxnSpPr>
          <p:cNvPr id="397" name="Google Shape;397;p38"/>
          <p:cNvCxnSpPr>
            <a:stCxn id="378" idx="3"/>
          </p:cNvCxnSpPr>
          <p:nvPr/>
        </p:nvCxnSpPr>
        <p:spPr>
          <a:xfrm flipH="1">
            <a:off x="7139144" y="3742083"/>
            <a:ext cx="526200" cy="344100"/>
          </a:xfrm>
          <a:prstGeom prst="straightConnector1">
            <a:avLst/>
          </a:prstGeom>
          <a:noFill/>
          <a:ln cap="flat" cmpd="sng" w="28575">
            <a:solidFill>
              <a:srgbClr val="FF00FF"/>
            </a:solidFill>
            <a:prstDash val="solid"/>
            <a:round/>
            <a:headEnd len="med" w="med" type="none"/>
            <a:tailEnd len="med" w="med" type="none"/>
          </a:ln>
        </p:spPr>
      </p:cxnSp>
      <p:cxnSp>
        <p:nvCxnSpPr>
          <p:cNvPr id="398" name="Google Shape;398;p38"/>
          <p:cNvCxnSpPr>
            <a:stCxn id="380" idx="4"/>
            <a:endCxn id="378" idx="7"/>
          </p:cNvCxnSpPr>
          <p:nvPr/>
        </p:nvCxnSpPr>
        <p:spPr>
          <a:xfrm flipH="1">
            <a:off x="8058763" y="3002706"/>
            <a:ext cx="55800" cy="382200"/>
          </a:xfrm>
          <a:prstGeom prst="straightConnector1">
            <a:avLst/>
          </a:prstGeom>
          <a:noFill/>
          <a:ln cap="flat" cmpd="sng" w="28575">
            <a:solidFill>
              <a:srgbClr val="FF00FF"/>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generators: Four approaches</a:t>
            </a:r>
            <a:endParaRPr/>
          </a:p>
        </p:txBody>
      </p:sp>
      <p:sp>
        <p:nvSpPr>
          <p:cNvPr id="404" name="Google Shape;404;p39"/>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Famous examples:</a:t>
            </a:r>
            <a:endParaRPr/>
          </a:p>
          <a:p>
            <a:pPr indent="-317500" lvl="1" marL="914400" rtl="0" algn="l">
              <a:spcBef>
                <a:spcPts val="0"/>
              </a:spcBef>
              <a:spcAft>
                <a:spcPts val="0"/>
              </a:spcAft>
              <a:buSzPts val="1400"/>
              <a:buChar char="○"/>
            </a:pPr>
            <a:r>
              <a:rPr lang="en"/>
              <a:t>Wellman’s (1979) </a:t>
            </a:r>
            <a:r>
              <a:rPr i="1" lang="en"/>
              <a:t>East York Study</a:t>
            </a:r>
            <a:r>
              <a:rPr lang="en"/>
              <a:t>:</a:t>
            </a:r>
            <a:endParaRPr/>
          </a:p>
          <a:p>
            <a:pPr indent="-317500" lvl="2" marL="1371600" rtl="0" algn="l">
              <a:spcBef>
                <a:spcPts val="0"/>
              </a:spcBef>
              <a:spcAft>
                <a:spcPts val="0"/>
              </a:spcAft>
              <a:buSzPts val="1400"/>
              <a:buChar char="■"/>
            </a:pPr>
            <a:r>
              <a:rPr lang="en"/>
              <a:t>“Name the six persons outside your home that you feel closest to.”</a:t>
            </a:r>
            <a:endParaRPr/>
          </a:p>
          <a:p>
            <a:pPr indent="-317500" lvl="1" marL="914400" rtl="0" algn="l">
              <a:spcBef>
                <a:spcPts val="0"/>
              </a:spcBef>
              <a:spcAft>
                <a:spcPts val="0"/>
              </a:spcAft>
              <a:buSzPts val="1400"/>
              <a:buChar char="○"/>
            </a:pPr>
            <a:r>
              <a:rPr lang="en"/>
              <a:t>Fischer’s (1982) </a:t>
            </a:r>
            <a:r>
              <a:rPr i="1" lang="en"/>
              <a:t>Northern California Communities Study</a:t>
            </a:r>
            <a:r>
              <a:rPr lang="en"/>
              <a:t>:</a:t>
            </a:r>
            <a:endParaRPr/>
          </a:p>
          <a:p>
            <a:pPr indent="-317500" lvl="2" marL="1371600" rtl="0" algn="l">
              <a:spcBef>
                <a:spcPts val="0"/>
              </a:spcBef>
              <a:spcAft>
                <a:spcPts val="0"/>
              </a:spcAft>
              <a:buSzPts val="1400"/>
              <a:buChar char="■"/>
            </a:pPr>
            <a:r>
              <a:rPr lang="en"/>
              <a:t>“Name all persons who would provide any of eight types of aid”</a:t>
            </a:r>
            <a:endParaRPr/>
          </a:p>
          <a:p>
            <a:pPr indent="-317500" lvl="1" marL="914400" rtl="0" algn="l">
              <a:spcBef>
                <a:spcPts val="0"/>
              </a:spcBef>
              <a:spcAft>
                <a:spcPts val="0"/>
              </a:spcAft>
              <a:buSzPts val="1400"/>
              <a:buChar char="○"/>
            </a:pPr>
            <a:r>
              <a:rPr lang="en"/>
              <a:t>Marsden’s (1987) </a:t>
            </a:r>
            <a:r>
              <a:rPr i="1" lang="en"/>
              <a:t>General Social Survey</a:t>
            </a:r>
            <a:r>
              <a:rPr lang="en"/>
              <a:t>:</a:t>
            </a:r>
            <a:endParaRPr/>
          </a:p>
          <a:p>
            <a:pPr indent="-317500" lvl="2" marL="1371600" rtl="0" algn="l">
              <a:spcBef>
                <a:spcPts val="0"/>
              </a:spcBef>
              <a:spcAft>
                <a:spcPts val="0"/>
              </a:spcAft>
              <a:buSzPts val="1400"/>
              <a:buChar char="■"/>
            </a:pPr>
            <a:r>
              <a:rPr lang="en"/>
              <a:t>“Named all persons with whom you have discussed matters important to you”</a:t>
            </a:r>
            <a:endParaRPr/>
          </a:p>
          <a:p>
            <a:pPr indent="0" lvl="0" marL="457200" rtl="0" algn="l">
              <a:spcBef>
                <a:spcPts val="1200"/>
              </a:spcBef>
              <a:spcAft>
                <a:spcPts val="1200"/>
              </a:spcAft>
              <a:buNone/>
            </a:pPr>
            <a:r>
              <a:t/>
            </a:r>
            <a:endParaRPr/>
          </a:p>
        </p:txBody>
      </p:sp>
      <p:sp>
        <p:nvSpPr>
          <p:cNvPr id="405" name="Google Shape;405;p39"/>
          <p:cNvSpPr/>
          <p:nvPr/>
        </p:nvSpPr>
        <p:spPr>
          <a:xfrm>
            <a:off x="6428125"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406" name="Google Shape;406;p39"/>
          <p:cNvSpPr/>
          <p:nvPr/>
        </p:nvSpPr>
        <p:spPr>
          <a:xfrm>
            <a:off x="5481600"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407" name="Google Shape;407;p39"/>
          <p:cNvSpPr/>
          <p:nvPr/>
        </p:nvSpPr>
        <p:spPr>
          <a:xfrm>
            <a:off x="6567323" y="115515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408" name="Google Shape;408;p39"/>
          <p:cNvSpPr/>
          <p:nvPr/>
        </p:nvSpPr>
        <p:spPr>
          <a:xfrm>
            <a:off x="7583847"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409" name="Google Shape;409;p39"/>
          <p:cNvSpPr/>
          <p:nvPr/>
        </p:nvSpPr>
        <p:spPr>
          <a:xfrm>
            <a:off x="5481600"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410" name="Google Shape;410;p39"/>
          <p:cNvSpPr/>
          <p:nvPr/>
        </p:nvSpPr>
        <p:spPr>
          <a:xfrm>
            <a:off x="6584686" y="386370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411" name="Google Shape;411;p39"/>
          <p:cNvSpPr/>
          <p:nvPr/>
        </p:nvSpPr>
        <p:spPr>
          <a:xfrm>
            <a:off x="7583847"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412" name="Google Shape;412;p39"/>
          <p:cNvSpPr/>
          <p:nvPr/>
        </p:nvSpPr>
        <p:spPr>
          <a:xfrm>
            <a:off x="5298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413" name="Google Shape;413;p39"/>
          <p:cNvSpPr/>
          <p:nvPr/>
        </p:nvSpPr>
        <p:spPr>
          <a:xfrm>
            <a:off x="7836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414" name="Google Shape;414;p39"/>
          <p:cNvCxnSpPr>
            <a:stCxn id="407" idx="4"/>
            <a:endCxn id="405" idx="0"/>
          </p:cNvCxnSpPr>
          <p:nvPr/>
        </p:nvCxnSpPr>
        <p:spPr>
          <a:xfrm>
            <a:off x="6845573" y="1660351"/>
            <a:ext cx="0" cy="674100"/>
          </a:xfrm>
          <a:prstGeom prst="straightConnector1">
            <a:avLst/>
          </a:prstGeom>
          <a:noFill/>
          <a:ln cap="flat" cmpd="sng" w="28575">
            <a:solidFill>
              <a:srgbClr val="0000FF"/>
            </a:solidFill>
            <a:prstDash val="solid"/>
            <a:round/>
            <a:headEnd len="med" w="med" type="none"/>
            <a:tailEnd len="med" w="med" type="none"/>
          </a:ln>
        </p:spPr>
      </p:cxnSp>
      <p:cxnSp>
        <p:nvCxnSpPr>
          <p:cNvPr id="415" name="Google Shape;415;p39"/>
          <p:cNvCxnSpPr>
            <a:stCxn id="410" idx="0"/>
            <a:endCxn id="405" idx="4"/>
          </p:cNvCxnSpPr>
          <p:nvPr/>
        </p:nvCxnSpPr>
        <p:spPr>
          <a:xfrm rot="10800000">
            <a:off x="6845536" y="3165601"/>
            <a:ext cx="17400" cy="698100"/>
          </a:xfrm>
          <a:prstGeom prst="straightConnector1">
            <a:avLst/>
          </a:prstGeom>
          <a:noFill/>
          <a:ln cap="flat" cmpd="sng" w="28575">
            <a:solidFill>
              <a:srgbClr val="0000FF"/>
            </a:solidFill>
            <a:prstDash val="solid"/>
            <a:round/>
            <a:headEnd len="med" w="med" type="none"/>
            <a:tailEnd len="med" w="med" type="none"/>
          </a:ln>
        </p:spPr>
      </p:cxnSp>
      <p:cxnSp>
        <p:nvCxnSpPr>
          <p:cNvPr id="416" name="Google Shape;416;p39"/>
          <p:cNvCxnSpPr>
            <a:stCxn id="412" idx="6"/>
            <a:endCxn id="405" idx="2"/>
          </p:cNvCxnSpPr>
          <p:nvPr/>
        </p:nvCxnSpPr>
        <p:spPr>
          <a:xfrm>
            <a:off x="58548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417" name="Google Shape;417;p39"/>
          <p:cNvCxnSpPr>
            <a:stCxn id="413" idx="2"/>
            <a:endCxn id="405" idx="6"/>
          </p:cNvCxnSpPr>
          <p:nvPr/>
        </p:nvCxnSpPr>
        <p:spPr>
          <a:xfrm rot="10800000">
            <a:off x="72630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418" name="Google Shape;418;p39"/>
          <p:cNvCxnSpPr>
            <a:stCxn id="405" idx="1"/>
            <a:endCxn id="406" idx="5"/>
          </p:cNvCxnSpPr>
          <p:nvPr/>
        </p:nvCxnSpPr>
        <p:spPr>
          <a:xfrm rot="10800000">
            <a:off x="5956693" y="2115391"/>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419" name="Google Shape;419;p39"/>
          <p:cNvCxnSpPr>
            <a:stCxn id="405" idx="7"/>
            <a:endCxn id="408" idx="3"/>
          </p:cNvCxnSpPr>
          <p:nvPr/>
        </p:nvCxnSpPr>
        <p:spPr>
          <a:xfrm flipH="1" rot="10800000">
            <a:off x="7140757" y="2115391"/>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420" name="Google Shape;420;p39"/>
          <p:cNvCxnSpPr>
            <a:stCxn id="409" idx="7"/>
            <a:endCxn id="405" idx="3"/>
          </p:cNvCxnSpPr>
          <p:nvPr/>
        </p:nvCxnSpPr>
        <p:spPr>
          <a:xfrm flipH="1" rot="10800000">
            <a:off x="5956602" y="3044053"/>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421" name="Google Shape;421;p39"/>
          <p:cNvCxnSpPr>
            <a:stCxn id="411" idx="1"/>
            <a:endCxn id="405" idx="5"/>
          </p:cNvCxnSpPr>
          <p:nvPr/>
        </p:nvCxnSpPr>
        <p:spPr>
          <a:xfrm rot="10800000">
            <a:off x="7140644" y="3044053"/>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422" name="Google Shape;422;p39"/>
          <p:cNvCxnSpPr>
            <a:stCxn id="407" idx="2"/>
            <a:endCxn id="406" idx="0"/>
          </p:cNvCxnSpPr>
          <p:nvPr/>
        </p:nvCxnSpPr>
        <p:spPr>
          <a:xfrm flipH="1">
            <a:off x="5759723" y="1407751"/>
            <a:ext cx="807600" cy="276300"/>
          </a:xfrm>
          <a:prstGeom prst="straightConnector1">
            <a:avLst/>
          </a:prstGeom>
          <a:noFill/>
          <a:ln cap="flat" cmpd="sng" w="28575">
            <a:solidFill>
              <a:srgbClr val="FF00FF"/>
            </a:solidFill>
            <a:prstDash val="solid"/>
            <a:round/>
            <a:headEnd len="med" w="med" type="none"/>
            <a:tailEnd len="med" w="med" type="none"/>
          </a:ln>
        </p:spPr>
      </p:cxnSp>
      <p:cxnSp>
        <p:nvCxnSpPr>
          <p:cNvPr id="423" name="Google Shape;423;p39"/>
          <p:cNvCxnSpPr>
            <a:stCxn id="406" idx="3"/>
            <a:endCxn id="412" idx="0"/>
          </p:cNvCxnSpPr>
          <p:nvPr/>
        </p:nvCxnSpPr>
        <p:spPr>
          <a:xfrm>
            <a:off x="5563098" y="2115333"/>
            <a:ext cx="13500" cy="382200"/>
          </a:xfrm>
          <a:prstGeom prst="straightConnector1">
            <a:avLst/>
          </a:prstGeom>
          <a:noFill/>
          <a:ln cap="flat" cmpd="sng" w="28575">
            <a:solidFill>
              <a:srgbClr val="FF00FF"/>
            </a:solidFill>
            <a:prstDash val="solid"/>
            <a:round/>
            <a:headEnd len="med" w="med" type="none"/>
            <a:tailEnd len="med" w="med" type="none"/>
          </a:ln>
        </p:spPr>
      </p:cxnSp>
      <p:cxnSp>
        <p:nvCxnSpPr>
          <p:cNvPr id="424" name="Google Shape;424;p39"/>
          <p:cNvCxnSpPr>
            <a:stCxn id="407" idx="3"/>
            <a:endCxn id="412" idx="7"/>
          </p:cNvCxnSpPr>
          <p:nvPr/>
        </p:nvCxnSpPr>
        <p:spPr>
          <a:xfrm flipH="1">
            <a:off x="5773421" y="1586366"/>
            <a:ext cx="875400" cy="985200"/>
          </a:xfrm>
          <a:prstGeom prst="straightConnector1">
            <a:avLst/>
          </a:prstGeom>
          <a:noFill/>
          <a:ln cap="flat" cmpd="sng" w="28575">
            <a:solidFill>
              <a:srgbClr val="FF00FF"/>
            </a:solidFill>
            <a:prstDash val="solid"/>
            <a:round/>
            <a:headEnd len="med" w="med" type="none"/>
            <a:tailEnd len="med" w="med" type="none"/>
          </a:ln>
        </p:spPr>
      </p:cxnSp>
      <p:cxnSp>
        <p:nvCxnSpPr>
          <p:cNvPr id="425" name="Google Shape;425;p39"/>
          <p:cNvCxnSpPr>
            <a:stCxn id="407" idx="3"/>
            <a:endCxn id="409" idx="0"/>
          </p:cNvCxnSpPr>
          <p:nvPr/>
        </p:nvCxnSpPr>
        <p:spPr>
          <a:xfrm flipH="1">
            <a:off x="5759921" y="1586366"/>
            <a:ext cx="888900" cy="1724400"/>
          </a:xfrm>
          <a:prstGeom prst="straightConnector1">
            <a:avLst/>
          </a:prstGeom>
          <a:noFill/>
          <a:ln cap="flat" cmpd="sng" w="28575">
            <a:solidFill>
              <a:srgbClr val="FF00FF"/>
            </a:solidFill>
            <a:prstDash val="solid"/>
            <a:round/>
            <a:headEnd len="med" w="med" type="none"/>
            <a:tailEnd len="med" w="med" type="none"/>
          </a:ln>
        </p:spPr>
      </p:cxnSp>
      <p:cxnSp>
        <p:nvCxnSpPr>
          <p:cNvPr id="426" name="Google Shape;426;p39"/>
          <p:cNvCxnSpPr>
            <a:stCxn id="412" idx="4"/>
            <a:endCxn id="409" idx="0"/>
          </p:cNvCxnSpPr>
          <p:nvPr/>
        </p:nvCxnSpPr>
        <p:spPr>
          <a:xfrm>
            <a:off x="5576563" y="3002706"/>
            <a:ext cx="183300" cy="308100"/>
          </a:xfrm>
          <a:prstGeom prst="straightConnector1">
            <a:avLst/>
          </a:prstGeom>
          <a:noFill/>
          <a:ln cap="flat" cmpd="sng" w="28575">
            <a:solidFill>
              <a:srgbClr val="FF00FF"/>
            </a:solidFill>
            <a:prstDash val="solid"/>
            <a:round/>
            <a:headEnd len="med" w="med" type="none"/>
            <a:tailEnd len="med" w="med" type="none"/>
          </a:ln>
        </p:spPr>
      </p:cxnSp>
      <p:cxnSp>
        <p:nvCxnSpPr>
          <p:cNvPr id="427" name="Google Shape;427;p39"/>
          <p:cNvCxnSpPr>
            <a:stCxn id="406" idx="5"/>
            <a:endCxn id="409" idx="7"/>
          </p:cNvCxnSpPr>
          <p:nvPr/>
        </p:nvCxnSpPr>
        <p:spPr>
          <a:xfrm>
            <a:off x="5956602" y="2115333"/>
            <a:ext cx="0" cy="1269600"/>
          </a:xfrm>
          <a:prstGeom prst="straightConnector1">
            <a:avLst/>
          </a:prstGeom>
          <a:noFill/>
          <a:ln cap="flat" cmpd="sng" w="28575">
            <a:solidFill>
              <a:srgbClr val="FF00FF"/>
            </a:solidFill>
            <a:prstDash val="solid"/>
            <a:round/>
            <a:headEnd len="med" w="med" type="none"/>
            <a:tailEnd len="med" w="med" type="none"/>
          </a:ln>
        </p:spPr>
      </p:cxnSp>
      <p:cxnSp>
        <p:nvCxnSpPr>
          <p:cNvPr id="428" name="Google Shape;428;p39"/>
          <p:cNvCxnSpPr>
            <a:stCxn id="413" idx="3"/>
            <a:endCxn id="409" idx="6"/>
          </p:cNvCxnSpPr>
          <p:nvPr/>
        </p:nvCxnSpPr>
        <p:spPr>
          <a:xfrm flipH="1">
            <a:off x="6038010" y="2928721"/>
            <a:ext cx="1879800" cy="634800"/>
          </a:xfrm>
          <a:prstGeom prst="straightConnector1">
            <a:avLst/>
          </a:prstGeom>
          <a:noFill/>
          <a:ln cap="flat" cmpd="sng" w="28575">
            <a:solidFill>
              <a:srgbClr val="FF00FF"/>
            </a:solidFill>
            <a:prstDash val="solid"/>
            <a:round/>
            <a:headEnd len="med" w="med" type="none"/>
            <a:tailEnd len="med" w="med" type="none"/>
          </a:ln>
        </p:spPr>
      </p:cxnSp>
      <p:cxnSp>
        <p:nvCxnSpPr>
          <p:cNvPr id="429" name="Google Shape;429;p39"/>
          <p:cNvCxnSpPr>
            <a:stCxn id="410" idx="2"/>
            <a:endCxn id="409" idx="5"/>
          </p:cNvCxnSpPr>
          <p:nvPr/>
        </p:nvCxnSpPr>
        <p:spPr>
          <a:xfrm rot="10800000">
            <a:off x="5956486" y="3742201"/>
            <a:ext cx="628200" cy="374100"/>
          </a:xfrm>
          <a:prstGeom prst="straightConnector1">
            <a:avLst/>
          </a:prstGeom>
          <a:noFill/>
          <a:ln cap="flat" cmpd="sng" w="28575">
            <a:solidFill>
              <a:srgbClr val="FF00FF"/>
            </a:solidFill>
            <a:prstDash val="solid"/>
            <a:round/>
            <a:headEnd len="med" w="med" type="none"/>
            <a:tailEnd len="med" w="med" type="none"/>
          </a:ln>
        </p:spPr>
      </p:cxnSp>
      <p:cxnSp>
        <p:nvCxnSpPr>
          <p:cNvPr id="430" name="Google Shape;430;p39"/>
          <p:cNvCxnSpPr>
            <a:stCxn id="411" idx="3"/>
          </p:cNvCxnSpPr>
          <p:nvPr/>
        </p:nvCxnSpPr>
        <p:spPr>
          <a:xfrm flipH="1">
            <a:off x="7139144" y="3742083"/>
            <a:ext cx="526200" cy="344100"/>
          </a:xfrm>
          <a:prstGeom prst="straightConnector1">
            <a:avLst/>
          </a:prstGeom>
          <a:noFill/>
          <a:ln cap="flat" cmpd="sng" w="28575">
            <a:solidFill>
              <a:srgbClr val="FF00FF"/>
            </a:solidFill>
            <a:prstDash val="solid"/>
            <a:round/>
            <a:headEnd len="med" w="med" type="none"/>
            <a:tailEnd len="med" w="med" type="none"/>
          </a:ln>
        </p:spPr>
      </p:cxnSp>
      <p:cxnSp>
        <p:nvCxnSpPr>
          <p:cNvPr id="431" name="Google Shape;431;p39"/>
          <p:cNvCxnSpPr>
            <a:stCxn id="413" idx="4"/>
            <a:endCxn id="411" idx="7"/>
          </p:cNvCxnSpPr>
          <p:nvPr/>
        </p:nvCxnSpPr>
        <p:spPr>
          <a:xfrm flipH="1">
            <a:off x="8058763" y="3002706"/>
            <a:ext cx="55800" cy="382200"/>
          </a:xfrm>
          <a:prstGeom prst="straightConnector1">
            <a:avLst/>
          </a:prstGeom>
          <a:noFill/>
          <a:ln cap="flat" cmpd="sng" w="28575">
            <a:solidFill>
              <a:srgbClr val="FF00FF"/>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generators: Four approaches</a:t>
            </a:r>
            <a:endParaRPr/>
          </a:p>
        </p:txBody>
      </p:sp>
      <p:sp>
        <p:nvSpPr>
          <p:cNvPr id="437" name="Google Shape;437;p4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Role-Relation Approach</a:t>
            </a:r>
            <a:endParaRPr/>
          </a:p>
          <a:p>
            <a:pPr indent="-317500" lvl="1" marL="914400" rtl="0" algn="l">
              <a:spcBef>
                <a:spcPts val="0"/>
              </a:spcBef>
              <a:spcAft>
                <a:spcPts val="0"/>
              </a:spcAft>
              <a:buSzPts val="1400"/>
              <a:buChar char="○"/>
            </a:pPr>
            <a:r>
              <a:rPr lang="en"/>
              <a:t>Problem: low reliability, cultural specificity issues, cross-respondent heterogeneity in label interpretation (what is a “friend”?)</a:t>
            </a:r>
            <a:endParaRPr/>
          </a:p>
          <a:p>
            <a:pPr indent="-342900" lvl="0" marL="457200" rtl="0" algn="l">
              <a:spcBef>
                <a:spcPts val="0"/>
              </a:spcBef>
              <a:spcAft>
                <a:spcPts val="0"/>
              </a:spcAft>
              <a:buSzPts val="1800"/>
              <a:buChar char="●"/>
            </a:pPr>
            <a:r>
              <a:rPr lang="en"/>
              <a:t>Interaction Approach</a:t>
            </a:r>
            <a:endParaRPr/>
          </a:p>
          <a:p>
            <a:pPr indent="-317500" lvl="1" marL="914400" rtl="0" algn="l">
              <a:spcBef>
                <a:spcPts val="0"/>
              </a:spcBef>
              <a:spcAft>
                <a:spcPts val="0"/>
              </a:spcAft>
              <a:buSzPts val="1400"/>
              <a:buChar char="○"/>
            </a:pPr>
            <a:r>
              <a:rPr lang="en"/>
              <a:t>Less validity issues than role-relations, but frequency does not equal importance/closeness (needs to be combined with other approaches)</a:t>
            </a:r>
            <a:endParaRPr/>
          </a:p>
          <a:p>
            <a:pPr indent="-342900" lvl="0" marL="457200" rtl="0" algn="l">
              <a:spcBef>
                <a:spcPts val="0"/>
              </a:spcBef>
              <a:spcAft>
                <a:spcPts val="0"/>
              </a:spcAft>
              <a:buSzPts val="1800"/>
              <a:buChar char="●"/>
            </a:pPr>
            <a:r>
              <a:rPr lang="en"/>
              <a:t>Affective Approach</a:t>
            </a:r>
            <a:endParaRPr/>
          </a:p>
          <a:p>
            <a:pPr indent="-317500" lvl="1" marL="914400" rtl="0" algn="l">
              <a:spcBef>
                <a:spcPts val="0"/>
              </a:spcBef>
              <a:spcAft>
                <a:spcPts val="0"/>
              </a:spcAft>
              <a:buSzPts val="1400"/>
              <a:buChar char="○"/>
            </a:pPr>
            <a:r>
              <a:rPr lang="en"/>
              <a:t>Same reliability issues as role-relation items but useful for eliciting strong or subjectively significant ties; elicits smaller networks</a:t>
            </a:r>
            <a:endParaRPr/>
          </a:p>
          <a:p>
            <a:pPr indent="-342900" lvl="0" marL="457200" rtl="0" algn="l">
              <a:spcBef>
                <a:spcPts val="0"/>
              </a:spcBef>
              <a:spcAft>
                <a:spcPts val="0"/>
              </a:spcAft>
              <a:buSzPts val="1800"/>
              <a:buChar char="●"/>
            </a:pPr>
            <a:r>
              <a:rPr lang="en"/>
              <a:t>Exchange Approach</a:t>
            </a:r>
            <a:endParaRPr/>
          </a:p>
          <a:p>
            <a:pPr indent="-317500" lvl="1" marL="914400" rtl="0" algn="l">
              <a:spcBef>
                <a:spcPts val="0"/>
              </a:spcBef>
              <a:spcAft>
                <a:spcPts val="0"/>
              </a:spcAft>
              <a:buSzPts val="1400"/>
              <a:buChar char="○"/>
            </a:pPr>
            <a:r>
              <a:rPr lang="en"/>
              <a:t>Less reliability problems, useful for social capital studies, but not appropriate for all purposes; can capture weak ties and larger number of alters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generators: Example</a:t>
            </a:r>
            <a:endParaRPr/>
          </a:p>
        </p:txBody>
      </p:sp>
      <p:sp>
        <p:nvSpPr>
          <p:cNvPr id="443" name="Google Shape;443;p41"/>
          <p:cNvSpPr txBox="1"/>
          <p:nvPr>
            <p:ph idx="1" type="body"/>
          </p:nvPr>
        </p:nvSpPr>
        <p:spPr>
          <a:xfrm>
            <a:off x="311700" y="1225225"/>
            <a:ext cx="38649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What’s the best approach?</a:t>
            </a:r>
            <a:endParaRPr/>
          </a:p>
          <a:p>
            <a:pPr indent="-342900" lvl="0" marL="457200" rtl="0" algn="l">
              <a:spcBef>
                <a:spcPts val="0"/>
              </a:spcBef>
              <a:spcAft>
                <a:spcPts val="0"/>
              </a:spcAft>
              <a:buSzPts val="1800"/>
              <a:buChar char="●"/>
            </a:pPr>
            <a:r>
              <a:rPr lang="en"/>
              <a:t>Pick the “most-neutral” criterion for eliciting names</a:t>
            </a:r>
            <a:endParaRPr/>
          </a:p>
          <a:p>
            <a:pPr indent="-317500" lvl="1" marL="914400" rtl="0" algn="l">
              <a:spcBef>
                <a:spcPts val="0"/>
              </a:spcBef>
              <a:spcAft>
                <a:spcPts val="0"/>
              </a:spcAft>
              <a:buSzPts val="1400"/>
              <a:buChar char="○"/>
            </a:pPr>
            <a:r>
              <a:rPr lang="en"/>
              <a:t>Like interaction frequency)</a:t>
            </a:r>
            <a:endParaRPr/>
          </a:p>
          <a:p>
            <a:pPr indent="-317500" lvl="1" marL="914400" rtl="0" algn="l">
              <a:spcBef>
                <a:spcPts val="0"/>
              </a:spcBef>
              <a:spcAft>
                <a:spcPts val="0"/>
              </a:spcAft>
              <a:buSzPts val="1400"/>
              <a:buChar char="○"/>
            </a:pPr>
            <a:r>
              <a:rPr lang="en"/>
              <a:t>Then use </a:t>
            </a:r>
            <a:r>
              <a:rPr b="1" lang="en"/>
              <a:t>name interpreters</a:t>
            </a:r>
            <a:r>
              <a:rPr lang="en"/>
              <a:t> to get at roles, exchanges, sentiments and so on</a:t>
            </a:r>
            <a:endParaRPr/>
          </a:p>
          <a:p>
            <a:pPr indent="0" lvl="0" marL="457200" rtl="0" algn="l">
              <a:spcBef>
                <a:spcPts val="1200"/>
              </a:spcBef>
              <a:spcAft>
                <a:spcPts val="1200"/>
              </a:spcAft>
              <a:buNone/>
            </a:pPr>
            <a:r>
              <a:t/>
            </a:r>
            <a:endParaRPr/>
          </a:p>
        </p:txBody>
      </p:sp>
      <p:pic>
        <p:nvPicPr>
          <p:cNvPr id="444" name="Google Shape;444;p41"/>
          <p:cNvPicPr preferRelativeResize="0"/>
          <p:nvPr/>
        </p:nvPicPr>
        <p:blipFill>
          <a:blip r:embed="rId3">
            <a:alphaModFix/>
          </a:blip>
          <a:stretch>
            <a:fillRect/>
          </a:stretch>
        </p:blipFill>
        <p:spPr>
          <a:xfrm>
            <a:off x="4807975" y="1225225"/>
            <a:ext cx="3761365" cy="3691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interpreters</a:t>
            </a:r>
            <a:endParaRPr/>
          </a:p>
        </p:txBody>
      </p:sp>
      <p:sp>
        <p:nvSpPr>
          <p:cNvPr id="450" name="Google Shape;450;p42"/>
          <p:cNvSpPr txBox="1"/>
          <p:nvPr>
            <p:ph idx="1" type="body"/>
          </p:nvPr>
        </p:nvSpPr>
        <p:spPr>
          <a:xfrm>
            <a:off x="311700" y="1225225"/>
            <a:ext cx="46383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b="1" lang="en"/>
              <a:t>Relationship to the organization</a:t>
            </a:r>
            <a:endParaRPr b="1"/>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200"/>
              </a:spcBef>
              <a:spcAft>
                <a:spcPts val="1600"/>
              </a:spcAft>
              <a:buNone/>
            </a:pPr>
            <a:r>
              <a:t/>
            </a:r>
            <a:endParaRPr/>
          </a:p>
        </p:txBody>
      </p:sp>
      <p:pic>
        <p:nvPicPr>
          <p:cNvPr id="451" name="Google Shape;451;p42"/>
          <p:cNvPicPr preferRelativeResize="0"/>
          <p:nvPr/>
        </p:nvPicPr>
        <p:blipFill>
          <a:blip r:embed="rId3">
            <a:alphaModFix/>
          </a:blip>
          <a:stretch>
            <a:fillRect/>
          </a:stretch>
        </p:blipFill>
        <p:spPr>
          <a:xfrm>
            <a:off x="4950000" y="1182588"/>
            <a:ext cx="3889199" cy="343927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interpreters</a:t>
            </a:r>
            <a:endParaRPr/>
          </a:p>
        </p:txBody>
      </p:sp>
      <p:sp>
        <p:nvSpPr>
          <p:cNvPr id="457" name="Google Shape;457;p43"/>
          <p:cNvSpPr txBox="1"/>
          <p:nvPr>
            <p:ph idx="1" type="body"/>
          </p:nvPr>
        </p:nvSpPr>
        <p:spPr>
          <a:xfrm>
            <a:off x="311700" y="1225225"/>
            <a:ext cx="46383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b="1" lang="en"/>
              <a:t>Sex/Gender</a:t>
            </a:r>
            <a:endParaRPr b="1"/>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200"/>
              </a:spcBef>
              <a:spcAft>
                <a:spcPts val="1600"/>
              </a:spcAft>
              <a:buNone/>
            </a:pPr>
            <a:r>
              <a:t/>
            </a:r>
            <a:endParaRPr/>
          </a:p>
        </p:txBody>
      </p:sp>
      <p:pic>
        <p:nvPicPr>
          <p:cNvPr id="458" name="Google Shape;458;p43"/>
          <p:cNvPicPr preferRelativeResize="0"/>
          <p:nvPr/>
        </p:nvPicPr>
        <p:blipFill>
          <a:blip r:embed="rId3">
            <a:alphaModFix/>
          </a:blip>
          <a:stretch>
            <a:fillRect/>
          </a:stretch>
        </p:blipFill>
        <p:spPr>
          <a:xfrm>
            <a:off x="5102400" y="1299625"/>
            <a:ext cx="3889200" cy="334341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interpreters</a:t>
            </a:r>
            <a:endParaRPr/>
          </a:p>
        </p:txBody>
      </p:sp>
      <p:sp>
        <p:nvSpPr>
          <p:cNvPr id="464" name="Google Shape;464;p44"/>
          <p:cNvSpPr txBox="1"/>
          <p:nvPr>
            <p:ph idx="1" type="body"/>
          </p:nvPr>
        </p:nvSpPr>
        <p:spPr>
          <a:xfrm>
            <a:off x="311700" y="1225225"/>
            <a:ext cx="46383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b="1" lang="en"/>
              <a:t>Race</a:t>
            </a:r>
            <a:endParaRPr b="1"/>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200"/>
              </a:spcBef>
              <a:spcAft>
                <a:spcPts val="1600"/>
              </a:spcAft>
              <a:buNone/>
            </a:pPr>
            <a:r>
              <a:t/>
            </a:r>
            <a:endParaRPr/>
          </a:p>
        </p:txBody>
      </p:sp>
      <p:pic>
        <p:nvPicPr>
          <p:cNvPr id="465" name="Google Shape;465;p44"/>
          <p:cNvPicPr preferRelativeResize="0"/>
          <p:nvPr/>
        </p:nvPicPr>
        <p:blipFill>
          <a:blip r:embed="rId3">
            <a:alphaModFix/>
          </a:blip>
          <a:stretch>
            <a:fillRect/>
          </a:stretch>
        </p:blipFill>
        <p:spPr>
          <a:xfrm>
            <a:off x="5102400" y="1299625"/>
            <a:ext cx="3889202" cy="331816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interpreters</a:t>
            </a:r>
            <a:endParaRPr/>
          </a:p>
        </p:txBody>
      </p:sp>
      <p:sp>
        <p:nvSpPr>
          <p:cNvPr id="471" name="Google Shape;471;p45"/>
          <p:cNvSpPr txBox="1"/>
          <p:nvPr>
            <p:ph idx="1" type="body"/>
          </p:nvPr>
        </p:nvSpPr>
        <p:spPr>
          <a:xfrm>
            <a:off x="311700" y="1225225"/>
            <a:ext cx="46383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b="1" lang="en"/>
              <a:t>Religion</a:t>
            </a:r>
            <a:endParaRPr b="1"/>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200"/>
              </a:spcBef>
              <a:spcAft>
                <a:spcPts val="1600"/>
              </a:spcAft>
              <a:buNone/>
            </a:pPr>
            <a:r>
              <a:t/>
            </a:r>
            <a:endParaRPr/>
          </a:p>
        </p:txBody>
      </p:sp>
      <p:pic>
        <p:nvPicPr>
          <p:cNvPr id="472" name="Google Shape;472;p45"/>
          <p:cNvPicPr preferRelativeResize="0"/>
          <p:nvPr/>
        </p:nvPicPr>
        <p:blipFill>
          <a:blip r:embed="rId3">
            <a:alphaModFix/>
          </a:blip>
          <a:stretch>
            <a:fillRect/>
          </a:stretch>
        </p:blipFill>
        <p:spPr>
          <a:xfrm>
            <a:off x="5102400" y="1299625"/>
            <a:ext cx="3889200" cy="295333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interpreters</a:t>
            </a:r>
            <a:endParaRPr/>
          </a:p>
        </p:txBody>
      </p:sp>
      <p:sp>
        <p:nvSpPr>
          <p:cNvPr id="478" name="Google Shape;478;p46"/>
          <p:cNvSpPr txBox="1"/>
          <p:nvPr>
            <p:ph idx="1" type="body"/>
          </p:nvPr>
        </p:nvSpPr>
        <p:spPr>
          <a:xfrm>
            <a:off x="311700" y="1225225"/>
            <a:ext cx="4638300" cy="3354000"/>
          </a:xfrm>
          <a:prstGeom prst="rect">
            <a:avLst/>
          </a:prstGeom>
        </p:spPr>
        <p:txBody>
          <a:bodyPr anchorCtr="0" anchor="t" bIns="91425" lIns="91425" spcFirstLastPara="1" rIns="91425" wrap="square" tIns="91425">
            <a:normAutofit lnSpcReduction="20000"/>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lang="en"/>
              <a:t>Sentiments</a:t>
            </a:r>
            <a:endParaRPr/>
          </a:p>
          <a:p>
            <a:pPr indent="-317500" lvl="2" marL="1371600" rtl="0" algn="l">
              <a:spcBef>
                <a:spcPts val="0"/>
              </a:spcBef>
              <a:spcAft>
                <a:spcPts val="0"/>
              </a:spcAft>
              <a:buSzPts val="1400"/>
              <a:buChar char="■"/>
            </a:pPr>
            <a:r>
              <a:rPr lang="en"/>
              <a:t>Loving, exciting, significant, negative sentiments (difficult person)</a:t>
            </a:r>
            <a:endParaRPr/>
          </a:p>
          <a:p>
            <a:pPr indent="-317500" lvl="1" marL="914400" rtl="0" algn="l">
              <a:spcBef>
                <a:spcPts val="0"/>
              </a:spcBef>
              <a:spcAft>
                <a:spcPts val="0"/>
              </a:spcAft>
              <a:buSzPts val="1400"/>
              <a:buChar char="○"/>
            </a:pPr>
            <a:r>
              <a:rPr lang="en"/>
              <a:t>Exchanges and Support</a:t>
            </a:r>
            <a:endParaRPr/>
          </a:p>
          <a:p>
            <a:pPr indent="-317500" lvl="2" marL="1371600" rtl="0" algn="l">
              <a:spcBef>
                <a:spcPts val="0"/>
              </a:spcBef>
              <a:spcAft>
                <a:spcPts val="0"/>
              </a:spcAft>
              <a:buSzPts val="1400"/>
              <a:buChar char="■"/>
            </a:pPr>
            <a:r>
              <a:rPr lang="en"/>
              <a:t>Advice, would go to for financial help, discuss important matters, etc.</a:t>
            </a:r>
            <a:endParaRPr/>
          </a:p>
          <a:p>
            <a:pPr indent="-317500" lvl="1" marL="914400" rtl="0" algn="l">
              <a:spcBef>
                <a:spcPts val="0"/>
              </a:spcBef>
              <a:spcAft>
                <a:spcPts val="0"/>
              </a:spcAft>
              <a:buSzPts val="1400"/>
              <a:buChar char="○"/>
            </a:pPr>
            <a:r>
              <a:rPr lang="en"/>
              <a:t>Relationship age or duration</a:t>
            </a:r>
            <a:endParaRPr/>
          </a:p>
          <a:p>
            <a:pPr indent="-317500" lvl="2" marL="1371600" rtl="0" algn="l">
              <a:spcBef>
                <a:spcPts val="0"/>
              </a:spcBef>
              <a:spcAft>
                <a:spcPts val="0"/>
              </a:spcAft>
              <a:buSzPts val="1400"/>
              <a:buChar char="■"/>
            </a:pPr>
            <a:r>
              <a:rPr lang="en"/>
              <a:t>How long have you known? </a:t>
            </a:r>
            <a:endParaRPr/>
          </a:p>
          <a:p>
            <a:pPr indent="0" lvl="0" marL="457200" marR="0" rtl="0" algn="l">
              <a:lnSpc>
                <a:spcPct val="115000"/>
              </a:lnSpc>
              <a:spcBef>
                <a:spcPts val="1200"/>
              </a:spcBef>
              <a:spcAft>
                <a:spcPts val="1600"/>
              </a:spcAft>
              <a:buNone/>
            </a:pPr>
            <a:r>
              <a:t/>
            </a:r>
            <a:endParaRPr/>
          </a:p>
        </p:txBody>
      </p:sp>
      <p:pic>
        <p:nvPicPr>
          <p:cNvPr id="479" name="Google Shape;479;p46"/>
          <p:cNvPicPr preferRelativeResize="0"/>
          <p:nvPr/>
        </p:nvPicPr>
        <p:blipFill>
          <a:blip r:embed="rId3">
            <a:alphaModFix/>
          </a:blip>
          <a:stretch>
            <a:fillRect/>
          </a:stretch>
        </p:blipFill>
        <p:spPr>
          <a:xfrm>
            <a:off x="4950000" y="1165975"/>
            <a:ext cx="3889199" cy="34724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interpreters</a:t>
            </a:r>
            <a:endParaRPr/>
          </a:p>
        </p:txBody>
      </p:sp>
      <p:sp>
        <p:nvSpPr>
          <p:cNvPr id="485" name="Google Shape;485;p47"/>
          <p:cNvSpPr txBox="1"/>
          <p:nvPr>
            <p:ph idx="1" type="body"/>
          </p:nvPr>
        </p:nvSpPr>
        <p:spPr>
          <a:xfrm>
            <a:off x="311700" y="1225225"/>
            <a:ext cx="4638300" cy="3354000"/>
          </a:xfrm>
          <a:prstGeom prst="rect">
            <a:avLst/>
          </a:prstGeom>
        </p:spPr>
        <p:txBody>
          <a:bodyPr anchorCtr="0" anchor="t" bIns="91425" lIns="91425" spcFirstLastPara="1" rIns="91425" wrap="square" tIns="91425">
            <a:normAutofit lnSpcReduction="20000"/>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Role-relations</a:t>
            </a:r>
            <a:endParaRPr/>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b="1" lang="en"/>
              <a:t>Sentiments</a:t>
            </a:r>
            <a:endParaRPr b="1"/>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lang="en"/>
              <a:t>Exchanges and Support</a:t>
            </a:r>
            <a:endParaRPr/>
          </a:p>
          <a:p>
            <a:pPr indent="-317500" lvl="2" marL="1371600" rtl="0" algn="l">
              <a:spcBef>
                <a:spcPts val="0"/>
              </a:spcBef>
              <a:spcAft>
                <a:spcPts val="0"/>
              </a:spcAft>
              <a:buSzPts val="1400"/>
              <a:buChar char="■"/>
            </a:pPr>
            <a:r>
              <a:rPr lang="en"/>
              <a:t>Advice, would go to for financial help, discuss important matters, etc.</a:t>
            </a:r>
            <a:endParaRPr/>
          </a:p>
          <a:p>
            <a:pPr indent="-317500" lvl="1" marL="914400" rtl="0" algn="l">
              <a:spcBef>
                <a:spcPts val="0"/>
              </a:spcBef>
              <a:spcAft>
                <a:spcPts val="0"/>
              </a:spcAft>
              <a:buSzPts val="1400"/>
              <a:buChar char="○"/>
            </a:pPr>
            <a:r>
              <a:rPr lang="en"/>
              <a:t>Relationship age or duration</a:t>
            </a:r>
            <a:endParaRPr/>
          </a:p>
          <a:p>
            <a:pPr indent="-317500" lvl="2" marL="1371600" rtl="0" algn="l">
              <a:spcBef>
                <a:spcPts val="0"/>
              </a:spcBef>
              <a:spcAft>
                <a:spcPts val="0"/>
              </a:spcAft>
              <a:buSzPts val="1400"/>
              <a:buChar char="■"/>
            </a:pPr>
            <a:r>
              <a:rPr lang="en"/>
              <a:t>How long have you known? </a:t>
            </a:r>
            <a:endParaRPr/>
          </a:p>
          <a:p>
            <a:pPr indent="0" lvl="0" marL="457200" marR="0" rtl="0" algn="l">
              <a:lnSpc>
                <a:spcPct val="115000"/>
              </a:lnSpc>
              <a:spcBef>
                <a:spcPts val="1200"/>
              </a:spcBef>
              <a:spcAft>
                <a:spcPts val="1600"/>
              </a:spcAft>
              <a:buNone/>
            </a:pPr>
            <a:r>
              <a:t/>
            </a:r>
            <a:endParaRPr/>
          </a:p>
        </p:txBody>
      </p:sp>
      <p:pic>
        <p:nvPicPr>
          <p:cNvPr id="486" name="Google Shape;486;p47"/>
          <p:cNvPicPr preferRelativeResize="0"/>
          <p:nvPr/>
        </p:nvPicPr>
        <p:blipFill>
          <a:blip r:embed="rId3">
            <a:alphaModFix/>
          </a:blip>
          <a:stretch>
            <a:fillRect/>
          </a:stretch>
        </p:blipFill>
        <p:spPr>
          <a:xfrm>
            <a:off x="5102400" y="1299625"/>
            <a:ext cx="3889199" cy="305233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pic>
        <p:nvPicPr>
          <p:cNvPr id="491" name="Google Shape;491;p48"/>
          <p:cNvPicPr preferRelativeResize="0"/>
          <p:nvPr/>
        </p:nvPicPr>
        <p:blipFill rotWithShape="1">
          <a:blip r:embed="rId3">
            <a:alphaModFix/>
          </a:blip>
          <a:srcRect b="8417" l="0" r="0" t="0"/>
          <a:stretch/>
        </p:blipFill>
        <p:spPr>
          <a:xfrm>
            <a:off x="4950000" y="1056498"/>
            <a:ext cx="3709650" cy="3071800"/>
          </a:xfrm>
          <a:prstGeom prst="rect">
            <a:avLst/>
          </a:prstGeom>
          <a:noFill/>
          <a:ln>
            <a:noFill/>
          </a:ln>
        </p:spPr>
      </p:pic>
      <p:sp>
        <p:nvSpPr>
          <p:cNvPr id="492" name="Google Shape;492;p48"/>
          <p:cNvSpPr/>
          <p:nvPr/>
        </p:nvSpPr>
        <p:spPr>
          <a:xfrm>
            <a:off x="4999500" y="2125675"/>
            <a:ext cx="1650600" cy="2648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93" name="Google Shape;493;p4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interpreters</a:t>
            </a:r>
            <a:endParaRPr/>
          </a:p>
        </p:txBody>
      </p:sp>
      <p:sp>
        <p:nvSpPr>
          <p:cNvPr id="494" name="Google Shape;494;p48"/>
          <p:cNvSpPr txBox="1"/>
          <p:nvPr>
            <p:ph idx="1" type="body"/>
          </p:nvPr>
        </p:nvSpPr>
        <p:spPr>
          <a:xfrm>
            <a:off x="311700" y="1225225"/>
            <a:ext cx="4638300" cy="3354000"/>
          </a:xfrm>
          <a:prstGeom prst="rect">
            <a:avLst/>
          </a:prstGeom>
        </p:spPr>
        <p:txBody>
          <a:bodyPr anchorCtr="0" anchor="t" bIns="91425" lIns="91425" spcFirstLastPara="1" rIns="91425" wrap="square" tIns="91425">
            <a:normAutofit lnSpcReduction="20000"/>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Role-relations</a:t>
            </a:r>
            <a:endParaRPr/>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lang="en"/>
              <a:t>Sentiments</a:t>
            </a:r>
            <a:endParaRPr/>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b="1" lang="en"/>
              <a:t>Exchanges and Support</a:t>
            </a:r>
            <a:endParaRPr b="1"/>
          </a:p>
          <a:p>
            <a:pPr indent="-317500" lvl="2" marL="1371600" rtl="0" algn="l">
              <a:spcBef>
                <a:spcPts val="0"/>
              </a:spcBef>
              <a:spcAft>
                <a:spcPts val="0"/>
              </a:spcAft>
              <a:buSzPts val="1400"/>
              <a:buChar char="■"/>
            </a:pPr>
            <a:r>
              <a:rPr lang="en"/>
              <a:t>Advice, would go to for financial help, discuss important matters, etc.</a:t>
            </a:r>
            <a:endParaRPr/>
          </a:p>
          <a:p>
            <a:pPr indent="-317500" lvl="1" marL="914400" rtl="0" algn="l">
              <a:spcBef>
                <a:spcPts val="0"/>
              </a:spcBef>
              <a:spcAft>
                <a:spcPts val="0"/>
              </a:spcAft>
              <a:buSzPts val="1400"/>
              <a:buChar char="○"/>
            </a:pPr>
            <a:r>
              <a:rPr lang="en"/>
              <a:t>Relationship age or duration</a:t>
            </a:r>
            <a:endParaRPr/>
          </a:p>
          <a:p>
            <a:pPr indent="-317500" lvl="2" marL="1371600" rtl="0" algn="l">
              <a:spcBef>
                <a:spcPts val="0"/>
              </a:spcBef>
              <a:spcAft>
                <a:spcPts val="0"/>
              </a:spcAft>
              <a:buSzPts val="1400"/>
              <a:buChar char="■"/>
            </a:pPr>
            <a:r>
              <a:rPr lang="en"/>
              <a:t>How long have you known? </a:t>
            </a:r>
            <a:endParaRPr/>
          </a:p>
          <a:p>
            <a:pPr indent="0" lvl="0" marL="457200" marR="0" rtl="0" algn="l">
              <a:lnSpc>
                <a:spcPct val="115000"/>
              </a:lnSpc>
              <a:spcBef>
                <a:spcPts val="1200"/>
              </a:spcBef>
              <a:spcAft>
                <a:spcPts val="1600"/>
              </a:spcAft>
              <a:buNone/>
            </a:pPr>
            <a:r>
              <a:t/>
            </a:r>
            <a:endParaRPr/>
          </a:p>
        </p:txBody>
      </p:sp>
      <p:pic>
        <p:nvPicPr>
          <p:cNvPr id="495" name="Google Shape;495;p48"/>
          <p:cNvPicPr preferRelativeResize="0"/>
          <p:nvPr/>
        </p:nvPicPr>
        <p:blipFill rotWithShape="1">
          <a:blip r:embed="rId4">
            <a:alphaModFix/>
          </a:blip>
          <a:srcRect b="0" l="0" r="87378" t="32446"/>
          <a:stretch/>
        </p:blipFill>
        <p:spPr>
          <a:xfrm>
            <a:off x="6289925" y="2066300"/>
            <a:ext cx="490876" cy="2062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interpreters</a:t>
            </a:r>
            <a:endParaRPr/>
          </a:p>
        </p:txBody>
      </p:sp>
      <p:sp>
        <p:nvSpPr>
          <p:cNvPr id="501" name="Google Shape;501;p49"/>
          <p:cNvSpPr txBox="1"/>
          <p:nvPr>
            <p:ph idx="1" type="body"/>
          </p:nvPr>
        </p:nvSpPr>
        <p:spPr>
          <a:xfrm>
            <a:off x="311700" y="1225225"/>
            <a:ext cx="4638300" cy="3354000"/>
          </a:xfrm>
          <a:prstGeom prst="rect">
            <a:avLst/>
          </a:prstGeom>
        </p:spPr>
        <p:txBody>
          <a:bodyPr anchorCtr="0" anchor="t" bIns="91425" lIns="91425" spcFirstLastPara="1" rIns="91425" wrap="square" tIns="91425">
            <a:normAutofit lnSpcReduction="20000"/>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Role-relations</a:t>
            </a:r>
            <a:endParaRPr/>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lang="en"/>
              <a:t>Sentiments</a:t>
            </a:r>
            <a:endParaRPr/>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lang="en"/>
              <a:t>Exchanges and Support</a:t>
            </a:r>
            <a:endParaRPr/>
          </a:p>
          <a:p>
            <a:pPr indent="-317500" lvl="2" marL="1371600" rtl="0" algn="l">
              <a:spcBef>
                <a:spcPts val="0"/>
              </a:spcBef>
              <a:spcAft>
                <a:spcPts val="0"/>
              </a:spcAft>
              <a:buSzPts val="1400"/>
              <a:buChar char="■"/>
            </a:pPr>
            <a:r>
              <a:rPr lang="en"/>
              <a:t>Advice, would go to for financial help, discuss important matters, etc.</a:t>
            </a:r>
            <a:endParaRPr/>
          </a:p>
          <a:p>
            <a:pPr indent="-317500" lvl="1" marL="914400" rtl="0" algn="l">
              <a:spcBef>
                <a:spcPts val="0"/>
              </a:spcBef>
              <a:spcAft>
                <a:spcPts val="0"/>
              </a:spcAft>
              <a:buSzPts val="1400"/>
              <a:buChar char="○"/>
            </a:pPr>
            <a:r>
              <a:rPr b="1" lang="en"/>
              <a:t>Relationship age or duration</a:t>
            </a:r>
            <a:endParaRPr b="1"/>
          </a:p>
          <a:p>
            <a:pPr indent="-317500" lvl="2" marL="1371600" rtl="0" algn="l">
              <a:spcBef>
                <a:spcPts val="0"/>
              </a:spcBef>
              <a:spcAft>
                <a:spcPts val="0"/>
              </a:spcAft>
              <a:buSzPts val="1400"/>
              <a:buChar char="■"/>
            </a:pPr>
            <a:r>
              <a:rPr lang="en"/>
              <a:t>How long have you known? </a:t>
            </a:r>
            <a:endParaRPr/>
          </a:p>
          <a:p>
            <a:pPr indent="0" lvl="0" marL="457200" marR="0" rtl="0" algn="l">
              <a:lnSpc>
                <a:spcPct val="115000"/>
              </a:lnSpc>
              <a:spcBef>
                <a:spcPts val="1200"/>
              </a:spcBef>
              <a:spcAft>
                <a:spcPts val="1600"/>
              </a:spcAft>
              <a:buNone/>
            </a:pPr>
            <a:r>
              <a:t/>
            </a:r>
            <a:endParaRPr/>
          </a:p>
        </p:txBody>
      </p:sp>
      <p:pic>
        <p:nvPicPr>
          <p:cNvPr id="502" name="Google Shape;502;p49"/>
          <p:cNvPicPr preferRelativeResize="0"/>
          <p:nvPr/>
        </p:nvPicPr>
        <p:blipFill>
          <a:blip r:embed="rId3">
            <a:alphaModFix/>
          </a:blip>
          <a:stretch>
            <a:fillRect/>
          </a:stretch>
        </p:blipFill>
        <p:spPr>
          <a:xfrm>
            <a:off x="5073600" y="1299625"/>
            <a:ext cx="3918001" cy="303453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interpreters</a:t>
            </a:r>
            <a:endParaRPr/>
          </a:p>
        </p:txBody>
      </p:sp>
      <p:sp>
        <p:nvSpPr>
          <p:cNvPr id="508" name="Google Shape;508;p50"/>
          <p:cNvSpPr txBox="1"/>
          <p:nvPr>
            <p:ph idx="1" type="body"/>
          </p:nvPr>
        </p:nvSpPr>
        <p:spPr>
          <a:xfrm>
            <a:off x="311700" y="1225225"/>
            <a:ext cx="4609500" cy="33540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b="1" lang="en"/>
              <a:t>Subjective similarity</a:t>
            </a:r>
            <a:endParaRPr b="1"/>
          </a:p>
          <a:p>
            <a:pPr indent="-317500" lvl="1" marL="914400" rtl="0" algn="l">
              <a:spcBef>
                <a:spcPts val="0"/>
              </a:spcBef>
              <a:spcAft>
                <a:spcPts val="0"/>
              </a:spcAft>
              <a:buSzPts val="1400"/>
              <a:buChar char="○"/>
            </a:pPr>
            <a:r>
              <a:rPr lang="en"/>
              <a:t>“Cultural matching”</a:t>
            </a:r>
            <a:endParaRPr/>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200"/>
              </a:spcBef>
              <a:spcAft>
                <a:spcPts val="1600"/>
              </a:spcAft>
              <a:buNone/>
            </a:pPr>
            <a:r>
              <a:t/>
            </a:r>
            <a:endParaRPr/>
          </a:p>
        </p:txBody>
      </p:sp>
      <p:pic>
        <p:nvPicPr>
          <p:cNvPr id="509" name="Google Shape;509;p50"/>
          <p:cNvPicPr preferRelativeResize="0"/>
          <p:nvPr/>
        </p:nvPicPr>
        <p:blipFill>
          <a:blip r:embed="rId3">
            <a:alphaModFix/>
          </a:blip>
          <a:stretch>
            <a:fillRect/>
          </a:stretch>
        </p:blipFill>
        <p:spPr>
          <a:xfrm>
            <a:off x="4921200" y="1525163"/>
            <a:ext cx="3918001" cy="209317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Name interpreters</a:t>
            </a:r>
            <a:endParaRPr/>
          </a:p>
        </p:txBody>
      </p:sp>
      <p:sp>
        <p:nvSpPr>
          <p:cNvPr id="515" name="Google Shape;515;p51"/>
          <p:cNvSpPr txBox="1"/>
          <p:nvPr>
            <p:ph idx="1" type="body"/>
          </p:nvPr>
        </p:nvSpPr>
        <p:spPr>
          <a:xfrm>
            <a:off x="311700" y="1225225"/>
            <a:ext cx="4609500" cy="33540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lang="en"/>
              <a:t>Subjective similarity</a:t>
            </a:r>
            <a:endParaRPr/>
          </a:p>
          <a:p>
            <a:pPr indent="-317500" lvl="1" marL="914400" rtl="0" algn="l">
              <a:spcBef>
                <a:spcPts val="0"/>
              </a:spcBef>
              <a:spcAft>
                <a:spcPts val="0"/>
              </a:spcAft>
              <a:buSzPts val="1400"/>
              <a:buChar char="○"/>
            </a:pPr>
            <a:r>
              <a:rPr b="1" lang="en"/>
              <a:t>Similarities/Matching in Activities</a:t>
            </a:r>
            <a:endParaRPr b="1"/>
          </a:p>
          <a:p>
            <a:pPr indent="-317500" lvl="2" marL="1371600" rtl="0" algn="l">
              <a:spcBef>
                <a:spcPts val="0"/>
              </a:spcBef>
              <a:spcAft>
                <a:spcPts val="0"/>
              </a:spcAft>
              <a:buSzPts val="1400"/>
              <a:buChar char="■"/>
            </a:pPr>
            <a:r>
              <a:rPr lang="en"/>
              <a:t>Does alter like to do similar things to what ego likes to do?</a:t>
            </a:r>
            <a:endParaRPr/>
          </a:p>
          <a:p>
            <a:pPr indent="0" lvl="0" marL="457200" marR="0" rtl="0" algn="l">
              <a:lnSpc>
                <a:spcPct val="115000"/>
              </a:lnSpc>
              <a:spcBef>
                <a:spcPts val="1200"/>
              </a:spcBef>
              <a:spcAft>
                <a:spcPts val="1600"/>
              </a:spcAft>
              <a:buNone/>
            </a:pPr>
            <a:r>
              <a:t/>
            </a:r>
            <a:endParaRPr/>
          </a:p>
        </p:txBody>
      </p:sp>
      <p:pic>
        <p:nvPicPr>
          <p:cNvPr id="516" name="Google Shape;516;p51"/>
          <p:cNvPicPr preferRelativeResize="0"/>
          <p:nvPr/>
        </p:nvPicPr>
        <p:blipFill>
          <a:blip r:embed="rId3">
            <a:alphaModFix/>
          </a:blip>
          <a:stretch>
            <a:fillRect/>
          </a:stretch>
        </p:blipFill>
        <p:spPr>
          <a:xfrm>
            <a:off x="5073600" y="1299625"/>
            <a:ext cx="3918000" cy="303284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0" name="Shape 520"/>
        <p:cNvGrpSpPr/>
        <p:nvPr/>
      </p:nvGrpSpPr>
      <p:grpSpPr>
        <a:xfrm>
          <a:off x="0" y="0"/>
          <a:ext cx="0" cy="0"/>
          <a:chOff x="0" y="0"/>
          <a:chExt cx="0" cy="0"/>
        </a:xfrm>
      </p:grpSpPr>
      <p:sp>
        <p:nvSpPr>
          <p:cNvPr id="521" name="Google Shape;521;p5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NetHealth Ego Network Data</a:t>
            </a:r>
            <a:endParaRPr/>
          </a:p>
        </p:txBody>
      </p:sp>
      <p:sp>
        <p:nvSpPr>
          <p:cNvPr id="522" name="Google Shape;522;p5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a:t>
            </a:r>
            <a:r>
              <a:rPr lang="en"/>
              <a:t>ong file</a:t>
            </a:r>
            <a:r>
              <a:rPr lang="en"/>
              <a:t> -- </a:t>
            </a:r>
            <a:r>
              <a:rPr i="1" lang="en"/>
              <a:t>NetHealthNetworkSurveyDataFlat</a:t>
            </a:r>
            <a:endParaRPr i="1"/>
          </a:p>
          <a:p>
            <a:pPr indent="-317500" lvl="1" marL="914400" rtl="0" algn="l">
              <a:spcBef>
                <a:spcPts val="0"/>
              </a:spcBef>
              <a:spcAft>
                <a:spcPts val="0"/>
              </a:spcAft>
              <a:buSzPts val="1400"/>
              <a:buChar char="○"/>
            </a:pPr>
            <a:r>
              <a:rPr lang="en"/>
              <a:t>records are {egoid, alterid, wave} </a:t>
            </a:r>
            <a:endParaRPr/>
          </a:p>
          <a:p>
            <a:pPr indent="-317500" lvl="1" marL="914400" rtl="0" algn="l">
              <a:spcBef>
                <a:spcPts val="0"/>
              </a:spcBef>
              <a:spcAft>
                <a:spcPts val="0"/>
              </a:spcAft>
              <a:buSzPts val="1400"/>
              <a:buChar char="○"/>
            </a:pPr>
            <a:r>
              <a:rPr lang="en"/>
              <a:t>Egoid is person who completed the survey</a:t>
            </a:r>
            <a:endParaRPr/>
          </a:p>
          <a:p>
            <a:pPr indent="-317500" lvl="1" marL="914400" rtl="0" algn="l">
              <a:spcBef>
                <a:spcPts val="0"/>
              </a:spcBef>
              <a:spcAft>
                <a:spcPts val="0"/>
              </a:spcAft>
              <a:buSzPts val="1400"/>
              <a:buChar char="○"/>
            </a:pPr>
            <a:r>
              <a:rPr lang="en"/>
              <a:t>8 waves</a:t>
            </a:r>
            <a:endParaRPr/>
          </a:p>
          <a:p>
            <a:pPr indent="-342900" lvl="0" marL="457200" rtl="0" algn="l">
              <a:spcBef>
                <a:spcPts val="0"/>
              </a:spcBef>
              <a:spcAft>
                <a:spcPts val="0"/>
              </a:spcAft>
              <a:buSzPts val="1800"/>
              <a:buChar char="●"/>
            </a:pPr>
            <a:r>
              <a:rPr lang="en"/>
              <a:t>Name generator -- interaction</a:t>
            </a:r>
            <a:endParaRPr/>
          </a:p>
          <a:p>
            <a:pPr indent="-317500" lvl="1" marL="914400" rtl="0" algn="l">
              <a:spcBef>
                <a:spcPts val="0"/>
              </a:spcBef>
              <a:spcAft>
                <a:spcPts val="0"/>
              </a:spcAft>
              <a:buSzPts val="1400"/>
              <a:buChar char="○"/>
            </a:pPr>
            <a:r>
              <a:rPr lang="en"/>
              <a:t>Up to 20</a:t>
            </a:r>
            <a:endParaRPr/>
          </a:p>
          <a:p>
            <a:pPr indent="-317500" lvl="1" marL="914400" rtl="0" algn="l">
              <a:spcBef>
                <a:spcPts val="0"/>
              </a:spcBef>
              <a:spcAft>
                <a:spcPts val="0"/>
              </a:spcAft>
              <a:buSzPts val="1400"/>
              <a:buChar char="○"/>
            </a:pPr>
            <a:r>
              <a:rPr lang="en"/>
              <a:t>Wave 3 began feeding back Wave N-1 names after subject lists people</a:t>
            </a:r>
            <a:endParaRPr/>
          </a:p>
          <a:p>
            <a:pPr indent="-317500" lvl="1" marL="914400" rtl="0" algn="l">
              <a:spcBef>
                <a:spcPts val="0"/>
              </a:spcBef>
              <a:spcAft>
                <a:spcPts val="0"/>
              </a:spcAft>
              <a:buSzPts val="1400"/>
              <a:buChar char="○"/>
            </a:pPr>
            <a:r>
              <a:rPr lang="en"/>
              <a:t>Asks for phone number and email for matching purposes</a:t>
            </a:r>
            <a:endParaRPr/>
          </a:p>
          <a:p>
            <a:pPr indent="0" lvl="0" marL="0" rtl="0" algn="l">
              <a:spcBef>
                <a:spcPts val="12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6" name="Shape 526"/>
        <p:cNvGrpSpPr/>
        <p:nvPr/>
      </p:nvGrpSpPr>
      <p:grpSpPr>
        <a:xfrm>
          <a:off x="0" y="0"/>
          <a:ext cx="0" cy="0"/>
          <a:chOff x="0" y="0"/>
          <a:chExt cx="0" cy="0"/>
        </a:xfrm>
      </p:grpSpPr>
      <p:sp>
        <p:nvSpPr>
          <p:cNvPr id="527" name="Google Shape;527;p5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NetHealth Ego Network Data</a:t>
            </a:r>
            <a:endParaRPr/>
          </a:p>
        </p:txBody>
      </p:sp>
      <p:sp>
        <p:nvSpPr>
          <p:cNvPr id="528" name="Google Shape;528;p5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Alter traits measured (via name interpreters) </a:t>
            </a:r>
            <a:endParaRPr/>
          </a:p>
          <a:p>
            <a:pPr indent="-317500" lvl="1" marL="914400" rtl="0" algn="l">
              <a:spcBef>
                <a:spcPts val="0"/>
              </a:spcBef>
              <a:spcAft>
                <a:spcPts val="0"/>
              </a:spcAft>
              <a:buSzPts val="1400"/>
              <a:buChar char="○"/>
            </a:pPr>
            <a:r>
              <a:rPr lang="en"/>
              <a:t>Demographic: Sex, race, age, education, religion</a:t>
            </a:r>
            <a:endParaRPr/>
          </a:p>
          <a:p>
            <a:pPr indent="-317500" lvl="1" marL="914400" rtl="0" algn="l">
              <a:spcBef>
                <a:spcPts val="0"/>
              </a:spcBef>
              <a:spcAft>
                <a:spcPts val="0"/>
              </a:spcAft>
              <a:buSzPts val="1400"/>
              <a:buChar char="○"/>
            </a:pPr>
            <a:r>
              <a:rPr lang="en"/>
              <a:t>Other traits: Health, happiness, activity, sleep, relation to ND, </a:t>
            </a:r>
            <a:endParaRPr/>
          </a:p>
          <a:p>
            <a:pPr indent="-317500" lvl="1" marL="914400" rtl="0" algn="l">
              <a:spcBef>
                <a:spcPts val="0"/>
              </a:spcBef>
              <a:spcAft>
                <a:spcPts val="0"/>
              </a:spcAft>
              <a:buSzPts val="1400"/>
              <a:buChar char="○"/>
            </a:pPr>
            <a:r>
              <a:rPr lang="en"/>
              <a:t>Relational traits:  same dorm, roomate, duration, relation types (family, friend, etc.), frequency</a:t>
            </a:r>
            <a:endParaRPr/>
          </a:p>
          <a:p>
            <a:pPr indent="-317500" lvl="1" marL="914400" rtl="0" algn="l">
              <a:spcBef>
                <a:spcPts val="0"/>
              </a:spcBef>
              <a:spcAft>
                <a:spcPts val="0"/>
              </a:spcAft>
              <a:buSzPts val="1400"/>
              <a:buChar char="○"/>
            </a:pPr>
            <a:r>
              <a:rPr lang="en"/>
              <a:t>Affinity:  closeness, (listing) position, trust</a:t>
            </a:r>
            <a:endParaRPr/>
          </a:p>
          <a:p>
            <a:pPr indent="-317500" lvl="1" marL="914400" rtl="0" algn="l">
              <a:spcBef>
                <a:spcPts val="0"/>
              </a:spcBef>
              <a:spcAft>
                <a:spcPts val="0"/>
              </a:spcAft>
              <a:buSzPts val="1400"/>
              <a:buChar char="○"/>
            </a:pPr>
            <a:r>
              <a:rPr lang="en"/>
              <a:t>Support: financial, comfort, social, advice</a:t>
            </a:r>
            <a:endParaRPr/>
          </a:p>
          <a:p>
            <a:pPr indent="-317500" lvl="1" marL="914400" rtl="0" algn="l">
              <a:spcBef>
                <a:spcPts val="0"/>
              </a:spcBef>
              <a:spcAft>
                <a:spcPts val="0"/>
              </a:spcAft>
              <a:buSzPts val="1400"/>
              <a:buChar char="○"/>
            </a:pPr>
            <a:r>
              <a:rPr lang="en"/>
              <a:t>Homophily:  subject measure/rating, similarity on 5 activities</a:t>
            </a:r>
            <a:endParaRPr/>
          </a:p>
          <a:p>
            <a:pPr indent="-342900" lvl="0" marL="457200" rtl="0" algn="l">
              <a:spcBef>
                <a:spcPts val="0"/>
              </a:spcBef>
              <a:spcAft>
                <a:spcPts val="0"/>
              </a:spcAft>
              <a:buSzPts val="1800"/>
              <a:buChar char="●"/>
            </a:pPr>
            <a:r>
              <a:rPr lang="en"/>
              <a:t>Connections among alters - clustering</a:t>
            </a:r>
            <a:endParaRPr/>
          </a:p>
          <a:p>
            <a:pPr indent="-317500" lvl="1" marL="914400" rtl="0" algn="l">
              <a:spcBef>
                <a:spcPts val="0"/>
              </a:spcBef>
              <a:spcAft>
                <a:spcPts val="0"/>
              </a:spcAft>
              <a:buSzPts val="1400"/>
              <a:buChar char="○"/>
            </a:pPr>
            <a:r>
              <a:rPr lang="en"/>
              <a:t> Another edge list:  {alterid1, alterid2, egoid, wave} ;  egoid is individual who reports existence alterid1-alterid2 tie at wave N.  </a:t>
            </a:r>
            <a:endParaRPr/>
          </a:p>
          <a:p>
            <a:pPr indent="-317500" lvl="1" marL="914400" rtl="0" algn="l">
              <a:spcBef>
                <a:spcPts val="0"/>
              </a:spcBef>
              <a:spcAft>
                <a:spcPts val="0"/>
              </a:spcAft>
              <a:buSzPts val="1400"/>
              <a:buChar char="○"/>
            </a:pPr>
            <a:r>
              <a:rPr lang="en"/>
              <a:t>1.5 ego network</a:t>
            </a:r>
            <a:endParaRPr/>
          </a:p>
          <a:p>
            <a:pPr indent="-304800" lvl="2" marL="1371600" rtl="0" algn="l">
              <a:spcBef>
                <a:spcPts val="0"/>
              </a:spcBef>
              <a:spcAft>
                <a:spcPts val="0"/>
              </a:spcAft>
              <a:buSzPts val="1200"/>
              <a:buChar char="■"/>
            </a:pPr>
            <a:r>
              <a:rPr lang="en" sz="1200"/>
              <a:t>note - not all of each alters alters. Only alters who are either ego, or one of ego’s alters</a:t>
            </a:r>
            <a:endParaRPr sz="1200"/>
          </a:p>
          <a:p>
            <a:pPr indent="0" lvl="0" marL="45720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2" name="Shape 532"/>
        <p:cNvGrpSpPr/>
        <p:nvPr/>
      </p:nvGrpSpPr>
      <p:grpSpPr>
        <a:xfrm>
          <a:off x="0" y="0"/>
          <a:ext cx="0" cy="0"/>
          <a:chOff x="0" y="0"/>
          <a:chExt cx="0" cy="0"/>
        </a:xfrm>
      </p:grpSpPr>
      <p:sp>
        <p:nvSpPr>
          <p:cNvPr id="533" name="Google Shape;533;p5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NetHealth Data - Research</a:t>
            </a:r>
            <a:endParaRPr/>
          </a:p>
        </p:txBody>
      </p:sp>
      <p:sp>
        <p:nvSpPr>
          <p:cNvPr id="534" name="Google Shape;534;p5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Expands number of alters we have information on:</a:t>
            </a:r>
            <a:endParaRPr/>
          </a:p>
          <a:p>
            <a:pPr indent="-317500" lvl="1" marL="914400" rtl="0" algn="l">
              <a:spcBef>
                <a:spcPts val="0"/>
              </a:spcBef>
              <a:spcAft>
                <a:spcPts val="0"/>
              </a:spcAft>
              <a:buSzPts val="1400"/>
              <a:buChar char="○"/>
            </a:pPr>
            <a:r>
              <a:rPr lang="en"/>
              <a:t>In-study</a:t>
            </a:r>
            <a:endParaRPr/>
          </a:p>
          <a:p>
            <a:pPr indent="-317500" lvl="1" marL="914400" rtl="0" algn="l">
              <a:spcBef>
                <a:spcPts val="0"/>
              </a:spcBef>
              <a:spcAft>
                <a:spcPts val="0"/>
              </a:spcAft>
              <a:buSzPts val="1400"/>
              <a:buChar char="○"/>
            </a:pPr>
            <a:r>
              <a:rPr lang="en"/>
              <a:t>Named Alters</a:t>
            </a:r>
            <a:endParaRPr/>
          </a:p>
          <a:p>
            <a:pPr indent="-342900" lvl="0" marL="457200" rtl="0" algn="l">
              <a:spcBef>
                <a:spcPts val="0"/>
              </a:spcBef>
              <a:spcAft>
                <a:spcPts val="0"/>
              </a:spcAft>
              <a:buSzPts val="1800"/>
              <a:buChar char="●"/>
            </a:pPr>
            <a:r>
              <a:rPr lang="en"/>
              <a:t>Network size for various types of relations:  family, preND, post-ND friends</a:t>
            </a:r>
            <a:endParaRPr/>
          </a:p>
          <a:p>
            <a:pPr indent="-342900" lvl="0" marL="457200" rtl="0" algn="l">
              <a:spcBef>
                <a:spcPts val="0"/>
              </a:spcBef>
              <a:spcAft>
                <a:spcPts val="0"/>
              </a:spcAft>
              <a:buSzPts val="1800"/>
              <a:buChar char="●"/>
            </a:pPr>
            <a:r>
              <a:rPr lang="en"/>
              <a:t>Compare measures of tie strength</a:t>
            </a:r>
            <a:endParaRPr/>
          </a:p>
          <a:p>
            <a:pPr indent="-342900" lvl="0" marL="457200" rtl="0" algn="l">
              <a:spcBef>
                <a:spcPts val="0"/>
              </a:spcBef>
              <a:spcAft>
                <a:spcPts val="0"/>
              </a:spcAft>
              <a:buSzPts val="1800"/>
              <a:buChar char="●"/>
            </a:pPr>
            <a:r>
              <a:rPr lang="en"/>
              <a:t>Correspondence between “perceived” network and “actual” network.</a:t>
            </a:r>
            <a:endParaRPr/>
          </a:p>
          <a:p>
            <a:pPr indent="-342900" lvl="0" marL="457200" rtl="0" algn="l">
              <a:spcBef>
                <a:spcPts val="0"/>
              </a:spcBef>
              <a:spcAft>
                <a:spcPts val="0"/>
              </a:spcAft>
              <a:buSzPts val="1800"/>
              <a:buChar char="●"/>
            </a:pPr>
            <a:r>
              <a:rPr lang="en"/>
              <a:t>Variation over time and between persons in ego network traits.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Alternatives: Position Generators</a:t>
            </a:r>
            <a:endParaRPr/>
          </a:p>
        </p:txBody>
      </p:sp>
      <p:sp>
        <p:nvSpPr>
          <p:cNvPr id="540" name="Google Shape;540;p55"/>
          <p:cNvSpPr txBox="1"/>
          <p:nvPr>
            <p:ph idx="1" type="body"/>
          </p:nvPr>
        </p:nvSpPr>
        <p:spPr>
          <a:xfrm>
            <a:off x="311700" y="1225225"/>
            <a:ext cx="52935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 you know anyone who is a/an….”</a:t>
            </a:r>
            <a:endParaRPr/>
          </a:p>
          <a:p>
            <a:pPr indent="-317500" lvl="1" marL="914400" rtl="0" algn="l">
              <a:spcBef>
                <a:spcPts val="0"/>
              </a:spcBef>
              <a:spcAft>
                <a:spcPts val="0"/>
              </a:spcAft>
              <a:buSzPts val="1400"/>
              <a:buAutoNum type="alphaLcPeriod"/>
            </a:pPr>
            <a:r>
              <a:rPr i="1" lang="en"/>
              <a:t>Lawyer</a:t>
            </a:r>
            <a:endParaRPr i="1"/>
          </a:p>
          <a:p>
            <a:pPr indent="-317500" lvl="1" marL="914400" rtl="0" algn="l">
              <a:spcBef>
                <a:spcPts val="0"/>
              </a:spcBef>
              <a:spcAft>
                <a:spcPts val="0"/>
              </a:spcAft>
              <a:buSzPts val="1400"/>
              <a:buAutoNum type="alphaLcPeriod"/>
            </a:pPr>
            <a:r>
              <a:rPr i="1" lang="en"/>
              <a:t>Doctor</a:t>
            </a:r>
            <a:endParaRPr i="1"/>
          </a:p>
          <a:p>
            <a:pPr indent="-317500" lvl="1" marL="914400" rtl="0" algn="l">
              <a:spcBef>
                <a:spcPts val="0"/>
              </a:spcBef>
              <a:spcAft>
                <a:spcPts val="0"/>
              </a:spcAft>
              <a:buSzPts val="1400"/>
              <a:buAutoNum type="alphaLcPeriod"/>
            </a:pPr>
            <a:r>
              <a:rPr i="1" lang="en"/>
              <a:t>Mechanic</a:t>
            </a:r>
            <a:endParaRPr i="1"/>
          </a:p>
          <a:p>
            <a:pPr indent="-317500" lvl="1" marL="914400" rtl="0" algn="l">
              <a:spcBef>
                <a:spcPts val="0"/>
              </a:spcBef>
              <a:spcAft>
                <a:spcPts val="0"/>
              </a:spcAft>
              <a:buSzPts val="1400"/>
              <a:buAutoNum type="alphaLcPeriod"/>
            </a:pPr>
            <a:r>
              <a:rPr i="1" lang="en"/>
              <a:t>Teacher</a:t>
            </a:r>
            <a:endParaRPr i="1"/>
          </a:p>
          <a:p>
            <a:pPr indent="-317500" lvl="1" marL="914400" rtl="0" algn="l">
              <a:spcBef>
                <a:spcPts val="0"/>
              </a:spcBef>
              <a:spcAft>
                <a:spcPts val="0"/>
              </a:spcAft>
              <a:buSzPts val="1400"/>
              <a:buAutoNum type="alphaLcPeriod"/>
            </a:pPr>
            <a:r>
              <a:rPr i="1" lang="en"/>
              <a:t>Secretary</a:t>
            </a:r>
            <a:endParaRPr i="1"/>
          </a:p>
          <a:p>
            <a:pPr indent="-317500" lvl="1" marL="914400" rtl="0" algn="l">
              <a:spcBef>
                <a:spcPts val="0"/>
              </a:spcBef>
              <a:spcAft>
                <a:spcPts val="0"/>
              </a:spcAft>
              <a:buSzPts val="1400"/>
              <a:buAutoNum type="alphaLcPeriod"/>
            </a:pPr>
            <a:r>
              <a:rPr i="1" lang="en"/>
              <a:t>Hairdresser</a:t>
            </a:r>
            <a:endParaRPr i="1"/>
          </a:p>
          <a:p>
            <a:pPr indent="-317500" lvl="1" marL="914400" rtl="0" algn="l">
              <a:spcBef>
                <a:spcPts val="0"/>
              </a:spcBef>
              <a:spcAft>
                <a:spcPts val="0"/>
              </a:spcAft>
              <a:buSzPts val="1400"/>
              <a:buAutoNum type="alphaLcPeriod"/>
            </a:pPr>
            <a:r>
              <a:rPr i="1" lang="en"/>
              <a:t>Cook</a:t>
            </a:r>
            <a:endParaRPr i="1"/>
          </a:p>
          <a:p>
            <a:pPr indent="-317500" lvl="1" marL="914400" rtl="0" algn="l">
              <a:spcBef>
                <a:spcPts val="0"/>
              </a:spcBef>
              <a:spcAft>
                <a:spcPts val="0"/>
              </a:spcAft>
              <a:buSzPts val="1400"/>
              <a:buAutoNum type="alphaLcPeriod"/>
            </a:pPr>
            <a:r>
              <a:rPr i="1" lang="en"/>
              <a:t>Farmer</a:t>
            </a:r>
            <a:endParaRPr i="1"/>
          </a:p>
          <a:p>
            <a:pPr indent="-317500" lvl="1" marL="914400" rtl="0" algn="l">
              <a:spcBef>
                <a:spcPts val="0"/>
              </a:spcBef>
              <a:spcAft>
                <a:spcPts val="0"/>
              </a:spcAft>
              <a:buSzPts val="1400"/>
              <a:buAutoNum type="alphaLcPeriod"/>
            </a:pPr>
            <a:r>
              <a:rPr i="1" lang="en"/>
              <a:t>Mailman</a:t>
            </a:r>
            <a:endParaRPr i="1"/>
          </a:p>
          <a:p>
            <a:pPr indent="-317500" lvl="1" marL="914400" rtl="0" algn="l">
              <a:spcBef>
                <a:spcPts val="0"/>
              </a:spcBef>
              <a:spcAft>
                <a:spcPts val="0"/>
              </a:spcAft>
              <a:buSzPts val="1400"/>
              <a:buAutoNum type="alphaLcPeriod"/>
            </a:pPr>
            <a:r>
              <a:rPr i="1" lang="en"/>
              <a:t>Policeman</a:t>
            </a:r>
            <a:endParaRPr i="1"/>
          </a:p>
          <a:p>
            <a:pPr indent="-317500" lvl="1" marL="914400" rtl="0" algn="l">
              <a:spcBef>
                <a:spcPts val="0"/>
              </a:spcBef>
              <a:spcAft>
                <a:spcPts val="0"/>
              </a:spcAft>
              <a:buSzPts val="1400"/>
              <a:buAutoNum type="alphaLcPeriod"/>
            </a:pPr>
            <a:r>
              <a:rPr i="1" lang="en"/>
              <a:t>[...] And whatever other occupations you can imagine</a:t>
            </a:r>
            <a:endParaRPr i="1"/>
          </a:p>
        </p:txBody>
      </p:sp>
      <p:sp>
        <p:nvSpPr>
          <p:cNvPr id="541" name="Google Shape;541;p55"/>
          <p:cNvSpPr/>
          <p:nvPr/>
        </p:nvSpPr>
        <p:spPr>
          <a:xfrm>
            <a:off x="6428125"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542" name="Google Shape;542;p55"/>
          <p:cNvSpPr/>
          <p:nvPr/>
        </p:nvSpPr>
        <p:spPr>
          <a:xfrm>
            <a:off x="5481600"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543" name="Google Shape;543;p55"/>
          <p:cNvSpPr/>
          <p:nvPr/>
        </p:nvSpPr>
        <p:spPr>
          <a:xfrm>
            <a:off x="6567323" y="115515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544" name="Google Shape;544;p55"/>
          <p:cNvSpPr/>
          <p:nvPr/>
        </p:nvSpPr>
        <p:spPr>
          <a:xfrm>
            <a:off x="7583847" y="1684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545" name="Google Shape;545;p55"/>
          <p:cNvSpPr/>
          <p:nvPr/>
        </p:nvSpPr>
        <p:spPr>
          <a:xfrm>
            <a:off x="5481600"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546" name="Google Shape;546;p55"/>
          <p:cNvSpPr/>
          <p:nvPr/>
        </p:nvSpPr>
        <p:spPr>
          <a:xfrm>
            <a:off x="6584686" y="3863701"/>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547" name="Google Shape;547;p55"/>
          <p:cNvSpPr/>
          <p:nvPr/>
        </p:nvSpPr>
        <p:spPr>
          <a:xfrm>
            <a:off x="7583847" y="33108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548" name="Google Shape;548;p55"/>
          <p:cNvSpPr/>
          <p:nvPr/>
        </p:nvSpPr>
        <p:spPr>
          <a:xfrm>
            <a:off x="5298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549" name="Google Shape;549;p55"/>
          <p:cNvSpPr/>
          <p:nvPr/>
        </p:nvSpPr>
        <p:spPr>
          <a:xfrm>
            <a:off x="7836313" y="249750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550" name="Google Shape;550;p55"/>
          <p:cNvCxnSpPr>
            <a:stCxn id="543" idx="4"/>
            <a:endCxn id="541" idx="0"/>
          </p:cNvCxnSpPr>
          <p:nvPr/>
        </p:nvCxnSpPr>
        <p:spPr>
          <a:xfrm>
            <a:off x="6845573" y="1660351"/>
            <a:ext cx="0" cy="674100"/>
          </a:xfrm>
          <a:prstGeom prst="straightConnector1">
            <a:avLst/>
          </a:prstGeom>
          <a:noFill/>
          <a:ln cap="flat" cmpd="sng" w="28575">
            <a:solidFill>
              <a:srgbClr val="0000FF"/>
            </a:solidFill>
            <a:prstDash val="solid"/>
            <a:round/>
            <a:headEnd len="med" w="med" type="none"/>
            <a:tailEnd len="med" w="med" type="none"/>
          </a:ln>
        </p:spPr>
      </p:cxnSp>
      <p:cxnSp>
        <p:nvCxnSpPr>
          <p:cNvPr id="551" name="Google Shape;551;p55"/>
          <p:cNvCxnSpPr>
            <a:stCxn id="546" idx="0"/>
            <a:endCxn id="541" idx="4"/>
          </p:cNvCxnSpPr>
          <p:nvPr/>
        </p:nvCxnSpPr>
        <p:spPr>
          <a:xfrm rot="10800000">
            <a:off x="6845536" y="3165601"/>
            <a:ext cx="17400" cy="698100"/>
          </a:xfrm>
          <a:prstGeom prst="straightConnector1">
            <a:avLst/>
          </a:prstGeom>
          <a:noFill/>
          <a:ln cap="flat" cmpd="sng" w="28575">
            <a:solidFill>
              <a:srgbClr val="0000FF"/>
            </a:solidFill>
            <a:prstDash val="solid"/>
            <a:round/>
            <a:headEnd len="med" w="med" type="none"/>
            <a:tailEnd len="med" w="med" type="none"/>
          </a:ln>
        </p:spPr>
      </p:cxnSp>
      <p:cxnSp>
        <p:nvCxnSpPr>
          <p:cNvPr id="552" name="Google Shape;552;p55"/>
          <p:cNvCxnSpPr>
            <a:stCxn id="548" idx="6"/>
            <a:endCxn id="541" idx="2"/>
          </p:cNvCxnSpPr>
          <p:nvPr/>
        </p:nvCxnSpPr>
        <p:spPr>
          <a:xfrm>
            <a:off x="58548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553" name="Google Shape;553;p55"/>
          <p:cNvCxnSpPr>
            <a:stCxn id="549" idx="2"/>
            <a:endCxn id="541" idx="6"/>
          </p:cNvCxnSpPr>
          <p:nvPr/>
        </p:nvCxnSpPr>
        <p:spPr>
          <a:xfrm rot="10800000">
            <a:off x="7263013" y="2750106"/>
            <a:ext cx="573300" cy="0"/>
          </a:xfrm>
          <a:prstGeom prst="straightConnector1">
            <a:avLst/>
          </a:prstGeom>
          <a:noFill/>
          <a:ln cap="flat" cmpd="sng" w="28575">
            <a:solidFill>
              <a:srgbClr val="0000FF"/>
            </a:solidFill>
            <a:prstDash val="solid"/>
            <a:round/>
            <a:headEnd len="med" w="med" type="none"/>
            <a:tailEnd len="med" w="med" type="none"/>
          </a:ln>
        </p:spPr>
      </p:cxnSp>
      <p:cxnSp>
        <p:nvCxnSpPr>
          <p:cNvPr id="554" name="Google Shape;554;p55"/>
          <p:cNvCxnSpPr>
            <a:stCxn id="541" idx="1"/>
            <a:endCxn id="542" idx="5"/>
          </p:cNvCxnSpPr>
          <p:nvPr/>
        </p:nvCxnSpPr>
        <p:spPr>
          <a:xfrm rot="10800000">
            <a:off x="5956693" y="2115391"/>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555" name="Google Shape;555;p55"/>
          <p:cNvCxnSpPr>
            <a:stCxn id="541" idx="7"/>
            <a:endCxn id="544" idx="3"/>
          </p:cNvCxnSpPr>
          <p:nvPr/>
        </p:nvCxnSpPr>
        <p:spPr>
          <a:xfrm flipH="1" rot="10800000">
            <a:off x="7140757" y="2115391"/>
            <a:ext cx="524700" cy="340800"/>
          </a:xfrm>
          <a:prstGeom prst="straightConnector1">
            <a:avLst/>
          </a:prstGeom>
          <a:noFill/>
          <a:ln cap="flat" cmpd="sng" w="28575">
            <a:solidFill>
              <a:srgbClr val="0000FF"/>
            </a:solidFill>
            <a:prstDash val="solid"/>
            <a:round/>
            <a:headEnd len="med" w="med" type="none"/>
            <a:tailEnd len="med" w="med" type="none"/>
          </a:ln>
        </p:spPr>
      </p:cxnSp>
      <p:cxnSp>
        <p:nvCxnSpPr>
          <p:cNvPr id="556" name="Google Shape;556;p55"/>
          <p:cNvCxnSpPr>
            <a:stCxn id="545" idx="7"/>
            <a:endCxn id="541" idx="3"/>
          </p:cNvCxnSpPr>
          <p:nvPr/>
        </p:nvCxnSpPr>
        <p:spPr>
          <a:xfrm flipH="1" rot="10800000">
            <a:off x="5956602" y="3044053"/>
            <a:ext cx="593700" cy="340800"/>
          </a:xfrm>
          <a:prstGeom prst="straightConnector1">
            <a:avLst/>
          </a:prstGeom>
          <a:noFill/>
          <a:ln cap="flat" cmpd="sng" w="28575">
            <a:solidFill>
              <a:srgbClr val="0000FF"/>
            </a:solidFill>
            <a:prstDash val="solid"/>
            <a:round/>
            <a:headEnd len="med" w="med" type="none"/>
            <a:tailEnd len="med" w="med" type="none"/>
          </a:ln>
        </p:spPr>
      </p:cxnSp>
      <p:cxnSp>
        <p:nvCxnSpPr>
          <p:cNvPr id="557" name="Google Shape;557;p55"/>
          <p:cNvCxnSpPr>
            <a:stCxn id="547" idx="1"/>
            <a:endCxn id="541" idx="5"/>
          </p:cNvCxnSpPr>
          <p:nvPr/>
        </p:nvCxnSpPr>
        <p:spPr>
          <a:xfrm rot="10800000">
            <a:off x="7140644" y="3044053"/>
            <a:ext cx="524700" cy="34080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5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Alternatives: Position Generators</a:t>
            </a:r>
            <a:endParaRPr/>
          </a:p>
        </p:txBody>
      </p:sp>
      <p:pic>
        <p:nvPicPr>
          <p:cNvPr id="563" name="Google Shape;563;p56"/>
          <p:cNvPicPr preferRelativeResize="0"/>
          <p:nvPr/>
        </p:nvPicPr>
        <p:blipFill>
          <a:blip r:embed="rId3">
            <a:alphaModFix/>
          </a:blip>
          <a:stretch>
            <a:fillRect/>
          </a:stretch>
        </p:blipFill>
        <p:spPr>
          <a:xfrm>
            <a:off x="152400" y="1299625"/>
            <a:ext cx="8839199" cy="334682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Alternatives: Position Generators</a:t>
            </a:r>
            <a:endParaRPr/>
          </a:p>
        </p:txBody>
      </p:sp>
      <p:sp>
        <p:nvSpPr>
          <p:cNvPr id="569" name="Google Shape;569;p5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High criterion and face validity </a:t>
            </a:r>
            <a:endParaRPr/>
          </a:p>
          <a:p>
            <a:pPr indent="-317500" lvl="1" marL="914400" rtl="0" algn="l">
              <a:spcBef>
                <a:spcPts val="0"/>
              </a:spcBef>
              <a:spcAft>
                <a:spcPts val="0"/>
              </a:spcAft>
              <a:buSzPts val="1400"/>
              <a:buChar char="○"/>
            </a:pPr>
            <a:r>
              <a:rPr lang="en"/>
              <a:t>Quick and dirty (not lengthy)</a:t>
            </a:r>
            <a:endParaRPr/>
          </a:p>
          <a:p>
            <a:pPr indent="-317500" lvl="1" marL="914400" rtl="0" algn="l">
              <a:spcBef>
                <a:spcPts val="0"/>
              </a:spcBef>
              <a:spcAft>
                <a:spcPts val="0"/>
              </a:spcAft>
              <a:buSzPts val="1400"/>
              <a:buChar char="○"/>
            </a:pPr>
            <a:r>
              <a:rPr lang="en"/>
              <a:t>Occupational labels are easily understood by informants</a:t>
            </a:r>
            <a:endParaRPr/>
          </a:p>
          <a:p>
            <a:pPr indent="-317500" lvl="1" marL="914400" rtl="0" algn="l">
              <a:spcBef>
                <a:spcPts val="0"/>
              </a:spcBef>
              <a:spcAft>
                <a:spcPts val="0"/>
              </a:spcAft>
              <a:buSzPts val="1400"/>
              <a:buChar char="○"/>
            </a:pPr>
            <a:r>
              <a:rPr lang="en"/>
              <a:t>Easily standardized (occupational census codes)</a:t>
            </a:r>
            <a:endParaRPr/>
          </a:p>
          <a:p>
            <a:pPr indent="-317500" lvl="1" marL="914400" rtl="0" algn="l">
              <a:spcBef>
                <a:spcPts val="0"/>
              </a:spcBef>
              <a:spcAft>
                <a:spcPts val="0"/>
              </a:spcAft>
              <a:buSzPts val="1400"/>
              <a:buChar char="○"/>
            </a:pPr>
            <a:r>
              <a:rPr lang="en"/>
              <a:t>Captures lots of information with minimal strain</a:t>
            </a:r>
            <a:endParaRPr/>
          </a:p>
          <a:p>
            <a:pPr indent="-317500" lvl="1" marL="914400" rtl="0" algn="l">
              <a:spcBef>
                <a:spcPts val="0"/>
              </a:spcBef>
              <a:spcAft>
                <a:spcPts val="0"/>
              </a:spcAft>
              <a:buSzPts val="1400"/>
              <a:buChar char="○"/>
            </a:pPr>
            <a:r>
              <a:rPr lang="en"/>
              <a:t>Ideal for studies of social capital and access to resources </a:t>
            </a:r>
            <a:endParaRPr/>
          </a:p>
          <a:p>
            <a:pPr indent="-317500" lvl="1" marL="914400" rtl="0" algn="l">
              <a:spcBef>
                <a:spcPts val="0"/>
              </a:spcBef>
              <a:spcAft>
                <a:spcPts val="0"/>
              </a:spcAft>
              <a:buSzPts val="1400"/>
              <a:buChar char="○"/>
            </a:pPr>
            <a:r>
              <a:rPr lang="en"/>
              <a:t>Good measure of an individual's relational position in the occupational structure</a:t>
            </a:r>
            <a:endParaRPr/>
          </a:p>
          <a:p>
            <a:pPr indent="-317500" lvl="1" marL="914400" rtl="0" algn="l">
              <a:spcBef>
                <a:spcPts val="0"/>
              </a:spcBef>
              <a:spcAft>
                <a:spcPts val="0"/>
              </a:spcAft>
              <a:buSzPts val="1400"/>
              <a:buChar char="○"/>
            </a:pPr>
            <a:r>
              <a:rPr lang="en"/>
              <a:t>Can be followed by a “position interpreter” to collect data on tie linking ego to position</a:t>
            </a:r>
            <a:endParaRPr/>
          </a:p>
          <a:p>
            <a:pPr indent="-317500" lvl="1" marL="914400" rtl="0" algn="l">
              <a:spcBef>
                <a:spcPts val="0"/>
              </a:spcBef>
              <a:spcAft>
                <a:spcPts val="0"/>
              </a:spcAft>
              <a:buSzPts val="1400"/>
              <a:buChar char="○"/>
            </a:pPr>
            <a:r>
              <a:rPr lang="en"/>
              <a:t>Can be augmented by linking to objective information about each social position (e.g. average income, education, occupational prestige, etc.)</a:t>
            </a:r>
            <a:endParaRPr/>
          </a:p>
          <a:p>
            <a:pPr indent="-317500" lvl="1" marL="914400" rtl="0" algn="l">
              <a:spcBef>
                <a:spcPts val="0"/>
              </a:spcBef>
              <a:spcAft>
                <a:spcPts val="0"/>
              </a:spcAft>
              <a:buSzPts val="1400"/>
              <a:buChar char="○"/>
            </a:pPr>
            <a:r>
              <a:rPr lang="en"/>
              <a:t>Simple, intuitive metrics (e.g. number of positions accessed, prestige range, top rank, etc.)</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Alternatives: Resource Generators</a:t>
            </a:r>
            <a:endParaRPr/>
          </a:p>
        </p:txBody>
      </p:sp>
      <p:sp>
        <p:nvSpPr>
          <p:cNvPr id="575" name="Google Shape;575;p5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“Do you know anyone who…”</a:t>
            </a:r>
            <a:endParaRPr/>
          </a:p>
          <a:p>
            <a:pPr indent="-317500" lvl="1" marL="914400" rtl="0" algn="l">
              <a:spcBef>
                <a:spcPts val="0"/>
              </a:spcBef>
              <a:spcAft>
                <a:spcPts val="0"/>
              </a:spcAft>
              <a:buSzPts val="1400"/>
              <a:buChar char="○"/>
            </a:pPr>
            <a:r>
              <a:rPr i="1" lang="en"/>
              <a:t>Can repair a car, bike, etc. </a:t>
            </a:r>
            <a:endParaRPr i="1"/>
          </a:p>
          <a:p>
            <a:pPr indent="-317500" lvl="1" marL="914400" rtl="0" algn="l">
              <a:spcBef>
                <a:spcPts val="0"/>
              </a:spcBef>
              <a:spcAft>
                <a:spcPts val="0"/>
              </a:spcAft>
              <a:buSzPts val="1400"/>
              <a:buChar char="○"/>
            </a:pPr>
            <a:r>
              <a:rPr i="1" lang="en"/>
              <a:t>Is handy repairing household equipment </a:t>
            </a:r>
            <a:endParaRPr i="1"/>
          </a:p>
          <a:p>
            <a:pPr indent="-317500" lvl="1" marL="914400" rtl="0" algn="l">
              <a:spcBef>
                <a:spcPts val="0"/>
              </a:spcBef>
              <a:spcAft>
                <a:spcPts val="0"/>
              </a:spcAft>
              <a:buSzPts val="1400"/>
              <a:buChar char="○"/>
            </a:pPr>
            <a:r>
              <a:rPr i="1" lang="en"/>
              <a:t>Can speak and write a foreign language </a:t>
            </a:r>
            <a:endParaRPr i="1"/>
          </a:p>
          <a:p>
            <a:pPr indent="-317500" lvl="1" marL="914400" rtl="0" algn="l">
              <a:spcBef>
                <a:spcPts val="0"/>
              </a:spcBef>
              <a:spcAft>
                <a:spcPts val="0"/>
              </a:spcAft>
              <a:buSzPts val="1400"/>
              <a:buChar char="○"/>
            </a:pPr>
            <a:r>
              <a:rPr i="1" lang="en"/>
              <a:t>Can work with a personal computer </a:t>
            </a:r>
            <a:endParaRPr i="1"/>
          </a:p>
          <a:p>
            <a:pPr indent="-317500" lvl="1" marL="914400" rtl="0" algn="l">
              <a:spcBef>
                <a:spcPts val="0"/>
              </a:spcBef>
              <a:spcAft>
                <a:spcPts val="0"/>
              </a:spcAft>
              <a:buSzPts val="1400"/>
              <a:buChar char="○"/>
            </a:pPr>
            <a:r>
              <a:rPr i="1" lang="en"/>
              <a:t>Has good contacts with a newspaper, radio or TV station</a:t>
            </a:r>
            <a:endParaRPr i="1"/>
          </a:p>
          <a:p>
            <a:pPr indent="-317500" lvl="1" marL="914400" rtl="0" algn="l">
              <a:spcBef>
                <a:spcPts val="0"/>
              </a:spcBef>
              <a:spcAft>
                <a:spcPts val="0"/>
              </a:spcAft>
              <a:buSzPts val="1400"/>
              <a:buChar char="○"/>
            </a:pPr>
            <a:r>
              <a:rPr i="1" lang="en"/>
              <a:t>Has knowledge about financial matters (taxes, subsidies)</a:t>
            </a:r>
            <a:endParaRPr i="1"/>
          </a:p>
          <a:p>
            <a:pPr indent="-317500" lvl="1" marL="914400" rtl="0" algn="l">
              <a:spcBef>
                <a:spcPts val="0"/>
              </a:spcBef>
              <a:spcAft>
                <a:spcPts val="0"/>
              </a:spcAft>
              <a:buSzPts val="1400"/>
              <a:buChar char="○"/>
            </a:pPr>
            <a:r>
              <a:rPr i="1" lang="en"/>
              <a:t>Can give advice concerning a conflict at work</a:t>
            </a:r>
            <a:endParaRPr i="1"/>
          </a:p>
          <a:p>
            <a:pPr indent="-317500" lvl="1" marL="914400" rtl="0" algn="l">
              <a:spcBef>
                <a:spcPts val="0"/>
              </a:spcBef>
              <a:spcAft>
                <a:spcPts val="0"/>
              </a:spcAft>
              <a:buSzPts val="1400"/>
              <a:buChar char="○"/>
            </a:pPr>
            <a:r>
              <a:rPr i="1" lang="en"/>
              <a:t>Can help when moving house (packing, lifting)</a:t>
            </a:r>
            <a:endParaRPr i="1"/>
          </a:p>
          <a:p>
            <a:pPr indent="-317500" lvl="1" marL="914400" rtl="0" algn="l">
              <a:spcBef>
                <a:spcPts val="0"/>
              </a:spcBef>
              <a:spcAft>
                <a:spcPts val="0"/>
              </a:spcAft>
              <a:buSzPts val="1400"/>
              <a:buChar char="○"/>
            </a:pPr>
            <a:r>
              <a:rPr i="1" lang="en"/>
              <a:t>Can help with small jobs around the house (carpentering, painting)</a:t>
            </a:r>
            <a:endParaRPr i="1"/>
          </a:p>
          <a:p>
            <a:pPr indent="-317500" lvl="1" marL="914400" rtl="0" algn="l">
              <a:spcBef>
                <a:spcPts val="0"/>
              </a:spcBef>
              <a:spcAft>
                <a:spcPts val="0"/>
              </a:spcAft>
              <a:buSzPts val="1400"/>
              <a:buChar char="○"/>
            </a:pPr>
            <a:r>
              <a:rPr i="1" lang="en"/>
              <a:t>[...] And whatever else you can imagine</a:t>
            </a:r>
            <a:endParaRPr i="1"/>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Alternatives: Resource Generators</a:t>
            </a:r>
            <a:endParaRPr/>
          </a:p>
        </p:txBody>
      </p:sp>
      <p:pic>
        <p:nvPicPr>
          <p:cNvPr id="581" name="Google Shape;581;p59"/>
          <p:cNvPicPr preferRelativeResize="0"/>
          <p:nvPr/>
        </p:nvPicPr>
        <p:blipFill>
          <a:blip r:embed="rId3">
            <a:alphaModFix/>
          </a:blip>
          <a:stretch>
            <a:fillRect/>
          </a:stretch>
        </p:blipFill>
        <p:spPr>
          <a:xfrm>
            <a:off x="1216413" y="1147225"/>
            <a:ext cx="6711179" cy="36914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6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Alternatives: Resource Generators</a:t>
            </a:r>
            <a:endParaRPr/>
          </a:p>
        </p:txBody>
      </p:sp>
      <p:sp>
        <p:nvSpPr>
          <p:cNvPr id="587" name="Google Shape;587;p60"/>
          <p:cNvSpPr txBox="1"/>
          <p:nvPr>
            <p:ph idx="1" type="body"/>
          </p:nvPr>
        </p:nvSpPr>
        <p:spPr>
          <a:xfrm>
            <a:off x="311700" y="1225225"/>
            <a:ext cx="8520600" cy="3762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Combines the </a:t>
            </a:r>
            <a:r>
              <a:rPr b="1" lang="en"/>
              <a:t>practicality </a:t>
            </a:r>
            <a:r>
              <a:rPr lang="en"/>
              <a:t>of the position generator with the detail of the name generator.</a:t>
            </a:r>
            <a:endParaRPr/>
          </a:p>
          <a:p>
            <a:pPr indent="-317500" lvl="1" marL="914400" rtl="0" algn="l">
              <a:spcBef>
                <a:spcPts val="0"/>
              </a:spcBef>
              <a:spcAft>
                <a:spcPts val="0"/>
              </a:spcAft>
              <a:buSzPts val="1400"/>
              <a:buChar char="○"/>
            </a:pPr>
            <a:r>
              <a:rPr lang="en"/>
              <a:t>Captures </a:t>
            </a:r>
            <a:r>
              <a:rPr b="1" lang="en"/>
              <a:t>multiple dimensions</a:t>
            </a:r>
            <a:r>
              <a:rPr lang="en"/>
              <a:t> of social support and connectivity.</a:t>
            </a:r>
            <a:endParaRPr/>
          </a:p>
          <a:p>
            <a:pPr indent="-317500" lvl="1" marL="914400" rtl="0" algn="l">
              <a:spcBef>
                <a:spcPts val="0"/>
              </a:spcBef>
              <a:spcAft>
                <a:spcPts val="0"/>
              </a:spcAft>
              <a:buSzPts val="1400"/>
              <a:buChar char="○"/>
            </a:pPr>
            <a:r>
              <a:rPr lang="en"/>
              <a:t>Allows for potential </a:t>
            </a:r>
            <a:r>
              <a:rPr b="1" lang="en"/>
              <a:t>standardization </a:t>
            </a:r>
            <a:r>
              <a:rPr lang="en"/>
              <a:t>of social capital measures.</a:t>
            </a:r>
            <a:endParaRPr/>
          </a:p>
          <a:p>
            <a:pPr indent="-317500" lvl="1" marL="914400" rtl="0" algn="l">
              <a:spcBef>
                <a:spcPts val="0"/>
              </a:spcBef>
              <a:spcAft>
                <a:spcPts val="0"/>
              </a:spcAft>
              <a:buSzPts val="1400"/>
              <a:buChar char="○"/>
            </a:pPr>
            <a:r>
              <a:rPr lang="en"/>
              <a:t>Covers several </a:t>
            </a:r>
            <a:r>
              <a:rPr b="1" lang="en"/>
              <a:t>life domains</a:t>
            </a:r>
            <a:r>
              <a:rPr lang="en"/>
              <a:t>.</a:t>
            </a:r>
            <a:endParaRPr/>
          </a:p>
          <a:p>
            <a:pPr indent="-317500" lvl="1" marL="914400" rtl="0" algn="l">
              <a:spcBef>
                <a:spcPts val="0"/>
              </a:spcBef>
              <a:spcAft>
                <a:spcPts val="0"/>
              </a:spcAft>
              <a:buSzPts val="1400"/>
              <a:buChar char="○"/>
            </a:pPr>
            <a:r>
              <a:rPr lang="en"/>
              <a:t>Uses simple, </a:t>
            </a:r>
            <a:r>
              <a:rPr b="1" lang="en"/>
              <a:t>intuitive metrics</a:t>
            </a:r>
            <a:r>
              <a:rPr lang="en"/>
              <a:t> (e.g., number, popularity, and range of resources accessed).</a:t>
            </a:r>
            <a:endParaRPr/>
          </a:p>
          <a:p>
            <a:pPr indent="-317500" lvl="1" marL="914400" rtl="0" algn="l">
              <a:spcBef>
                <a:spcPts val="0"/>
              </a:spcBef>
              <a:spcAft>
                <a:spcPts val="0"/>
              </a:spcAft>
              <a:buSzPts val="1400"/>
              <a:buChar char="○"/>
            </a:pPr>
            <a:r>
              <a:rPr lang="en"/>
              <a:t>Can empirically link </a:t>
            </a:r>
            <a:r>
              <a:rPr b="1" lang="en"/>
              <a:t>resources to role-relations</a:t>
            </a:r>
            <a:r>
              <a:rPr lang="en"/>
              <a:t>.</a:t>
            </a:r>
            <a:endParaRPr sz="1400"/>
          </a:p>
        </p:txBody>
      </p:sp>
      <p:pic>
        <p:nvPicPr>
          <p:cNvPr id="588" name="Google Shape;588;p60"/>
          <p:cNvPicPr preferRelativeResize="0"/>
          <p:nvPr/>
        </p:nvPicPr>
        <p:blipFill>
          <a:blip r:embed="rId3">
            <a:alphaModFix/>
          </a:blip>
          <a:stretch>
            <a:fillRect/>
          </a:stretch>
        </p:blipFill>
        <p:spPr>
          <a:xfrm>
            <a:off x="5438213" y="3158950"/>
            <a:ext cx="3322623" cy="1828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6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Alternatives: Visual network scales</a:t>
            </a:r>
            <a:endParaRPr/>
          </a:p>
        </p:txBody>
      </p:sp>
      <p:sp>
        <p:nvSpPr>
          <p:cNvPr id="594" name="Google Shape;594;p61"/>
          <p:cNvSpPr txBox="1"/>
          <p:nvPr>
            <p:ph idx="1" type="body"/>
          </p:nvPr>
        </p:nvSpPr>
        <p:spPr>
          <a:xfrm>
            <a:off x="311700" y="1225225"/>
            <a:ext cx="44652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may be interested in the ways individuals </a:t>
            </a:r>
            <a:r>
              <a:rPr b="1" lang="en"/>
              <a:t>perceive </a:t>
            </a:r>
            <a:r>
              <a:rPr lang="en"/>
              <a:t>their position in a social network</a:t>
            </a:r>
            <a:endParaRPr/>
          </a:p>
          <a:p>
            <a:pPr indent="-317500" lvl="1" marL="914400" rtl="0" algn="l">
              <a:spcBef>
                <a:spcPts val="0"/>
              </a:spcBef>
              <a:spcAft>
                <a:spcPts val="0"/>
              </a:spcAft>
              <a:buSzPts val="1400"/>
              <a:buChar char="○"/>
            </a:pPr>
            <a:r>
              <a:rPr b="1" lang="en"/>
              <a:t>Visual network scales</a:t>
            </a:r>
            <a:r>
              <a:rPr lang="en"/>
              <a:t> have been proposed as a viable method for this purpose</a:t>
            </a:r>
            <a:endParaRPr/>
          </a:p>
          <a:p>
            <a:pPr indent="-317500" lvl="1" marL="914400" rtl="0" algn="l">
              <a:spcBef>
                <a:spcPts val="0"/>
              </a:spcBef>
              <a:spcAft>
                <a:spcPts val="0"/>
              </a:spcAft>
              <a:buSzPts val="1400"/>
              <a:buChar char="○"/>
            </a:pPr>
            <a:r>
              <a:rPr lang="en"/>
              <a:t>The idea is to:</a:t>
            </a:r>
            <a:endParaRPr/>
          </a:p>
          <a:p>
            <a:pPr indent="-317500" lvl="2" marL="1371600" rtl="0" algn="l">
              <a:spcBef>
                <a:spcPts val="0"/>
              </a:spcBef>
              <a:spcAft>
                <a:spcPts val="0"/>
              </a:spcAft>
              <a:buSzPts val="1400"/>
              <a:buChar char="■"/>
            </a:pPr>
            <a:r>
              <a:rPr lang="en"/>
              <a:t>Present people with </a:t>
            </a:r>
            <a:r>
              <a:rPr b="1" lang="en"/>
              <a:t>idealized pictures</a:t>
            </a:r>
            <a:r>
              <a:rPr lang="en"/>
              <a:t> of certain network scenarios</a:t>
            </a:r>
            <a:endParaRPr/>
          </a:p>
          <a:p>
            <a:pPr indent="-317500" lvl="2" marL="1371600" rtl="0" algn="l">
              <a:spcBef>
                <a:spcPts val="0"/>
              </a:spcBef>
              <a:spcAft>
                <a:spcPts val="0"/>
              </a:spcAft>
              <a:buSzPts val="1400"/>
              <a:buChar char="■"/>
            </a:pPr>
            <a:r>
              <a:rPr lang="en"/>
              <a:t>Ask them to rate </a:t>
            </a:r>
            <a:r>
              <a:rPr b="1" lang="en"/>
              <a:t>how closely</a:t>
            </a:r>
            <a:r>
              <a:rPr lang="en"/>
              <a:t> their network resembles this scenario</a:t>
            </a:r>
            <a:endParaRPr/>
          </a:p>
        </p:txBody>
      </p:sp>
      <p:pic>
        <p:nvPicPr>
          <p:cNvPr id="595" name="Google Shape;595;p61"/>
          <p:cNvPicPr preferRelativeResize="0"/>
          <p:nvPr/>
        </p:nvPicPr>
        <p:blipFill>
          <a:blip r:embed="rId3">
            <a:alphaModFix/>
          </a:blip>
          <a:stretch>
            <a:fillRect/>
          </a:stretch>
        </p:blipFill>
        <p:spPr>
          <a:xfrm>
            <a:off x="4776900" y="1752100"/>
            <a:ext cx="4062300" cy="23002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Alternatives: Visual network scales</a:t>
            </a:r>
            <a:endParaRPr/>
          </a:p>
        </p:txBody>
      </p:sp>
      <p:sp>
        <p:nvSpPr>
          <p:cNvPr id="601" name="Google Shape;601;p62"/>
          <p:cNvSpPr txBox="1"/>
          <p:nvPr>
            <p:ph idx="1" type="body"/>
          </p:nvPr>
        </p:nvSpPr>
        <p:spPr>
          <a:xfrm>
            <a:off x="311700" y="1225225"/>
            <a:ext cx="44652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may be interested in whether people think they live in open versus clustered worlds.</a:t>
            </a:r>
            <a:endParaRPr/>
          </a:p>
          <a:p>
            <a:pPr indent="-317500" lvl="1" marL="914400" rtl="0" algn="l">
              <a:spcBef>
                <a:spcPts val="0"/>
              </a:spcBef>
              <a:spcAft>
                <a:spcPts val="0"/>
              </a:spcAft>
              <a:buSzPts val="1400"/>
              <a:buChar char="○"/>
            </a:pPr>
            <a:r>
              <a:rPr i="1" lang="en"/>
              <a:t>This question focuses on your perceptions of how interconnected your close friends are. Which of the network diagrams below best approximates the interconnectedness in your personal network of close friendships? Please choose one picture.</a:t>
            </a:r>
            <a:endParaRPr i="1" sz="1400"/>
          </a:p>
        </p:txBody>
      </p:sp>
      <p:pic>
        <p:nvPicPr>
          <p:cNvPr id="602" name="Google Shape;602;p62"/>
          <p:cNvPicPr preferRelativeResize="0"/>
          <p:nvPr/>
        </p:nvPicPr>
        <p:blipFill>
          <a:blip r:embed="rId3">
            <a:alphaModFix/>
          </a:blip>
          <a:stretch>
            <a:fillRect/>
          </a:stretch>
        </p:blipFill>
        <p:spPr>
          <a:xfrm>
            <a:off x="4776900" y="1721063"/>
            <a:ext cx="4062301" cy="236233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6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Alternatives: Visual network scales</a:t>
            </a:r>
            <a:endParaRPr/>
          </a:p>
        </p:txBody>
      </p:sp>
      <p:sp>
        <p:nvSpPr>
          <p:cNvPr id="608" name="Google Shape;608;p63"/>
          <p:cNvSpPr txBox="1"/>
          <p:nvPr>
            <p:ph idx="1" type="body"/>
          </p:nvPr>
        </p:nvSpPr>
        <p:spPr>
          <a:xfrm>
            <a:off x="311700" y="1225225"/>
            <a:ext cx="51507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may be interested in whether people see themselves as bridges between groups. </a:t>
            </a:r>
            <a:endParaRPr/>
          </a:p>
          <a:p>
            <a:pPr indent="-317500" lvl="1" marL="914400" rtl="0" algn="l">
              <a:spcBef>
                <a:spcPts val="0"/>
              </a:spcBef>
              <a:spcAft>
                <a:spcPts val="0"/>
              </a:spcAft>
              <a:buSzPts val="1400"/>
              <a:buChar char="○"/>
            </a:pPr>
            <a:r>
              <a:rPr i="1" lang="en"/>
              <a:t>In the diagram, the large circle connecting the two groups/cliques is a bridge. Using the scale below, please rate the extent to which you think you occupy a bridging position in your personal network of close friendships—i.e., the extent to which you are close friends with groups that otherwise lack close friendship relations with each other.</a:t>
            </a:r>
            <a:endParaRPr i="1"/>
          </a:p>
        </p:txBody>
      </p:sp>
      <p:pic>
        <p:nvPicPr>
          <p:cNvPr id="609" name="Google Shape;609;p63"/>
          <p:cNvPicPr preferRelativeResize="0"/>
          <p:nvPr/>
        </p:nvPicPr>
        <p:blipFill>
          <a:blip r:embed="rId3">
            <a:alphaModFix/>
          </a:blip>
          <a:stretch>
            <a:fillRect/>
          </a:stretch>
        </p:blipFill>
        <p:spPr>
          <a:xfrm>
            <a:off x="5462400" y="1430927"/>
            <a:ext cx="3439875" cy="29426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6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Alternatives: Visual network scales</a:t>
            </a:r>
            <a:endParaRPr/>
          </a:p>
        </p:txBody>
      </p:sp>
      <p:sp>
        <p:nvSpPr>
          <p:cNvPr id="615" name="Google Shape;615;p64"/>
          <p:cNvSpPr txBox="1"/>
          <p:nvPr>
            <p:ph idx="1" type="body"/>
          </p:nvPr>
        </p:nvSpPr>
        <p:spPr>
          <a:xfrm>
            <a:off x="311700" y="1225225"/>
            <a:ext cx="4242000" cy="33540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We may also be interested in perceptions of </a:t>
            </a:r>
            <a:r>
              <a:rPr b="1" lang="en"/>
              <a:t>social network position change</a:t>
            </a:r>
            <a:r>
              <a:rPr lang="en"/>
              <a:t> over time:</a:t>
            </a:r>
            <a:endParaRPr/>
          </a:p>
          <a:p>
            <a:pPr indent="-317500" lvl="1" marL="914400" marR="0" rtl="0" algn="l">
              <a:lnSpc>
                <a:spcPct val="115000"/>
              </a:lnSpc>
              <a:spcBef>
                <a:spcPts val="0"/>
              </a:spcBef>
              <a:spcAft>
                <a:spcPts val="0"/>
              </a:spcAft>
              <a:buSzPts val="1400"/>
              <a:buChar char="○"/>
            </a:pPr>
            <a:r>
              <a:rPr i="1" lang="en"/>
              <a:t>This question focuses on your perceptions of the CHANGE in the number of bridging positions you occupy among your close friends In the diagram below, there are two groups/cliques of people. The large circle that connects the two groups/cliques can be thought of as a bridge.</a:t>
            </a:r>
            <a:endParaRPr i="1"/>
          </a:p>
        </p:txBody>
      </p:sp>
      <p:pic>
        <p:nvPicPr>
          <p:cNvPr id="616" name="Google Shape;616;p64"/>
          <p:cNvPicPr preferRelativeResize="0"/>
          <p:nvPr/>
        </p:nvPicPr>
        <p:blipFill>
          <a:blip r:embed="rId3">
            <a:alphaModFix/>
          </a:blip>
          <a:stretch>
            <a:fillRect/>
          </a:stretch>
        </p:blipFill>
        <p:spPr>
          <a:xfrm>
            <a:off x="4553700" y="1651475"/>
            <a:ext cx="4285500" cy="250150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6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Alternatives: Visual network scales</a:t>
            </a:r>
            <a:endParaRPr/>
          </a:p>
        </p:txBody>
      </p:sp>
      <p:sp>
        <p:nvSpPr>
          <p:cNvPr id="622" name="Google Shape;622;p65"/>
          <p:cNvSpPr txBox="1"/>
          <p:nvPr>
            <p:ph idx="1" type="body"/>
          </p:nvPr>
        </p:nvSpPr>
        <p:spPr>
          <a:xfrm>
            <a:off x="311700" y="1225225"/>
            <a:ext cx="4242000" cy="3354000"/>
          </a:xfrm>
          <a:prstGeom prst="rect">
            <a:avLst/>
          </a:prstGeom>
        </p:spPr>
        <p:txBody>
          <a:bodyPr anchorCtr="0" anchor="t" bIns="91425" lIns="91425" spcFirstLastPara="1" rIns="91425" wrap="square" tIns="91425">
            <a:normAutofit lnSpcReduction="10000"/>
          </a:bodyPr>
          <a:lstStyle/>
          <a:p>
            <a:pPr indent="-342900" lvl="0" marL="457200" marR="0" rtl="0" algn="l">
              <a:lnSpc>
                <a:spcPct val="115000"/>
              </a:lnSpc>
              <a:spcBef>
                <a:spcPts val="0"/>
              </a:spcBef>
              <a:spcAft>
                <a:spcPts val="0"/>
              </a:spcAft>
              <a:buClr>
                <a:schemeClr val="dk1"/>
              </a:buClr>
              <a:buSzPts val="1800"/>
              <a:buFont typeface="Open Sans"/>
              <a:buChar char="●"/>
            </a:pPr>
            <a:r>
              <a:rPr lang="en"/>
              <a:t>We may also be interested in perceptions of </a:t>
            </a:r>
            <a:r>
              <a:rPr b="1" lang="en"/>
              <a:t>social network position change</a:t>
            </a:r>
            <a:r>
              <a:rPr lang="en"/>
              <a:t> over time:</a:t>
            </a:r>
            <a:endParaRPr/>
          </a:p>
          <a:p>
            <a:pPr indent="-317500" lvl="1" marL="914400" marR="0" rtl="0" algn="l">
              <a:lnSpc>
                <a:spcPct val="115000"/>
              </a:lnSpc>
              <a:spcBef>
                <a:spcPts val="0"/>
              </a:spcBef>
              <a:spcAft>
                <a:spcPts val="0"/>
              </a:spcAft>
              <a:buSzPts val="1400"/>
              <a:buChar char="○"/>
            </a:pPr>
            <a:r>
              <a:rPr i="1" lang="en"/>
              <a:t>The network diagram on the left represents a person on the periphery of the network. This person has close friends who themselves are not connected to many others. The network diagram on the right represents a person in the center of the network. This person has close friends who themselves are connected to many others.</a:t>
            </a:r>
            <a:endParaRPr i="1"/>
          </a:p>
        </p:txBody>
      </p:sp>
      <p:pic>
        <p:nvPicPr>
          <p:cNvPr id="623" name="Google Shape;623;p65"/>
          <p:cNvPicPr preferRelativeResize="0"/>
          <p:nvPr/>
        </p:nvPicPr>
        <p:blipFill>
          <a:blip r:embed="rId3">
            <a:alphaModFix/>
          </a:blip>
          <a:stretch>
            <a:fillRect/>
          </a:stretch>
        </p:blipFill>
        <p:spPr>
          <a:xfrm>
            <a:off x="4553700" y="1758450"/>
            <a:ext cx="4285499" cy="228755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7" name="Shape 627"/>
        <p:cNvGrpSpPr/>
        <p:nvPr/>
      </p:nvGrpSpPr>
      <p:grpSpPr>
        <a:xfrm>
          <a:off x="0" y="0"/>
          <a:ext cx="0" cy="0"/>
          <a:chOff x="0" y="0"/>
          <a:chExt cx="0" cy="0"/>
        </a:xfrm>
      </p:grpSpPr>
      <p:sp>
        <p:nvSpPr>
          <p:cNvPr id="628" name="Google Shape;628;p6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Measuring “social capital” in ego-networks</a:t>
            </a:r>
            <a:endParaRPr/>
          </a:p>
        </p:txBody>
      </p:sp>
      <p:pic>
        <p:nvPicPr>
          <p:cNvPr id="629" name="Google Shape;629;p66"/>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630" name="Google Shape;630;p66"/>
          <p:cNvSpPr txBox="1"/>
          <p:nvPr>
            <p:ph idx="1" type="body"/>
          </p:nvPr>
        </p:nvSpPr>
        <p:spPr>
          <a:xfrm>
            <a:off x="311700" y="1225225"/>
            <a:ext cx="48027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Often we are interested in eliciting ego-networks to get a sense of how “well-connected” the person is</a:t>
            </a:r>
            <a:endParaRPr/>
          </a:p>
          <a:p>
            <a:pPr indent="-317500" lvl="1" marL="914400" rtl="0" algn="l">
              <a:spcBef>
                <a:spcPts val="0"/>
              </a:spcBef>
              <a:spcAft>
                <a:spcPts val="0"/>
              </a:spcAft>
              <a:buSzPts val="1400"/>
              <a:buChar char="○"/>
            </a:pPr>
            <a:r>
              <a:rPr lang="en"/>
              <a:t>One criterion for being well-connected is the extent to which a person can </a:t>
            </a:r>
            <a:r>
              <a:rPr i="1" lang="en"/>
              <a:t>potentially draw on resources embedded in relations</a:t>
            </a:r>
            <a:endParaRPr i="1"/>
          </a:p>
          <a:p>
            <a:pPr indent="-317500" lvl="2" marL="1371600" rtl="0" algn="l">
              <a:spcBef>
                <a:spcPts val="0"/>
              </a:spcBef>
              <a:spcAft>
                <a:spcPts val="0"/>
              </a:spcAft>
              <a:buSzPts val="1400"/>
              <a:buChar char="■"/>
            </a:pPr>
            <a:r>
              <a:rPr lang="en"/>
              <a:t>This is called “</a:t>
            </a:r>
            <a:r>
              <a:rPr b="1" lang="en"/>
              <a:t>social capital</a:t>
            </a:r>
            <a:r>
              <a:rPr lang="en"/>
              <a:t>”</a:t>
            </a:r>
            <a:endParaRPr/>
          </a:p>
          <a:p>
            <a:pPr indent="-317500" lvl="2" marL="1371600" rtl="0" algn="l">
              <a:spcBef>
                <a:spcPts val="0"/>
              </a:spcBef>
              <a:spcAft>
                <a:spcPts val="0"/>
              </a:spcAft>
              <a:buSzPts val="1400"/>
              <a:buChar char="■"/>
            </a:pPr>
            <a:r>
              <a:rPr lang="en"/>
              <a:t>Natural outgrowth of the exchange approach</a:t>
            </a:r>
            <a:endParaRPr/>
          </a:p>
          <a:p>
            <a:pPr indent="-317500" lvl="1" marL="914400" rtl="0" algn="l">
              <a:spcBef>
                <a:spcPts val="0"/>
              </a:spcBef>
              <a:spcAft>
                <a:spcPts val="0"/>
              </a:spcAft>
              <a:buSzPts val="1400"/>
              <a:buChar char="○"/>
            </a:pPr>
            <a:r>
              <a:rPr lang="en"/>
              <a:t>Invites a different measurement perspective</a:t>
            </a:r>
            <a:endParaRPr/>
          </a:p>
          <a:p>
            <a:pPr indent="0" lvl="0" marL="45720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