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y="5143500" cx="9144000"/>
  <p:notesSz cx="6858000" cy="9144000"/>
  <p:embeddedFontLst>
    <p:embeddedFont>
      <p:font typeface="Josefin Slab"/>
      <p:regular r:id="rId70"/>
      <p:bold r:id="rId71"/>
      <p:italic r:id="rId72"/>
      <p:boldItalic r:id="rId73"/>
    </p:embeddedFont>
    <p:embeddedFont>
      <p:font typeface="Economica"/>
      <p:regular r:id="rId74"/>
      <p:bold r:id="rId75"/>
      <p:italic r:id="rId76"/>
      <p:boldItalic r:id="rId77"/>
    </p:embeddedFont>
    <p:embeddedFont>
      <p:font typeface="Junge"/>
      <p:regular r:id="rId78"/>
    </p:embeddedFont>
    <p:embeddedFont>
      <p:font typeface="Merriweather"/>
      <p:regular r:id="rId79"/>
      <p:bold r:id="rId80"/>
      <p:italic r:id="rId81"/>
      <p:boldItalic r:id="rId82"/>
    </p:embeddedFont>
    <p:embeddedFont>
      <p:font typeface="DM Sans"/>
      <p:regular r:id="rId83"/>
      <p:bold r:id="rId84"/>
      <p:italic r:id="rId85"/>
      <p:boldItalic r:id="rId86"/>
    </p:embeddedFont>
    <p:embeddedFont>
      <p:font typeface="Open Sans"/>
      <p:regular r:id="rId87"/>
      <p:bold r:id="rId88"/>
      <p:italic r:id="rId89"/>
      <p:bold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EBB18C-90AF-4E46-BB6D-C42BBA933753}">
  <a:tblStyle styleId="{FAEBB18C-90AF-4E46-BB6D-C42BBA9337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DMSans-bold.fntdata"/><Relationship Id="rId83" Type="http://schemas.openxmlformats.org/officeDocument/2006/relationships/font" Target="fonts/DMSans-regular.fntdata"/><Relationship Id="rId42" Type="http://schemas.openxmlformats.org/officeDocument/2006/relationships/slide" Target="slides/slide35.xml"/><Relationship Id="rId86" Type="http://schemas.openxmlformats.org/officeDocument/2006/relationships/font" Target="fonts/DMSans-boldItalic.fntdata"/><Relationship Id="rId41" Type="http://schemas.openxmlformats.org/officeDocument/2006/relationships/slide" Target="slides/slide34.xml"/><Relationship Id="rId85" Type="http://schemas.openxmlformats.org/officeDocument/2006/relationships/font" Target="fonts/DMSans-italic.fntdata"/><Relationship Id="rId44" Type="http://schemas.openxmlformats.org/officeDocument/2006/relationships/slide" Target="slides/slide37.xml"/><Relationship Id="rId88" Type="http://schemas.openxmlformats.org/officeDocument/2006/relationships/font" Target="fonts/OpenSans-bold.fntdata"/><Relationship Id="rId43" Type="http://schemas.openxmlformats.org/officeDocument/2006/relationships/slide" Target="slides/slide36.xml"/><Relationship Id="rId87" Type="http://schemas.openxmlformats.org/officeDocument/2006/relationships/font" Target="fonts/OpenSans-regular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9" Type="http://schemas.openxmlformats.org/officeDocument/2006/relationships/font" Target="fonts/OpenSans-italic.fntdata"/><Relationship Id="rId80" Type="http://schemas.openxmlformats.org/officeDocument/2006/relationships/font" Target="fonts/Merriweather-bold.fntdata"/><Relationship Id="rId82" Type="http://schemas.openxmlformats.org/officeDocument/2006/relationships/font" Target="fonts/Merriweather-boldItalic.fntdata"/><Relationship Id="rId81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JosefinSlab-boldItalic.fntdata"/><Relationship Id="rId72" Type="http://schemas.openxmlformats.org/officeDocument/2006/relationships/font" Target="fonts/JosefinSlab-italic.fntdata"/><Relationship Id="rId31" Type="http://schemas.openxmlformats.org/officeDocument/2006/relationships/slide" Target="slides/slide24.xml"/><Relationship Id="rId75" Type="http://schemas.openxmlformats.org/officeDocument/2006/relationships/font" Target="fonts/Economica-bold.fntdata"/><Relationship Id="rId30" Type="http://schemas.openxmlformats.org/officeDocument/2006/relationships/slide" Target="slides/slide23.xml"/><Relationship Id="rId74" Type="http://schemas.openxmlformats.org/officeDocument/2006/relationships/font" Target="fonts/Economica-regular.fntdata"/><Relationship Id="rId33" Type="http://schemas.openxmlformats.org/officeDocument/2006/relationships/slide" Target="slides/slide26.xml"/><Relationship Id="rId77" Type="http://schemas.openxmlformats.org/officeDocument/2006/relationships/font" Target="fonts/Economica-boldItalic.fntdata"/><Relationship Id="rId32" Type="http://schemas.openxmlformats.org/officeDocument/2006/relationships/slide" Target="slides/slide25.xml"/><Relationship Id="rId76" Type="http://schemas.openxmlformats.org/officeDocument/2006/relationships/font" Target="fonts/Economica-italic.fntdata"/><Relationship Id="rId35" Type="http://schemas.openxmlformats.org/officeDocument/2006/relationships/slide" Target="slides/slide28.xml"/><Relationship Id="rId79" Type="http://schemas.openxmlformats.org/officeDocument/2006/relationships/font" Target="fonts/Merriweather-regular.fntdata"/><Relationship Id="rId34" Type="http://schemas.openxmlformats.org/officeDocument/2006/relationships/slide" Target="slides/slide27.xml"/><Relationship Id="rId78" Type="http://schemas.openxmlformats.org/officeDocument/2006/relationships/font" Target="fonts/Junge-regular.fntdata"/><Relationship Id="rId71" Type="http://schemas.openxmlformats.org/officeDocument/2006/relationships/font" Target="fonts/JosefinSlab-bold.fntdata"/><Relationship Id="rId70" Type="http://schemas.openxmlformats.org/officeDocument/2006/relationships/font" Target="fonts/JosefinSlab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90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89045e38_0_67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89045e38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89045e38_0_68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89045e38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89045e38_0_6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89045e38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699ebbd7b_0_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699ebbd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699ebbd7b_0_1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699ebbd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699ebbd7b_0_5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1699ebbd7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699ebbd7b_0_2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699ebbd7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699ebbd7b_0_4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699ebbd7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0bcab6434_0_5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10bcab64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0bcab6434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10bcab64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689045e38_0_70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c689045e38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c689045e38_0_71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c689045e38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c689045e38_0_73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c689045e38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c689045e38_0_74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c689045e38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c689045e38_0_7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c689045e38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c689045e38_0_78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c689045e38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c689045e38_0_79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c689045e38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c1d05e9afe_0_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c1d05e9af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c1d05e9afe_0_4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c1d05e9af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c689045e38_0_80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c689045e38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1699ebbd7b_0_7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1699ebbd7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1699ebbd7b_0_7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1699ebbd7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1699ebbd7b_0_8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1699ebbd7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c689045e38_0_80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c689045e38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c1d05e9afe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c1d05e9a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c689045e38_0_8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c689045e38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c689045e38_0_85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c689045e38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1699ebbd7b_0_9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1699ebbd7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c689045e38_0_8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c689045e38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c689045e38_0_86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c689045e38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c689045e38_0_88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c689045e38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c689045e38_0_90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c689045e38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7175f5c4f_1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e7175f5c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7175f5c4f_1_7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e7175f5c4f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c1d05e9af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c1d05e9a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10bcab6434_0_11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10bcab643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10bcab6434_0_12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10bcab643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c689045e38_0_94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c689045e38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c689045e38_0_95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c689045e38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c689045e38_0_97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c689045e38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c689045e38_0_98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c689045e38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c689045e38_0_101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c689045e3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c689045e38_0_1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c689045e38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c689045e38_0_10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c689045e3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c689045e38_0_106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c689045e38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c689045e38_0_107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c689045e38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10bcab6434_0_20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10bcab643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c689045e38_0_109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c689045e38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c689045e38_0_110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c689045e38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c689045e38_0_110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c689045e38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c689045e38_0_11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c689045e38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c689045e38_0_112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c689045e38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c689045e38_0_113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c689045e38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c689045e38_0_114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c689045e38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c689045e38_0_114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c689045e38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c689045e38_0_115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c689045e38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c689045e38_0_11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c689045e38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689045e38_0_11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689045e38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c689045e38_0_126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c689045e38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c689045e38_0_127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c689045e38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c689045e38_0_128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c689045e38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c689045e38_0_129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c689045e38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theatlantic.com/technology/archive/2012/04/the-100-year-march-of-technology-in-1-graph/255573/" TargetMode="External"/><Relationship Id="rId4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theatlantic.com/technology/archive/2012/04/the-100-year-march-of-technology-in-1-graph/255573/" TargetMode="External"/><Relationship Id="rId4" Type="http://schemas.openxmlformats.org/officeDocument/2006/relationships/image" Target="../media/image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news.gallup.com/poll/311672/support-sex-marriage-matches-record-high.aspx" TargetMode="External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news.gallup.com/poll/311672/support-sex-marriage-matches-record-high.aspx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www.youtube.com/watch?v=pJfq-o5nZQ4" TargetMode="External"/><Relationship Id="rId4" Type="http://schemas.openxmlformats.org/officeDocument/2006/relationships/image" Target="../media/image10.jpg"/><Relationship Id="rId5" Type="http://schemas.openxmlformats.org/officeDocument/2006/relationships/hyperlink" Target="https://www.nature.com/articles/srep00454" TargetMode="External"/><Relationship Id="rId6" Type="http://schemas.openxmlformats.org/officeDocument/2006/relationships/image" Target="../media/image1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www.youtube.com/watch?v=pJfq-o5nZQ4" TargetMode="External"/><Relationship Id="rId4" Type="http://schemas.openxmlformats.org/officeDocument/2006/relationships/image" Target="../media/image10.jpg"/><Relationship Id="rId5" Type="http://schemas.openxmlformats.org/officeDocument/2006/relationships/hyperlink" Target="https://www.nature.com/articles/srep00454" TargetMode="External"/><Relationship Id="rId6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youtube.com/watch?v=5EyC3o4UsI0" TargetMode="External"/><Relationship Id="rId4" Type="http://schemas.openxmlformats.org/officeDocument/2006/relationships/image" Target="../media/image1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Relationship Id="rId8" Type="http://schemas.openxmlformats.org/officeDocument/2006/relationships/image" Target="../media/image1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Relationship Id="rId8" Type="http://schemas.openxmlformats.org/officeDocument/2006/relationships/image" Target="../media/image1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ure.com/articles/srep00197.pdf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www.nature.com/articles/srep00197.pdf" TargetMode="External"/><Relationship Id="rId6" Type="http://schemas.openxmlformats.org/officeDocument/2006/relationships/hyperlink" Target="https://www.nature.com/articles/srep00197.pdf" TargetMode="External"/><Relationship Id="rId7" Type="http://schemas.openxmlformats.org/officeDocument/2006/relationships/hyperlink" Target="https://www.nature.com/articles/srep00197.pdf" TargetMode="External"/><Relationship Id="rId8" Type="http://schemas.openxmlformats.org/officeDocument/2006/relationships/image" Target="../media/image1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Relationship Id="rId4" Type="http://schemas.openxmlformats.org/officeDocument/2006/relationships/hyperlink" Target="http://timkastelle.org/blog/2012/02/two-problems-caused-by-the-innovation-diffusion-curve/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6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030634"/>
            <a:ext cx="3054600" cy="22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Diffusion: How Things Spread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457200" y="4370568"/>
            <a:ext cx="8229600" cy="5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Thompson, D. (2012) The 100-Year March of Technology in 1 Graph.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http://www.theatlantic.com/technology/archive/2012/04/the-100-year-march-of-technology-in-1-graph/255573/</a:t>
            </a:r>
            <a:r>
              <a:rPr lang="en"/>
              <a:t> (last accessed October 9th 2014)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116" name="Google Shape;1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00" y="469779"/>
            <a:ext cx="7754739" cy="32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28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24" name="Google Shape;124;p28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25" name="Google Shape;125;p28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26" name="Google Shape;126;p28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27" name="Google Shape;127;p28"/>
            <p:cNvCxnSpPr>
              <a:stCxn id="124" idx="7"/>
              <a:endCxn id="126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28"/>
            <p:cNvCxnSpPr>
              <a:stCxn id="126" idx="3"/>
              <a:endCxn id="125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28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30" name="Google Shape;130;p28"/>
            <p:cNvCxnSpPr>
              <a:stCxn id="124" idx="6"/>
              <a:endCxn id="129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28"/>
            <p:cNvCxnSpPr>
              <a:stCxn id="129" idx="3"/>
              <a:endCxn id="125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An Innovation</a:t>
            </a:r>
            <a:r>
              <a:rPr lang="en"/>
              <a:t>: The object that diffuses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9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39" name="Google Shape;139;p29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41" name="Google Shape;141;p29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42" name="Google Shape;142;p29"/>
            <p:cNvCxnSpPr>
              <a:stCxn id="139" idx="7"/>
              <a:endCxn id="141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9"/>
            <p:cNvCxnSpPr>
              <a:stCxn id="141" idx="3"/>
              <a:endCxn id="140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" name="Google Shape;144;p29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45" name="Google Shape;145;p29"/>
            <p:cNvCxnSpPr>
              <a:stCxn id="139" idx="6"/>
              <a:endCxn id="144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9"/>
            <p:cNvCxnSpPr>
              <a:stCxn id="144" idx="3"/>
              <a:endCxn id="140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An Innovation</a:t>
            </a:r>
            <a:r>
              <a:rPr lang="en"/>
              <a:t>: The object that diffuses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Actors: </a:t>
            </a:r>
            <a:r>
              <a:rPr lang="en"/>
              <a:t>Usually people but also groups that adopt (or fail to adopt) the innovation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30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54" name="Google Shape;154;p30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55" name="Google Shape;155;p30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57" name="Google Shape;157;p30"/>
            <p:cNvCxnSpPr>
              <a:stCxn id="154" idx="7"/>
              <a:endCxn id="156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30"/>
            <p:cNvCxnSpPr>
              <a:stCxn id="156" idx="3"/>
              <a:endCxn id="155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30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60" name="Google Shape;160;p30"/>
            <p:cNvCxnSpPr>
              <a:stCxn id="154" idx="6"/>
              <a:endCxn id="159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30"/>
            <p:cNvCxnSpPr>
              <a:stCxn id="159" idx="3"/>
              <a:endCxn id="155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An Innovation</a:t>
            </a:r>
            <a:r>
              <a:rPr lang="en"/>
              <a:t>: The object that diffuses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Actors: </a:t>
            </a:r>
            <a:r>
              <a:rPr lang="en"/>
              <a:t>Usually people but also groups that adopt (or fail to adopt) the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Flow</a:t>
            </a:r>
            <a:r>
              <a:rPr lang="en"/>
              <a:t> : From </a:t>
            </a:r>
            <a:r>
              <a:rPr b="1" lang="en"/>
              <a:t>source actor</a:t>
            </a:r>
            <a:r>
              <a:rPr lang="en"/>
              <a:t> to an </a:t>
            </a:r>
            <a:r>
              <a:rPr b="1" lang="en"/>
              <a:t>adopting actor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31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69" name="Google Shape;169;p31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72" name="Google Shape;172;p31"/>
            <p:cNvCxnSpPr>
              <a:stCxn id="169" idx="7"/>
              <a:endCxn id="171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31"/>
            <p:cNvCxnSpPr>
              <a:stCxn id="171" idx="3"/>
              <a:endCxn id="170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31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75" name="Google Shape;175;p31"/>
            <p:cNvCxnSpPr>
              <a:stCxn id="169" idx="6"/>
              <a:endCxn id="174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31"/>
            <p:cNvCxnSpPr>
              <a:stCxn id="174" idx="3"/>
              <a:endCxn id="170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An Innovation</a:t>
            </a:r>
            <a:r>
              <a:rPr lang="en"/>
              <a:t>: The object that diffuses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Actors: </a:t>
            </a:r>
            <a:r>
              <a:rPr lang="en"/>
              <a:t>Usually people but also groups that adopt (or fail to adopt) the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Flow</a:t>
            </a:r>
            <a:r>
              <a:rPr lang="en"/>
              <a:t> : From </a:t>
            </a:r>
            <a:r>
              <a:rPr b="1" lang="en"/>
              <a:t>source actor</a:t>
            </a:r>
            <a:r>
              <a:rPr lang="en"/>
              <a:t> to an </a:t>
            </a:r>
            <a:r>
              <a:rPr b="1" lang="en"/>
              <a:t>adopting actor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Mechanism</a:t>
            </a:r>
            <a:r>
              <a:rPr lang="en"/>
              <a:t> :Process linking sources and adopters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imitation, physical contact, proximity,  influence, comparison)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32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84" name="Google Shape;184;p32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185" name="Google Shape;185;p32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86" name="Google Shape;186;p32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87" name="Google Shape;187;p32"/>
            <p:cNvCxnSpPr>
              <a:stCxn id="184" idx="7"/>
              <a:endCxn id="186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32"/>
            <p:cNvCxnSpPr>
              <a:stCxn id="186" idx="3"/>
              <a:endCxn id="185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9" name="Google Shape;189;p32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190" name="Google Shape;190;p32"/>
            <p:cNvCxnSpPr>
              <a:stCxn id="184" idx="6"/>
              <a:endCxn id="189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32"/>
            <p:cNvCxnSpPr>
              <a:stCxn id="189" idx="3"/>
              <a:endCxn id="185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diffusion?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Spread</a:t>
            </a:r>
            <a:r>
              <a:rPr lang="en"/>
              <a:t> of objects, ideas, information, concepts, fashions, tastes, practices etc. in a social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diffusion process has five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An Innovation</a:t>
            </a:r>
            <a:r>
              <a:rPr lang="en"/>
              <a:t>: The object that diffuses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Actors: </a:t>
            </a:r>
            <a:r>
              <a:rPr lang="en"/>
              <a:t>Usually people but also groups that adopt (or fail to adopt) the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Flow</a:t>
            </a:r>
            <a:r>
              <a:rPr lang="en"/>
              <a:t> : From </a:t>
            </a:r>
            <a:r>
              <a:rPr b="1" lang="en"/>
              <a:t>source actor</a:t>
            </a:r>
            <a:r>
              <a:rPr lang="en"/>
              <a:t> to an </a:t>
            </a:r>
            <a:r>
              <a:rPr b="1" lang="en"/>
              <a:t>adopting actor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Mechanism</a:t>
            </a:r>
            <a:r>
              <a:rPr lang="en"/>
              <a:t> :Process linking sources and adopters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imitation, physical contact, proximity,  influence, comparison)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</a:rPr>
              <a:t>Outcome</a:t>
            </a:r>
            <a:r>
              <a:rPr i="1" lang="en"/>
              <a:t>: </a:t>
            </a:r>
            <a:r>
              <a:rPr lang="en"/>
              <a:t>The end state of the adopting actor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opinion change, conversion, participation, infection)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33"/>
          <p:cNvGrpSpPr/>
          <p:nvPr/>
        </p:nvGrpSpPr>
        <p:grpSpPr>
          <a:xfrm>
            <a:off x="2726725" y="3994365"/>
            <a:ext cx="3256400" cy="965550"/>
            <a:chOff x="2943800" y="3937915"/>
            <a:chExt cx="3256400" cy="965550"/>
          </a:xfrm>
        </p:grpSpPr>
        <p:sp>
          <p:nvSpPr>
            <p:cNvPr id="199" name="Google Shape;199;p33"/>
            <p:cNvSpPr/>
            <p:nvPr/>
          </p:nvSpPr>
          <p:spPr>
            <a:xfrm>
              <a:off x="2943800" y="4313665"/>
              <a:ext cx="687600" cy="589800"/>
            </a:xfrm>
            <a:prstGeom prst="ellipse">
              <a:avLst/>
            </a:prstGeom>
            <a:solidFill>
              <a:srgbClr val="E6913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Source</a:t>
              </a:r>
              <a:endParaRPr b="1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5512600" y="4313665"/>
              <a:ext cx="687600" cy="5898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Economica"/>
                  <a:ea typeface="Economica"/>
                  <a:cs typeface="Economica"/>
                  <a:sym typeface="Economica"/>
                </a:rPr>
                <a:t>Adopter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4142548" y="3937915"/>
              <a:ext cx="818700" cy="268800"/>
            </a:xfrm>
            <a:prstGeom prst="rect">
              <a:avLst/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Innovation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202" name="Google Shape;202;p33"/>
            <p:cNvCxnSpPr>
              <a:stCxn id="199" idx="7"/>
              <a:endCxn id="201" idx="1"/>
            </p:cNvCxnSpPr>
            <p:nvPr/>
          </p:nvCxnSpPr>
          <p:spPr>
            <a:xfrm rot="-5400000">
              <a:off x="3672753" y="3930389"/>
              <a:ext cx="327600" cy="6117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33"/>
            <p:cNvCxnSpPr>
              <a:stCxn id="201" idx="3"/>
              <a:endCxn id="200" idx="1"/>
            </p:cNvCxnSpPr>
            <p:nvPr/>
          </p:nvCxnSpPr>
          <p:spPr>
            <a:xfrm>
              <a:off x="4961248" y="4072315"/>
              <a:ext cx="651900" cy="327600"/>
            </a:xfrm>
            <a:prstGeom prst="curvedConnector2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" name="Google Shape;204;p33"/>
            <p:cNvSpPr/>
            <p:nvPr/>
          </p:nvSpPr>
          <p:spPr>
            <a:xfrm>
              <a:off x="4118550" y="4474045"/>
              <a:ext cx="906900" cy="268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Mechanism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205" name="Google Shape;205;p33"/>
            <p:cNvCxnSpPr>
              <a:stCxn id="199" idx="6"/>
              <a:endCxn id="204" idx="1"/>
            </p:cNvCxnSpPr>
            <p:nvPr/>
          </p:nvCxnSpPr>
          <p:spPr>
            <a:xfrm>
              <a:off x="3631400" y="460856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33"/>
            <p:cNvCxnSpPr>
              <a:stCxn id="204" idx="3"/>
              <a:endCxn id="200" idx="2"/>
            </p:cNvCxnSpPr>
            <p:nvPr/>
          </p:nvCxnSpPr>
          <p:spPr>
            <a:xfrm>
              <a:off x="5025450" y="4608445"/>
              <a:ext cx="487200" cy="600"/>
            </a:xfrm>
            <a:prstGeom prst="curvedConnector3">
              <a:avLst>
                <a:gd fmla="val 49995" name="adj1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Question: Why do things diffuse?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311700" y="1225215"/>
            <a:ext cx="57894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Factors Accounting for Why Things Spread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object being diffused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Familiar/unfamiliar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risk (consequential) v. low risk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Cost/benefit ratio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Characteristics of the source and adopter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Individual versus collective actor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status v. Low status actor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 v. dissimilar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Environmental Context</a:t>
            </a:r>
            <a:endParaRPr i="1"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Proximity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Structure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41-keJ%2BHgjL._SX320_BO1,204,203,200_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100" y="1099259"/>
            <a:ext cx="2245711" cy="348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1225215"/>
            <a:ext cx="6029700" cy="3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cohesion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(Coleman et al 1966)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opinion leaders (two-step)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(Katz and Lazarsfeld 1966; Rogers 1962)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positional equivalence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(Burt 1987)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via long (weak) ties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1973)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and Network Threshold Models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(Granovetter and Soong 1983; Valente 1995)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Contagion Models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(Centora and Macy 2007)</a:t>
            </a:r>
            <a:endParaRPr/>
          </a:p>
        </p:txBody>
      </p:sp>
      <p:pic>
        <p:nvPicPr>
          <p:cNvPr descr="51ab1b9uzLL._SY344_BO1,204,203,200_.jpg" id="220" name="Google Shape;2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375" y="1186233"/>
            <a:ext cx="2241823" cy="343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slow uptake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6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" name="Google Shape;228;p36"/>
          <p:cNvCxnSpPr>
            <a:endCxn id="227" idx="1"/>
          </p:cNvCxnSpPr>
          <p:nvPr/>
        </p:nvCxnSpPr>
        <p:spPr>
          <a:xfrm flipH="1" rot="10800000">
            <a:off x="4543975" y="1437904"/>
            <a:ext cx="3453600" cy="2884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6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6"/>
          <p:cNvCxnSpPr>
            <a:stCxn id="229" idx="3"/>
            <a:endCxn id="231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6"/>
          <p:cNvCxnSpPr>
            <a:stCxn id="229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36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36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/>
          <p:nvPr/>
        </p:nvSpPr>
        <p:spPr>
          <a:xfrm>
            <a:off x="4525075" y="1408230"/>
            <a:ext cx="1130700" cy="2914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2" name="Google Shape;242;p37"/>
          <p:cNvCxnSpPr>
            <a:endCxn id="241" idx="1"/>
          </p:cNvCxnSpPr>
          <p:nvPr/>
        </p:nvCxnSpPr>
        <p:spPr>
          <a:xfrm flipH="1" rot="10800000">
            <a:off x="4543975" y="1437904"/>
            <a:ext cx="3453600" cy="2884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Rapid spread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37"/>
          <p:cNvCxnSpPr>
            <a:stCxn id="245" idx="3"/>
            <a:endCxn id="247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7"/>
          <p:cNvCxnSpPr>
            <a:stCxn id="245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37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/>
          <p:nvPr/>
        </p:nvSpPr>
        <p:spPr>
          <a:xfrm>
            <a:off x="5634035" y="1408230"/>
            <a:ext cx="1273500" cy="2914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8"/>
          <p:cNvSpPr/>
          <p:nvPr/>
        </p:nvSpPr>
        <p:spPr>
          <a:xfrm>
            <a:off x="4525075" y="1408230"/>
            <a:ext cx="1130700" cy="2914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 slow saturation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8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8"/>
          <p:cNvCxnSpPr>
            <a:stCxn id="260" idx="3"/>
            <a:endCxn id="262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8"/>
          <p:cNvCxnSpPr>
            <a:stCxn id="260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8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8" name="Google Shape;268;p38"/>
          <p:cNvCxnSpPr>
            <a:endCxn id="267" idx="1"/>
          </p:cNvCxnSpPr>
          <p:nvPr/>
        </p:nvCxnSpPr>
        <p:spPr>
          <a:xfrm flipH="1" rot="10800000">
            <a:off x="4543975" y="1437904"/>
            <a:ext cx="3453600" cy="2884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/>
          <p:nvPr/>
        </p:nvSpPr>
        <p:spPr>
          <a:xfrm>
            <a:off x="6907529" y="1408230"/>
            <a:ext cx="1130700" cy="29145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9"/>
          <p:cNvSpPr/>
          <p:nvPr/>
        </p:nvSpPr>
        <p:spPr>
          <a:xfrm>
            <a:off x="5634035" y="1408230"/>
            <a:ext cx="1273500" cy="2914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9"/>
          <p:cNvSpPr/>
          <p:nvPr/>
        </p:nvSpPr>
        <p:spPr>
          <a:xfrm>
            <a:off x="4525075" y="1408230"/>
            <a:ext cx="1130700" cy="2914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9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9" name="Google Shape;279;p39"/>
          <p:cNvCxnSpPr>
            <a:stCxn id="277" idx="3"/>
            <a:endCxn id="278" idx="1"/>
          </p:cNvCxnSpPr>
          <p:nvPr/>
        </p:nvCxnSpPr>
        <p:spPr>
          <a:xfrm flipH="1" rot="10800000">
            <a:off x="4543975" y="1438039"/>
            <a:ext cx="3453600" cy="2884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9"/>
          <p:cNvCxnSpPr>
            <a:stCxn id="277" idx="3"/>
            <a:endCxn id="281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9"/>
          <p:cNvCxnSpPr>
            <a:stCxn id="277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39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39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39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 b="1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/>
          <p:nvPr/>
        </p:nvSpPr>
        <p:spPr>
          <a:xfrm>
            <a:off x="6907529" y="1408230"/>
            <a:ext cx="1130700" cy="29145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0"/>
          <p:cNvSpPr/>
          <p:nvPr/>
        </p:nvSpPr>
        <p:spPr>
          <a:xfrm>
            <a:off x="5634035" y="1408230"/>
            <a:ext cx="1273500" cy="2914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0"/>
          <p:cNvSpPr/>
          <p:nvPr/>
        </p:nvSpPr>
        <p:spPr>
          <a:xfrm>
            <a:off x="4525075" y="1408230"/>
            <a:ext cx="1130700" cy="2914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295" name="Google Shape;295;p40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Number of adopters per unit of time </a:t>
            </a:r>
            <a:r>
              <a:rPr b="1" lang="en">
                <a:solidFill>
                  <a:srgbClr val="FF0000"/>
                </a:solidFill>
              </a:rPr>
              <a:t>peaks</a:t>
            </a:r>
            <a:r>
              <a:rPr lang="en">
                <a:solidFill>
                  <a:srgbClr val="000000"/>
                </a:solidFill>
              </a:rPr>
              <a:t> during the “take off” period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0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8" name="Google Shape;298;p40"/>
          <p:cNvCxnSpPr>
            <a:stCxn id="296" idx="3"/>
            <a:endCxn id="297" idx="1"/>
          </p:cNvCxnSpPr>
          <p:nvPr/>
        </p:nvCxnSpPr>
        <p:spPr>
          <a:xfrm flipH="1" rot="10800000">
            <a:off x="4543975" y="1438039"/>
            <a:ext cx="3453600" cy="2884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40"/>
          <p:cNvCxnSpPr>
            <a:stCxn id="296" idx="3"/>
            <a:endCxn id="300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40"/>
          <p:cNvCxnSpPr>
            <a:stCxn id="296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40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8346775" y="4240530"/>
            <a:ext cx="29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 flipH="1" rot="10800000">
            <a:off x="6306300" y="2898113"/>
            <a:ext cx="40800" cy="2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100">
              <a:solidFill>
                <a:srgbClr val="6AA84F"/>
              </a:solidFill>
              <a:highlight>
                <a:srgbClr val="6AA84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3742525" y="418678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8" name="Google Shape;308;p40"/>
          <p:cNvCxnSpPr>
            <a:stCxn id="306" idx="3"/>
            <a:endCxn id="305" idx="1"/>
          </p:cNvCxnSpPr>
          <p:nvPr/>
        </p:nvCxnSpPr>
        <p:spPr>
          <a:xfrm>
            <a:off x="6347100" y="2911163"/>
            <a:ext cx="1999800" cy="1394700"/>
          </a:xfrm>
          <a:prstGeom prst="curvedConnector3">
            <a:avLst>
              <a:gd fmla="val 44381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40"/>
          <p:cNvCxnSpPr>
            <a:stCxn id="306" idx="1"/>
            <a:endCxn id="307" idx="3"/>
          </p:cNvCxnSpPr>
          <p:nvPr/>
        </p:nvCxnSpPr>
        <p:spPr>
          <a:xfrm flipH="1">
            <a:off x="4524900" y="2911163"/>
            <a:ext cx="1781400" cy="1406100"/>
          </a:xfrm>
          <a:prstGeom prst="curvedConnector3">
            <a:avLst>
              <a:gd fmla="val 47227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pic>
        <p:nvPicPr>
          <p:cNvPr id="315" name="Google Shape;3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025" y="1166748"/>
            <a:ext cx="3234664" cy="320703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1"/>
          <p:cNvSpPr txBox="1"/>
          <p:nvPr/>
        </p:nvSpPr>
        <p:spPr>
          <a:xfrm>
            <a:off x="311700" y="4479250"/>
            <a:ext cx="85206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Ryan, B. and N.C. Gross (1943) The Diffusion of Hybrid Seed Corn in Two Iowa Communities, </a:t>
            </a:r>
            <a:r>
              <a:rPr i="1" lang="en" sz="1700">
                <a:latin typeface="Economica"/>
                <a:ea typeface="Economica"/>
                <a:cs typeface="Economica"/>
                <a:sym typeface="Economica"/>
              </a:rPr>
              <a:t>Rural Sociology</a:t>
            </a: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, 8: 15-24.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1"/>
          <p:cNvSpPr/>
          <p:nvPr/>
        </p:nvSpPr>
        <p:spPr>
          <a:xfrm>
            <a:off x="6811185" y="1278405"/>
            <a:ext cx="885600" cy="2675100"/>
          </a:xfrm>
          <a:prstGeom prst="rect">
            <a:avLst/>
          </a:prstGeom>
          <a:solidFill>
            <a:srgbClr val="D5A6BD">
              <a:alpha val="43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1"/>
          <p:cNvSpPr/>
          <p:nvPr/>
        </p:nvSpPr>
        <p:spPr>
          <a:xfrm>
            <a:off x="5813826" y="1278405"/>
            <a:ext cx="997200" cy="2675100"/>
          </a:xfrm>
          <a:prstGeom prst="rect">
            <a:avLst/>
          </a:prstGeom>
          <a:solidFill>
            <a:srgbClr val="C9DAF8">
              <a:alpha val="33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1"/>
          <p:cNvSpPr/>
          <p:nvPr/>
        </p:nvSpPr>
        <p:spPr>
          <a:xfrm>
            <a:off x="4945325" y="1278405"/>
            <a:ext cx="885600" cy="2675100"/>
          </a:xfrm>
          <a:prstGeom prst="rect">
            <a:avLst/>
          </a:prstGeom>
          <a:solidFill>
            <a:srgbClr val="F4CCCC">
              <a:alpha val="357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</a:t>
            </a:r>
            <a:r>
              <a:rPr b="1" lang="en"/>
              <a:t>S-shaped</a:t>
            </a:r>
            <a:r>
              <a:rPr lang="en"/>
              <a:t>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Number of adopters per unit of time </a:t>
            </a:r>
            <a:r>
              <a:rPr b="1" lang="en">
                <a:solidFill>
                  <a:srgbClr val="FF0000"/>
                </a:solidFill>
              </a:rPr>
              <a:t>peaks</a:t>
            </a:r>
            <a:r>
              <a:rPr lang="en">
                <a:solidFill>
                  <a:srgbClr val="000000"/>
                </a:solidFill>
              </a:rPr>
              <a:t> during the “take off” period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457200" y="4370568"/>
            <a:ext cx="8229600" cy="5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Thompson, D. (2012) The 100-Year March of Technology in 1 Graph.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http://www.theatlantic.com/technology/archive/2012/04/the-100-year-march-of-technology-in-1-graph/255573/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history-of-products.gif" id="326" name="Google Shape;32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00" y="469779"/>
            <a:ext cx="7754739" cy="32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idx="1" type="body"/>
          </p:nvPr>
        </p:nvSpPr>
        <p:spPr>
          <a:xfrm>
            <a:off x="457200" y="4370568"/>
            <a:ext cx="8229600" cy="5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U.S. Support for Same-Sex Marriage Matches Record High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https://news.gallup.com/poll/311672/support-sex-marriage-matches-record-high.aspx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2" name="Google Shape;33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580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idx="1" type="body"/>
          </p:nvPr>
        </p:nvSpPr>
        <p:spPr>
          <a:xfrm>
            <a:off x="457200" y="4370568"/>
            <a:ext cx="8229600" cy="5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U.S. Support for Same-Sex Marriage Matches Record High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https://news.gallup.com/poll/311672/support-sex-marriage-matches-record-high.aspx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8" name="Google Shape;33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6858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4"/>
          <p:cNvSpPr/>
          <p:nvPr/>
        </p:nvSpPr>
        <p:spPr>
          <a:xfrm>
            <a:off x="620525" y="1654750"/>
            <a:ext cx="5536238" cy="1116919"/>
          </a:xfrm>
          <a:custGeom>
            <a:rect b="b" l="l" r="r" t="t"/>
            <a:pathLst>
              <a:path extrusionOk="0" h="38290" w="247956">
                <a:moveTo>
                  <a:pt x="0" y="38290"/>
                </a:moveTo>
                <a:cubicBezTo>
                  <a:pt x="13560" y="36176"/>
                  <a:pt x="50653" y="31441"/>
                  <a:pt x="81358" y="25603"/>
                </a:cubicBezTo>
                <a:cubicBezTo>
                  <a:pt x="112063" y="19765"/>
                  <a:pt x="157568" y="7493"/>
                  <a:pt x="184228" y="3264"/>
                </a:cubicBezTo>
                <a:cubicBezTo>
                  <a:pt x="210888" y="-965"/>
                  <a:pt x="230791" y="690"/>
                  <a:pt x="241317" y="230"/>
                </a:cubicBezTo>
                <a:cubicBezTo>
                  <a:pt x="251843" y="-230"/>
                  <a:pt x="246373" y="460"/>
                  <a:pt x="247384" y="506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345" name="Google Shape;345;p45"/>
          <p:cNvSpPr txBox="1"/>
          <p:nvPr>
            <p:ph idx="1" type="body"/>
          </p:nvPr>
        </p:nvSpPr>
        <p:spPr>
          <a:xfrm>
            <a:off x="311700" y="1225217"/>
            <a:ext cx="85206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types of social network models of diffusion: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Direct Cohesion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connectivity</a:t>
            </a:r>
            <a:r>
              <a:rPr lang="en"/>
              <a:t> of adopters to their sources via network ties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5"/>
          <p:cNvPicPr preferRelativeResize="0"/>
          <p:nvPr/>
        </p:nvPicPr>
        <p:blipFill rotWithShape="1">
          <a:blip r:embed="rId3">
            <a:alphaModFix/>
          </a:blip>
          <a:srcRect b="49729" l="22912" r="6131" t="8892"/>
          <a:stretch/>
        </p:blipFill>
        <p:spPr>
          <a:xfrm>
            <a:off x="2560325" y="4127782"/>
            <a:ext cx="4023360" cy="91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311700" y="1225217"/>
            <a:ext cx="85206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types of social network models of diffusion: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Direct Cohesion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connectivity</a:t>
            </a:r>
            <a:r>
              <a:rPr lang="en"/>
              <a:t> of adopters to their sources via network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Two-Step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social distance </a:t>
            </a:r>
            <a:r>
              <a:rPr lang="en"/>
              <a:t>between adopters and influential sources as well as characteristics of </a:t>
            </a:r>
            <a:r>
              <a:rPr b="1" lang="en"/>
              <a:t>influentials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46"/>
          <p:cNvPicPr preferRelativeResize="0"/>
          <p:nvPr/>
        </p:nvPicPr>
        <p:blipFill rotWithShape="1">
          <a:blip r:embed="rId3">
            <a:alphaModFix/>
          </a:blip>
          <a:srcRect b="49729" l="22912" r="6131" t="8892"/>
          <a:stretch/>
        </p:blipFill>
        <p:spPr>
          <a:xfrm>
            <a:off x="2560325" y="4127782"/>
            <a:ext cx="4023360" cy="91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359" name="Google Shape;359;p47"/>
          <p:cNvSpPr txBox="1"/>
          <p:nvPr>
            <p:ph idx="1" type="body"/>
          </p:nvPr>
        </p:nvSpPr>
        <p:spPr>
          <a:xfrm>
            <a:off x="311700" y="1225217"/>
            <a:ext cx="85206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types of social network models of diffusion: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Direct Cohesion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connectivity</a:t>
            </a:r>
            <a:r>
              <a:rPr lang="en"/>
              <a:t> of adopters to their sources via network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Two-Step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social distance </a:t>
            </a:r>
            <a:r>
              <a:rPr lang="en"/>
              <a:t>between adopters and influential sources as well as characteristics of </a:t>
            </a:r>
            <a:r>
              <a:rPr b="1" lang="en"/>
              <a:t>influentials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Threshold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</a:t>
            </a:r>
            <a:r>
              <a:rPr b="1" lang="en"/>
              <a:t>susceptibility</a:t>
            </a:r>
            <a:r>
              <a:rPr lang="en"/>
              <a:t> of adopters to the behavior of multiple sources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47"/>
          <p:cNvPicPr preferRelativeResize="0"/>
          <p:nvPr/>
        </p:nvPicPr>
        <p:blipFill rotWithShape="1">
          <a:blip r:embed="rId3">
            <a:alphaModFix/>
          </a:blip>
          <a:srcRect b="49729" l="22912" r="6131" t="8892"/>
          <a:stretch/>
        </p:blipFill>
        <p:spPr>
          <a:xfrm>
            <a:off x="2560325" y="4127782"/>
            <a:ext cx="4023360" cy="91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366" name="Google Shape;366;p48"/>
          <p:cNvSpPr txBox="1"/>
          <p:nvPr>
            <p:ph idx="1" type="body"/>
          </p:nvPr>
        </p:nvSpPr>
        <p:spPr>
          <a:xfrm>
            <a:off x="311700" y="1225217"/>
            <a:ext cx="85206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types of social network models of diffusion: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Direct Cohesion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connectivity</a:t>
            </a:r>
            <a:r>
              <a:rPr lang="en"/>
              <a:t> of adopters to their sources via network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Two-Step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social distance </a:t>
            </a:r>
            <a:r>
              <a:rPr lang="en"/>
              <a:t>between adopters and influential sources as well as characteristics of </a:t>
            </a:r>
            <a:r>
              <a:rPr b="1" lang="en"/>
              <a:t>influentials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Threshold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</a:t>
            </a:r>
            <a:r>
              <a:rPr b="1" lang="en"/>
              <a:t>susceptibility</a:t>
            </a:r>
            <a:r>
              <a:rPr lang="en"/>
              <a:t> of adopters to the behavior of multiple 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Positional Equivalence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</a:t>
            </a:r>
            <a:r>
              <a:rPr b="1" lang="en"/>
              <a:t>indirect influence </a:t>
            </a:r>
            <a:r>
              <a:rPr lang="en"/>
              <a:t>and comparison between sources and structurally similar adopters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48"/>
          <p:cNvPicPr preferRelativeResize="0"/>
          <p:nvPr/>
        </p:nvPicPr>
        <p:blipFill rotWithShape="1">
          <a:blip r:embed="rId3">
            <a:alphaModFix/>
          </a:blip>
          <a:srcRect b="49729" l="22912" r="6131" t="8892"/>
          <a:stretch/>
        </p:blipFill>
        <p:spPr>
          <a:xfrm>
            <a:off x="2560325" y="4127782"/>
            <a:ext cx="4023360" cy="91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373" name="Google Shape;373;p49"/>
          <p:cNvSpPr txBox="1"/>
          <p:nvPr>
            <p:ph idx="1" type="body"/>
          </p:nvPr>
        </p:nvSpPr>
        <p:spPr>
          <a:xfrm>
            <a:off x="311700" y="1225215"/>
            <a:ext cx="8520600" cy="22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9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5" name="Google Shape;375;p49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76" name="Google Shape;376;p49"/>
          <p:cNvCxnSpPr>
            <a:stCxn id="374" idx="7"/>
            <a:endCxn id="375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9"/>
          <p:cNvCxnSpPr>
            <a:stCxn id="375" idx="3"/>
            <a:endCxn id="378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9" name="Google Shape;379;p49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80" name="Google Shape;380;p49"/>
          <p:cNvCxnSpPr>
            <a:stCxn id="374" idx="6"/>
            <a:endCxn id="379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49"/>
          <p:cNvCxnSpPr>
            <a:stCxn id="379" idx="3"/>
            <a:endCxn id="378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8" name="Google Shape;378;p49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2" name="Google Shape;382;p49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3" name="Google Shape;383;p49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4" name="Google Shape;384;p49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85" name="Google Shape;385;p49"/>
          <p:cNvCxnSpPr>
            <a:stCxn id="383" idx="2"/>
            <a:endCxn id="378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9"/>
          <p:cNvCxnSpPr>
            <a:stCxn id="378" idx="0"/>
            <a:endCxn id="384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9"/>
          <p:cNvCxnSpPr>
            <a:stCxn id="382" idx="4"/>
            <a:endCxn id="383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9"/>
          <p:cNvCxnSpPr>
            <a:stCxn id="382" idx="0"/>
            <a:endCxn id="384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49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390" name="Google Shape;390;p49"/>
          <p:cNvCxnSpPr>
            <a:stCxn id="389" idx="0"/>
            <a:endCxn id="384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9"/>
          <p:cNvCxnSpPr>
            <a:stCxn id="382" idx="2"/>
            <a:endCxn id="389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9"/>
          <p:cNvCxnSpPr>
            <a:stCxn id="378" idx="6"/>
            <a:endCxn id="389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9"/>
          <p:cNvCxnSpPr>
            <a:stCxn id="389" idx="2"/>
            <a:endCxn id="383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399" name="Google Shape;399;p50"/>
          <p:cNvSpPr txBox="1"/>
          <p:nvPr>
            <p:ph idx="1" type="body"/>
          </p:nvPr>
        </p:nvSpPr>
        <p:spPr>
          <a:xfrm>
            <a:off x="311700" y="1225215"/>
            <a:ext cx="8520600" cy="22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Similarity heuristic: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adopt the innovations that people like me adopt (homophily)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mechanism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0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02" name="Google Shape;402;p50"/>
          <p:cNvCxnSpPr>
            <a:stCxn id="400" idx="7"/>
            <a:endCxn id="401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>
            <a:stCxn id="401" idx="3"/>
            <a:endCxn id="404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50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06" name="Google Shape;406;p50"/>
          <p:cNvCxnSpPr>
            <a:stCxn id="400" idx="6"/>
            <a:endCxn id="405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50"/>
          <p:cNvCxnSpPr>
            <a:stCxn id="405" idx="3"/>
            <a:endCxn id="404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8" name="Google Shape;408;p50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9" name="Google Shape;409;p50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10" name="Google Shape;410;p50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11" name="Google Shape;411;p50"/>
          <p:cNvCxnSpPr>
            <a:stCxn id="409" idx="2"/>
            <a:endCxn id="404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0"/>
          <p:cNvCxnSpPr>
            <a:stCxn id="404" idx="0"/>
            <a:endCxn id="410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0"/>
          <p:cNvCxnSpPr>
            <a:stCxn id="408" idx="4"/>
            <a:endCxn id="409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0"/>
          <p:cNvCxnSpPr>
            <a:stCxn id="408" idx="0"/>
            <a:endCxn id="410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50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16" name="Google Shape;416;p50"/>
          <p:cNvCxnSpPr>
            <a:stCxn id="415" idx="0"/>
            <a:endCxn id="410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50"/>
          <p:cNvCxnSpPr>
            <a:stCxn id="408" idx="2"/>
            <a:endCxn id="415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50"/>
          <p:cNvCxnSpPr>
            <a:stCxn id="404" idx="6"/>
            <a:endCxn id="415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50"/>
          <p:cNvCxnSpPr>
            <a:stCxn id="415" idx="2"/>
            <a:endCxn id="409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225215"/>
            <a:ext cx="8520600" cy="20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diffuse like a “virus” (sometimes literally)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mechanism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Sharing a meme on social media (“going viral”)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1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7" name="Google Shape;427;p51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28" name="Google Shape;428;p51"/>
          <p:cNvCxnSpPr>
            <a:stCxn id="426" idx="7"/>
            <a:endCxn id="427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51"/>
          <p:cNvCxnSpPr>
            <a:stCxn id="427" idx="3"/>
            <a:endCxn id="430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51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Contagion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32" name="Google Shape;432;p51"/>
          <p:cNvCxnSpPr>
            <a:stCxn id="426" idx="6"/>
            <a:endCxn id="431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51"/>
          <p:cNvCxnSpPr>
            <a:stCxn id="431" idx="3"/>
            <a:endCxn id="430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0" name="Google Shape;430;p51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5" name="Google Shape;435;p51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36" name="Google Shape;436;p51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37" name="Google Shape;437;p51"/>
          <p:cNvCxnSpPr>
            <a:stCxn id="435" idx="2"/>
            <a:endCxn id="430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51"/>
          <p:cNvCxnSpPr>
            <a:stCxn id="430" idx="0"/>
            <a:endCxn id="436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1"/>
          <p:cNvCxnSpPr>
            <a:stCxn id="434" idx="4"/>
            <a:endCxn id="435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1"/>
          <p:cNvCxnSpPr>
            <a:stCxn id="434" idx="0"/>
            <a:endCxn id="436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51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Contagion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42" name="Google Shape;442;p51"/>
          <p:cNvCxnSpPr>
            <a:stCxn id="441" idx="0"/>
            <a:endCxn id="436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51"/>
          <p:cNvCxnSpPr>
            <a:stCxn id="434" idx="2"/>
            <a:endCxn id="441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51"/>
          <p:cNvCxnSpPr>
            <a:stCxn id="430" idx="6"/>
            <a:endCxn id="441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1"/>
          <p:cNvCxnSpPr>
            <a:stCxn id="441" idx="2"/>
            <a:endCxn id="435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pic>
        <p:nvPicPr>
          <p:cNvPr descr="N.A. Christakis and J.H. Fowler, &quot;The Spread of Obesity in a Large Social Network Over 32 Years,&quot; New England Journal of Medicine  357(4): 370-379 (July 2007)" id="451" name="Google Shape;451;p52" title="The Spread of Obesity in Social Network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51185"/>
            <a:ext cx="41148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8299" y="405248"/>
            <a:ext cx="3243600" cy="4304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pic>
        <p:nvPicPr>
          <p:cNvPr descr="N.A. Christakis and J.H. Fowler, &quot;The Spread of Obesity in a Large Social Network Over 32 Years,&quot; New England Journal of Medicine  357(4): 370-379 (July 2007)" id="458" name="Google Shape;458;p53" title="The Spread of Obesity in Social Network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51185"/>
            <a:ext cx="41148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8299" y="405248"/>
            <a:ext cx="3243600" cy="4304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 (Planet of the Apes!)</a:t>
            </a:r>
            <a:endParaRPr/>
          </a:p>
        </p:txBody>
      </p:sp>
      <p:pic>
        <p:nvPicPr>
          <p:cNvPr descr="Graphic That Shows The Spread Of The Simian Flu Virus Worldwide" id="465" name="Google Shape;465;p54" title="Rise Of The Planet Of The Apes Mid Credits Scen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650" y="1147223"/>
            <a:ext cx="4934677" cy="370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471" name="Google Shape;471;p55"/>
          <p:cNvSpPr txBox="1"/>
          <p:nvPr>
            <p:ph idx="1" type="body"/>
          </p:nvPr>
        </p:nvSpPr>
        <p:spPr>
          <a:xfrm>
            <a:off x="311700" y="1225218"/>
            <a:ext cx="85206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claim: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Innovations diffuse via </a:t>
            </a:r>
            <a:r>
              <a:rPr b="1" lang="en"/>
              <a:t>opinion leaders </a:t>
            </a:r>
            <a:r>
              <a:rPr lang="en"/>
              <a:t>(“influencers”)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Potential sources look up to opinion leaders to see what innovations they should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are opinion leaders?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“[</a:t>
            </a:r>
            <a:r>
              <a:rPr i="1" lang="en"/>
              <a:t>P]eople who influence the opinions, attitudes, beliefs, motivations, and behaviors of others</a:t>
            </a:r>
            <a:r>
              <a:rPr lang="en"/>
              <a:t>” (Valente and Pumpuang 2007: 881)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Opinion leaders are “early” or first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why this is called “two-step” diffusion</a:t>
            </a:r>
            <a:endParaRPr/>
          </a:p>
        </p:txBody>
      </p:sp>
      <p:sp>
        <p:nvSpPr>
          <p:cNvPr id="472" name="Google Shape;472;p55"/>
          <p:cNvSpPr/>
          <p:nvPr/>
        </p:nvSpPr>
        <p:spPr>
          <a:xfrm>
            <a:off x="4228200" y="3895395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3" name="Google Shape;473;p55"/>
          <p:cNvSpPr/>
          <p:nvPr/>
        </p:nvSpPr>
        <p:spPr>
          <a:xfrm>
            <a:off x="7093100" y="389593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74" name="Google Shape;474;p55"/>
          <p:cNvSpPr/>
          <p:nvPr/>
        </p:nvSpPr>
        <p:spPr>
          <a:xfrm>
            <a:off x="5595098" y="3519645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5" name="Google Shape;475;p55"/>
          <p:cNvCxnSpPr>
            <a:stCxn id="472" idx="7"/>
            <a:endCxn id="474" idx="1"/>
          </p:cNvCxnSpPr>
          <p:nvPr/>
        </p:nvCxnSpPr>
        <p:spPr>
          <a:xfrm rot="-5400000">
            <a:off x="5041303" y="3427969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55"/>
          <p:cNvCxnSpPr>
            <a:stCxn id="474" idx="3"/>
            <a:endCxn id="473" idx="1"/>
          </p:cNvCxnSpPr>
          <p:nvPr/>
        </p:nvCxnSpPr>
        <p:spPr>
          <a:xfrm>
            <a:off x="6413798" y="3654045"/>
            <a:ext cx="780000" cy="32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55"/>
          <p:cNvSpPr/>
          <p:nvPr/>
        </p:nvSpPr>
        <p:spPr>
          <a:xfrm>
            <a:off x="5551000" y="405631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78" name="Google Shape;478;p55"/>
          <p:cNvCxnSpPr>
            <a:stCxn id="472" idx="6"/>
            <a:endCxn id="477" idx="1"/>
          </p:cNvCxnSpPr>
          <p:nvPr/>
        </p:nvCxnSpPr>
        <p:spPr>
          <a:xfrm>
            <a:off x="4915800" y="419029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55"/>
          <p:cNvCxnSpPr>
            <a:stCxn id="477" idx="3"/>
            <a:endCxn id="473" idx="2"/>
          </p:cNvCxnSpPr>
          <p:nvPr/>
        </p:nvCxnSpPr>
        <p:spPr>
          <a:xfrm>
            <a:off x="6457900" y="419071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80" name="Google Shape;480;p55"/>
          <p:cNvSpPr/>
          <p:nvPr/>
        </p:nvSpPr>
        <p:spPr>
          <a:xfrm>
            <a:off x="1363300" y="3895665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1" name="Google Shape;481;p55"/>
          <p:cNvSpPr/>
          <p:nvPr/>
        </p:nvSpPr>
        <p:spPr>
          <a:xfrm>
            <a:off x="2730198" y="3519634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82" name="Google Shape;482;p55"/>
          <p:cNvCxnSpPr>
            <a:stCxn id="480" idx="7"/>
            <a:endCxn id="481" idx="1"/>
          </p:cNvCxnSpPr>
          <p:nvPr/>
        </p:nvCxnSpPr>
        <p:spPr>
          <a:xfrm rot="-5400000">
            <a:off x="2176253" y="3428089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55"/>
          <p:cNvCxnSpPr>
            <a:stCxn id="481" idx="3"/>
            <a:endCxn id="472" idx="1"/>
          </p:cNvCxnSpPr>
          <p:nvPr/>
        </p:nvCxnSpPr>
        <p:spPr>
          <a:xfrm>
            <a:off x="3548898" y="3654034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55"/>
          <p:cNvSpPr/>
          <p:nvPr/>
        </p:nvSpPr>
        <p:spPr>
          <a:xfrm>
            <a:off x="2686100" y="405577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85" name="Google Shape;485;p55"/>
          <p:cNvCxnSpPr>
            <a:stCxn id="480" idx="6"/>
            <a:endCxn id="484" idx="1"/>
          </p:cNvCxnSpPr>
          <p:nvPr/>
        </p:nvCxnSpPr>
        <p:spPr>
          <a:xfrm>
            <a:off x="2050900" y="419056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55"/>
          <p:cNvCxnSpPr>
            <a:stCxn id="484" idx="3"/>
            <a:endCxn id="472" idx="2"/>
          </p:cNvCxnSpPr>
          <p:nvPr/>
        </p:nvCxnSpPr>
        <p:spPr>
          <a:xfrm>
            <a:off x="3593000" y="419017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492" name="Google Shape;492;p56"/>
          <p:cNvSpPr txBox="1"/>
          <p:nvPr>
            <p:ph idx="1" type="body"/>
          </p:nvPr>
        </p:nvSpPr>
        <p:spPr>
          <a:xfrm>
            <a:off x="311700" y="1225218"/>
            <a:ext cx="85206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Characteristics of opinion leaders: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are visible (e.g., celebrities, instagram influencers)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occupy powerful positions (e.g., politicians, captains of industry)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are well connected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centrality (Popular people)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Eigenvector centrality (People who can influence popular people)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Betweenness centrality (People who can intermediate between groups)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6"/>
          <p:cNvSpPr/>
          <p:nvPr/>
        </p:nvSpPr>
        <p:spPr>
          <a:xfrm>
            <a:off x="4228200" y="3895395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4" name="Google Shape;494;p56"/>
          <p:cNvSpPr/>
          <p:nvPr/>
        </p:nvSpPr>
        <p:spPr>
          <a:xfrm>
            <a:off x="7093100" y="389593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5" name="Google Shape;495;p56"/>
          <p:cNvSpPr/>
          <p:nvPr/>
        </p:nvSpPr>
        <p:spPr>
          <a:xfrm>
            <a:off x="5595098" y="3519645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96" name="Google Shape;496;p56"/>
          <p:cNvCxnSpPr>
            <a:stCxn id="493" idx="7"/>
            <a:endCxn id="495" idx="1"/>
          </p:cNvCxnSpPr>
          <p:nvPr/>
        </p:nvCxnSpPr>
        <p:spPr>
          <a:xfrm rot="-5400000">
            <a:off x="5041303" y="3427969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56"/>
          <p:cNvCxnSpPr>
            <a:stCxn id="495" idx="3"/>
            <a:endCxn id="494" idx="1"/>
          </p:cNvCxnSpPr>
          <p:nvPr/>
        </p:nvCxnSpPr>
        <p:spPr>
          <a:xfrm>
            <a:off x="6413798" y="3654045"/>
            <a:ext cx="780000" cy="32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56"/>
          <p:cNvSpPr/>
          <p:nvPr/>
        </p:nvSpPr>
        <p:spPr>
          <a:xfrm>
            <a:off x="5551000" y="405631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99" name="Google Shape;499;p56"/>
          <p:cNvCxnSpPr>
            <a:stCxn id="493" idx="6"/>
            <a:endCxn id="498" idx="1"/>
          </p:cNvCxnSpPr>
          <p:nvPr/>
        </p:nvCxnSpPr>
        <p:spPr>
          <a:xfrm>
            <a:off x="4915800" y="419029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56"/>
          <p:cNvCxnSpPr>
            <a:stCxn id="498" idx="3"/>
            <a:endCxn id="494" idx="2"/>
          </p:cNvCxnSpPr>
          <p:nvPr/>
        </p:nvCxnSpPr>
        <p:spPr>
          <a:xfrm>
            <a:off x="6457900" y="419071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1" name="Google Shape;501;p56"/>
          <p:cNvSpPr/>
          <p:nvPr/>
        </p:nvSpPr>
        <p:spPr>
          <a:xfrm>
            <a:off x="1363300" y="3895665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2" name="Google Shape;502;p56"/>
          <p:cNvSpPr/>
          <p:nvPr/>
        </p:nvSpPr>
        <p:spPr>
          <a:xfrm>
            <a:off x="2730198" y="3519634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03" name="Google Shape;503;p56"/>
          <p:cNvCxnSpPr>
            <a:stCxn id="501" idx="7"/>
            <a:endCxn id="502" idx="1"/>
          </p:cNvCxnSpPr>
          <p:nvPr/>
        </p:nvCxnSpPr>
        <p:spPr>
          <a:xfrm rot="-5400000">
            <a:off x="2176253" y="3428089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56"/>
          <p:cNvCxnSpPr>
            <a:stCxn id="502" idx="3"/>
            <a:endCxn id="493" idx="1"/>
          </p:cNvCxnSpPr>
          <p:nvPr/>
        </p:nvCxnSpPr>
        <p:spPr>
          <a:xfrm>
            <a:off x="3548898" y="3654034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5" name="Google Shape;505;p56"/>
          <p:cNvSpPr/>
          <p:nvPr/>
        </p:nvSpPr>
        <p:spPr>
          <a:xfrm>
            <a:off x="2686100" y="405577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06" name="Google Shape;506;p56"/>
          <p:cNvCxnSpPr>
            <a:stCxn id="501" idx="6"/>
            <a:endCxn id="505" idx="1"/>
          </p:cNvCxnSpPr>
          <p:nvPr/>
        </p:nvCxnSpPr>
        <p:spPr>
          <a:xfrm>
            <a:off x="2050900" y="419056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56"/>
          <p:cNvCxnSpPr>
            <a:stCxn id="505" idx="3"/>
            <a:endCxn id="493" idx="2"/>
          </p:cNvCxnSpPr>
          <p:nvPr/>
        </p:nvCxnSpPr>
        <p:spPr>
          <a:xfrm>
            <a:off x="3593000" y="419017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513" name="Google Shape;513;p57"/>
          <p:cNvSpPr txBox="1"/>
          <p:nvPr>
            <p:ph idx="1" type="body"/>
          </p:nvPr>
        </p:nvSpPr>
        <p:spPr>
          <a:xfrm>
            <a:off x="311700" y="1225215"/>
            <a:ext cx="8520600" cy="11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 can combine the two-step and cohesion models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Innovations begin at a source and are transferred to opinion leaders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Opinion leaders then transfer the information to adopters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 spreads via cohesion among adopters in the second step</a:t>
            </a:r>
            <a:endParaRPr/>
          </a:p>
        </p:txBody>
      </p:sp>
      <p:sp>
        <p:nvSpPr>
          <p:cNvPr id="514" name="Google Shape;514;p57"/>
          <p:cNvSpPr/>
          <p:nvPr/>
        </p:nvSpPr>
        <p:spPr>
          <a:xfrm>
            <a:off x="3254700" y="3710653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5" name="Google Shape;515;p57"/>
          <p:cNvSpPr/>
          <p:nvPr/>
        </p:nvSpPr>
        <p:spPr>
          <a:xfrm>
            <a:off x="6098200" y="37124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6" name="Google Shape;516;p57"/>
          <p:cNvSpPr/>
          <p:nvPr/>
        </p:nvSpPr>
        <p:spPr>
          <a:xfrm>
            <a:off x="4621598" y="3334903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7" name="Google Shape;517;p57"/>
          <p:cNvCxnSpPr>
            <a:stCxn id="514" idx="7"/>
            <a:endCxn id="516" idx="1"/>
          </p:cNvCxnSpPr>
          <p:nvPr/>
        </p:nvCxnSpPr>
        <p:spPr>
          <a:xfrm rot="-5400000">
            <a:off x="4067803" y="3243227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7"/>
          <p:cNvCxnSpPr>
            <a:stCxn id="516" idx="3"/>
            <a:endCxn id="515" idx="1"/>
          </p:cNvCxnSpPr>
          <p:nvPr/>
        </p:nvCxnSpPr>
        <p:spPr>
          <a:xfrm>
            <a:off x="5440298" y="3469303"/>
            <a:ext cx="758700" cy="3294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9" name="Google Shape;519;p57"/>
          <p:cNvSpPr/>
          <p:nvPr/>
        </p:nvSpPr>
        <p:spPr>
          <a:xfrm>
            <a:off x="4577500" y="3871572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0" name="Google Shape;520;p57"/>
          <p:cNvCxnSpPr>
            <a:stCxn id="514" idx="6"/>
            <a:endCxn id="519" idx="1"/>
          </p:cNvCxnSpPr>
          <p:nvPr/>
        </p:nvCxnSpPr>
        <p:spPr>
          <a:xfrm>
            <a:off x="3942300" y="4005553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57"/>
          <p:cNvCxnSpPr>
            <a:stCxn id="519" idx="3"/>
            <a:endCxn id="515" idx="2"/>
          </p:cNvCxnSpPr>
          <p:nvPr/>
        </p:nvCxnSpPr>
        <p:spPr>
          <a:xfrm>
            <a:off x="5484400" y="4005972"/>
            <a:ext cx="613800" cy="1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57"/>
          <p:cNvSpPr/>
          <p:nvPr/>
        </p:nvSpPr>
        <p:spPr>
          <a:xfrm>
            <a:off x="389800" y="3710923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3" name="Google Shape;523;p57"/>
          <p:cNvSpPr/>
          <p:nvPr/>
        </p:nvSpPr>
        <p:spPr>
          <a:xfrm>
            <a:off x="1756698" y="3334891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4" name="Google Shape;524;p57"/>
          <p:cNvCxnSpPr>
            <a:stCxn id="522" idx="7"/>
            <a:endCxn id="523" idx="1"/>
          </p:cNvCxnSpPr>
          <p:nvPr/>
        </p:nvCxnSpPr>
        <p:spPr>
          <a:xfrm rot="-5400000">
            <a:off x="1202753" y="3243347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57"/>
          <p:cNvCxnSpPr>
            <a:stCxn id="523" idx="3"/>
            <a:endCxn id="514" idx="1"/>
          </p:cNvCxnSpPr>
          <p:nvPr/>
        </p:nvCxnSpPr>
        <p:spPr>
          <a:xfrm>
            <a:off x="2575398" y="3469291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57"/>
          <p:cNvSpPr/>
          <p:nvPr/>
        </p:nvSpPr>
        <p:spPr>
          <a:xfrm>
            <a:off x="1712600" y="3871032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7" name="Google Shape;527;p57"/>
          <p:cNvCxnSpPr>
            <a:stCxn id="522" idx="6"/>
            <a:endCxn id="526" idx="1"/>
          </p:cNvCxnSpPr>
          <p:nvPr/>
        </p:nvCxnSpPr>
        <p:spPr>
          <a:xfrm>
            <a:off x="1077400" y="4005823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57"/>
          <p:cNvCxnSpPr>
            <a:stCxn id="526" idx="3"/>
            <a:endCxn id="514" idx="2"/>
          </p:cNvCxnSpPr>
          <p:nvPr/>
        </p:nvCxnSpPr>
        <p:spPr>
          <a:xfrm>
            <a:off x="2619500" y="4005432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9" name="Google Shape;529;p57"/>
          <p:cNvSpPr/>
          <p:nvPr/>
        </p:nvSpPr>
        <p:spPr>
          <a:xfrm>
            <a:off x="8066600" y="37114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30" name="Google Shape;530;p57"/>
          <p:cNvSpPr/>
          <p:nvPr/>
        </p:nvSpPr>
        <p:spPr>
          <a:xfrm>
            <a:off x="7055800" y="430033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31" name="Google Shape;531;p57"/>
          <p:cNvSpPr/>
          <p:nvPr/>
        </p:nvSpPr>
        <p:spPr>
          <a:xfrm>
            <a:off x="7055800" y="31234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32" name="Google Shape;532;p57"/>
          <p:cNvCxnSpPr>
            <a:stCxn id="530" idx="2"/>
            <a:endCxn id="515" idx="4"/>
          </p:cNvCxnSpPr>
          <p:nvPr/>
        </p:nvCxnSpPr>
        <p:spPr>
          <a:xfrm rot="10800000">
            <a:off x="6442000" y="4302133"/>
            <a:ext cx="613800" cy="293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7"/>
          <p:cNvCxnSpPr>
            <a:stCxn id="515" idx="0"/>
            <a:endCxn id="531" idx="2"/>
          </p:cNvCxnSpPr>
          <p:nvPr/>
        </p:nvCxnSpPr>
        <p:spPr>
          <a:xfrm rot="-5400000">
            <a:off x="6601750" y="32584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57"/>
          <p:cNvCxnSpPr>
            <a:stCxn id="529" idx="4"/>
            <a:endCxn id="530" idx="6"/>
          </p:cNvCxnSpPr>
          <p:nvPr/>
        </p:nvCxnSpPr>
        <p:spPr>
          <a:xfrm rot="5400000">
            <a:off x="7929950" y="4114813"/>
            <a:ext cx="2940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57"/>
          <p:cNvCxnSpPr>
            <a:stCxn id="529" idx="0"/>
            <a:endCxn id="531" idx="6"/>
          </p:cNvCxnSpPr>
          <p:nvPr/>
        </p:nvCxnSpPr>
        <p:spPr>
          <a:xfrm flipH="1" rot="5400000">
            <a:off x="7930400" y="32314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57"/>
          <p:cNvSpPr txBox="1"/>
          <p:nvPr/>
        </p:nvSpPr>
        <p:spPr>
          <a:xfrm>
            <a:off x="1923650" y="2508470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57"/>
          <p:cNvSpPr txBox="1"/>
          <p:nvPr/>
        </p:nvSpPr>
        <p:spPr>
          <a:xfrm>
            <a:off x="4788550" y="2508433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57"/>
          <p:cNvSpPr txBox="1"/>
          <p:nvPr/>
        </p:nvSpPr>
        <p:spPr>
          <a:xfrm>
            <a:off x="7157200" y="2508458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57"/>
          <p:cNvSpPr/>
          <p:nvPr/>
        </p:nvSpPr>
        <p:spPr>
          <a:xfrm>
            <a:off x="6946150" y="38728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40" name="Google Shape;540;p57"/>
          <p:cNvCxnSpPr>
            <a:stCxn id="539" idx="2"/>
            <a:endCxn id="539" idx="2"/>
          </p:cNvCxnSpPr>
          <p:nvPr/>
        </p:nvCxnSpPr>
        <p:spPr>
          <a:xfrm flipH="1" rot="-5400000">
            <a:off x="7399600" y="4141655"/>
            <a:ext cx="600" cy="6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7"/>
          <p:cNvCxnSpPr>
            <a:stCxn id="539" idx="0"/>
            <a:endCxn id="531" idx="4"/>
          </p:cNvCxnSpPr>
          <p:nvPr/>
        </p:nvCxnSpPr>
        <p:spPr>
          <a:xfrm rot="-5400000">
            <a:off x="7320100" y="3792755"/>
            <a:ext cx="159600" cy="600"/>
          </a:xfrm>
          <a:prstGeom prst="curvedConnector3">
            <a:avLst>
              <a:gd fmla="val 4997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57"/>
          <p:cNvCxnSpPr>
            <a:stCxn id="529" idx="2"/>
            <a:endCxn id="539" idx="3"/>
          </p:cNvCxnSpPr>
          <p:nvPr/>
        </p:nvCxnSpPr>
        <p:spPr>
          <a:xfrm flipH="1">
            <a:off x="7853000" y="40063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57"/>
          <p:cNvCxnSpPr>
            <a:stCxn id="515" idx="6"/>
            <a:endCxn id="539" idx="1"/>
          </p:cNvCxnSpPr>
          <p:nvPr/>
        </p:nvCxnSpPr>
        <p:spPr>
          <a:xfrm>
            <a:off x="6785800" y="40073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Coleman, Katz, and Menzel (1957)</a:t>
            </a:r>
            <a:endParaRPr/>
          </a:p>
        </p:txBody>
      </p:sp>
      <p:sp>
        <p:nvSpPr>
          <p:cNvPr id="549" name="Google Shape;549;p58"/>
          <p:cNvSpPr txBox="1"/>
          <p:nvPr>
            <p:ph idx="1" type="body"/>
          </p:nvPr>
        </p:nvSpPr>
        <p:spPr>
          <a:xfrm>
            <a:off x="311700" y="1225248"/>
            <a:ext cx="8520600" cy="13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 new drug (pseudonym "gammanym") with wide potential use is released to the market.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 15 months, almost all relevant specialists in four cities adopted it. Some used it immediately, others waited.</a:t>
            </a:r>
            <a:endParaRPr/>
          </a:p>
        </p:txBody>
      </p:sp>
      <p:sp>
        <p:nvSpPr>
          <p:cNvPr id="550" name="Google Shape;550;p58"/>
          <p:cNvSpPr txBox="1"/>
          <p:nvPr/>
        </p:nvSpPr>
        <p:spPr>
          <a:xfrm>
            <a:off x="795813" y="2768164"/>
            <a:ext cx="2062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Sociometric Mapping</a:t>
            </a:r>
            <a:endParaRPr sz="800"/>
          </a:p>
        </p:txBody>
      </p:sp>
      <p:sp>
        <p:nvSpPr>
          <p:cNvPr id="551" name="Google Shape;551;p58"/>
          <p:cNvSpPr txBox="1"/>
          <p:nvPr/>
        </p:nvSpPr>
        <p:spPr>
          <a:xfrm>
            <a:off x="844925" y="3341406"/>
            <a:ext cx="19644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Researchers didn't just survey individuals in isolation. They asked doctors: Who do you turn to for advice? Who do you discuss cases with? Who are your friends? This mapped the social structure.</a:t>
            </a:r>
            <a:endParaRPr sz="1000"/>
          </a:p>
        </p:txBody>
      </p:sp>
      <p:sp>
        <p:nvSpPr>
          <p:cNvPr id="552" name="Google Shape;552;p58"/>
          <p:cNvSpPr txBox="1"/>
          <p:nvPr/>
        </p:nvSpPr>
        <p:spPr>
          <a:xfrm>
            <a:off x="3432450" y="2768164"/>
            <a:ext cx="20628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 Adoption Data</a:t>
            </a:r>
            <a:endParaRPr sz="800"/>
          </a:p>
        </p:txBody>
      </p:sp>
      <p:sp>
        <p:nvSpPr>
          <p:cNvPr id="553" name="Google Shape;553;p58"/>
          <p:cNvSpPr txBox="1"/>
          <p:nvPr/>
        </p:nvSpPr>
        <p:spPr>
          <a:xfrm>
            <a:off x="3481562" y="3341406"/>
            <a:ext cx="19644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"adoption date" wasn't based on memory. Researchers searched local pharmacy prescription records to find the exact month each doctor first prescribed the new drug.</a:t>
            </a:r>
            <a:endParaRPr sz="1000"/>
          </a:p>
        </p:txBody>
      </p:sp>
      <p:sp>
        <p:nvSpPr>
          <p:cNvPr id="554" name="Google Shape;554;p58"/>
          <p:cNvSpPr txBox="1"/>
          <p:nvPr/>
        </p:nvSpPr>
        <p:spPr>
          <a:xfrm>
            <a:off x="6089851" y="2768164"/>
            <a:ext cx="2021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Combining Data Sets</a:t>
            </a:r>
            <a:endParaRPr sz="800"/>
          </a:p>
        </p:txBody>
      </p:sp>
      <p:sp>
        <p:nvSpPr>
          <p:cNvPr id="555" name="Google Shape;555;p58"/>
          <p:cNvSpPr txBox="1"/>
          <p:nvPr/>
        </p:nvSpPr>
        <p:spPr>
          <a:xfrm>
            <a:off x="6118175" y="3341399"/>
            <a:ext cx="19644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study merged objective behavioral data (prescription records) with structural data (the social network) and individual attributes (age, orientation) to build a complete picture.</a:t>
            </a:r>
            <a:endParaRPr sz="1000"/>
          </a:p>
        </p:txBody>
      </p:sp>
      <p:pic>
        <p:nvPicPr>
          <p:cNvPr descr="image.png" id="556" name="Google Shape;55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1475" y="2401367"/>
            <a:ext cx="455401" cy="340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7" name="Google Shape;557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7230" y="2401367"/>
            <a:ext cx="273241" cy="340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8212" y="2355204"/>
            <a:ext cx="364321" cy="340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Coleman, Katz, and Menzel (1957)</a:t>
            </a:r>
            <a:endParaRPr/>
          </a:p>
        </p:txBody>
      </p:sp>
      <p:pic>
        <p:nvPicPr>
          <p:cNvPr descr="image.png" id="564" name="Google Shape;56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52500" y="-952500"/>
            <a:ext cx="2207080" cy="2203231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9"/>
          <p:cNvSpPr/>
          <p:nvPr/>
        </p:nvSpPr>
        <p:spPr>
          <a:xfrm>
            <a:off x="596875" y="2571764"/>
            <a:ext cx="8385900" cy="64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9"/>
          <p:cNvSpPr txBox="1"/>
          <p:nvPr/>
        </p:nvSpPr>
        <p:spPr>
          <a:xfrm>
            <a:off x="1099454" y="2735479"/>
            <a:ext cx="1344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Months 1-2</a:t>
            </a:r>
            <a:endParaRPr/>
          </a:p>
        </p:txBody>
      </p:sp>
      <p:sp>
        <p:nvSpPr>
          <p:cNvPr id="567" name="Google Shape;567;p59"/>
          <p:cNvSpPr txBox="1"/>
          <p:nvPr/>
        </p:nvSpPr>
        <p:spPr>
          <a:xfrm>
            <a:off x="824500" y="2968000"/>
            <a:ext cx="18939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Professional Ties: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'Advisor' and 'Discussion' networks show maximum effectiveness. Doctors rely on professional contacts first.</a:t>
            </a:r>
            <a:endParaRPr sz="1200"/>
          </a:p>
        </p:txBody>
      </p:sp>
      <p:sp>
        <p:nvSpPr>
          <p:cNvPr id="568" name="Google Shape;568;p59"/>
          <p:cNvSpPr txBox="1"/>
          <p:nvPr/>
        </p:nvSpPr>
        <p:spPr>
          <a:xfrm>
            <a:off x="2806285" y="1013719"/>
            <a:ext cx="1344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Months 3-4</a:t>
            </a:r>
            <a:endParaRPr/>
          </a:p>
        </p:txBody>
      </p:sp>
      <p:sp>
        <p:nvSpPr>
          <p:cNvPr id="569" name="Google Shape;569;p59"/>
          <p:cNvSpPr txBox="1"/>
          <p:nvPr/>
        </p:nvSpPr>
        <p:spPr>
          <a:xfrm>
            <a:off x="2284350" y="1226750"/>
            <a:ext cx="25572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Friendship Ties: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Influence spreads through friendship networks, affecting those who value social ties over professional advisors.</a:t>
            </a:r>
            <a:endParaRPr sz="1200"/>
          </a:p>
        </p:txBody>
      </p:sp>
      <p:sp>
        <p:nvSpPr>
          <p:cNvPr id="570" name="Google Shape;570;p59"/>
          <p:cNvSpPr txBox="1"/>
          <p:nvPr/>
        </p:nvSpPr>
        <p:spPr>
          <a:xfrm>
            <a:off x="4513015" y="2735479"/>
            <a:ext cx="1344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Months 4-5</a:t>
            </a:r>
            <a:endParaRPr/>
          </a:p>
        </p:txBody>
      </p:sp>
      <p:sp>
        <p:nvSpPr>
          <p:cNvPr id="571" name="Google Shape;571;p59"/>
          <p:cNvSpPr txBox="1"/>
          <p:nvPr/>
        </p:nvSpPr>
        <p:spPr>
          <a:xfrm>
            <a:off x="3980950" y="3023325"/>
            <a:ext cx="25113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"Isolated" Adopters: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network finally reaches less integrated doctors who adopt during this period.</a:t>
            </a:r>
            <a:endParaRPr sz="1200"/>
          </a:p>
        </p:txBody>
      </p:sp>
      <p:sp>
        <p:nvSpPr>
          <p:cNvPr id="572" name="Google Shape;572;p59"/>
          <p:cNvSpPr txBox="1"/>
          <p:nvPr/>
        </p:nvSpPr>
        <p:spPr>
          <a:xfrm>
            <a:off x="6219875" y="1226738"/>
            <a:ext cx="1344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EA5E9"/>
                </a:solidFill>
                <a:latin typeface="Merriweather"/>
                <a:ea typeface="Merriweather"/>
                <a:cs typeface="Merriweather"/>
                <a:sym typeface="Merriweather"/>
              </a:rPr>
              <a:t>Months 6+</a:t>
            </a:r>
            <a:endParaRPr/>
          </a:p>
        </p:txBody>
      </p:sp>
      <p:sp>
        <p:nvSpPr>
          <p:cNvPr id="573" name="Google Shape;573;p59"/>
          <p:cNvSpPr txBox="1"/>
          <p:nvPr/>
        </p:nvSpPr>
        <p:spPr>
          <a:xfrm>
            <a:off x="5335100" y="1439750"/>
            <a:ext cx="33306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Network Exhaustion: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Pair-simultaneity drops to zero. Late adopters act independently of the social network (relying on ads, salesmen).</a:t>
            </a:r>
            <a:endParaRPr sz="1200"/>
          </a:p>
        </p:txBody>
      </p:sp>
      <p:sp>
        <p:nvSpPr>
          <p:cNvPr id="574" name="Google Shape;574;p59"/>
          <p:cNvSpPr/>
          <p:nvPr/>
        </p:nvSpPr>
        <p:spPr>
          <a:xfrm>
            <a:off x="1705298" y="2504140"/>
            <a:ext cx="132300" cy="132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9"/>
          <p:cNvSpPr/>
          <p:nvPr/>
        </p:nvSpPr>
        <p:spPr>
          <a:xfrm>
            <a:off x="3412078" y="2538015"/>
            <a:ext cx="132300" cy="132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9"/>
          <p:cNvSpPr/>
          <p:nvPr/>
        </p:nvSpPr>
        <p:spPr>
          <a:xfrm>
            <a:off x="5244134" y="2502052"/>
            <a:ext cx="132300" cy="132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9"/>
          <p:cNvSpPr/>
          <p:nvPr/>
        </p:nvSpPr>
        <p:spPr>
          <a:xfrm>
            <a:off x="7208814" y="2538015"/>
            <a:ext cx="132300" cy="132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3200"/>
            <a:ext cx="8839198" cy="419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1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588" name="Google Shape;588;p61"/>
          <p:cNvSpPr txBox="1"/>
          <p:nvPr>
            <p:ph idx="1" type="body"/>
          </p:nvPr>
        </p:nvSpPr>
        <p:spPr>
          <a:xfrm>
            <a:off x="311700" y="1102703"/>
            <a:ext cx="85206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Flashback: Positionally equivalent actors don’t have to be necessarily connected to one another!</a:t>
            </a:r>
            <a:endParaRPr/>
          </a:p>
        </p:txBody>
      </p:sp>
      <p:pic>
        <p:nvPicPr>
          <p:cNvPr id="589" name="Google Shape;58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449" y="2854956"/>
            <a:ext cx="4913191" cy="1931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 txBox="1"/>
          <p:nvPr>
            <p:ph idx="1" type="body"/>
          </p:nvPr>
        </p:nvSpPr>
        <p:spPr>
          <a:xfrm>
            <a:off x="311700" y="1225221"/>
            <a:ext cx="8520600" cy="15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Mechanism: Comparison to similarly positioned others</a:t>
            </a:r>
            <a:endParaRPr/>
          </a:p>
        </p:txBody>
      </p:sp>
      <p:sp>
        <p:nvSpPr>
          <p:cNvPr id="595" name="Google Shape;595;p62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596" name="Google Shape;596;p62"/>
          <p:cNvSpPr/>
          <p:nvPr/>
        </p:nvSpPr>
        <p:spPr>
          <a:xfrm>
            <a:off x="2061300" y="326058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97" name="Google Shape;597;p62"/>
          <p:cNvSpPr/>
          <p:nvPr/>
        </p:nvSpPr>
        <p:spPr>
          <a:xfrm>
            <a:off x="5331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8" name="Google Shape;598;p62"/>
          <p:cNvSpPr/>
          <p:nvPr/>
        </p:nvSpPr>
        <p:spPr>
          <a:xfrm>
            <a:off x="4136048" y="284433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99" name="Google Shape;599;p62"/>
          <p:cNvCxnSpPr>
            <a:stCxn id="596" idx="7"/>
            <a:endCxn id="598" idx="1"/>
          </p:cNvCxnSpPr>
          <p:nvPr/>
        </p:nvCxnSpPr>
        <p:spPr>
          <a:xfrm rot="-5400000">
            <a:off x="3208003" y="2419062"/>
            <a:ext cx="368100" cy="14877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62"/>
          <p:cNvCxnSpPr>
            <a:stCxn id="598" idx="3"/>
            <a:endCxn id="601" idx="1"/>
          </p:cNvCxnSpPr>
          <p:nvPr/>
        </p:nvCxnSpPr>
        <p:spPr>
          <a:xfrm>
            <a:off x="4954748" y="2978738"/>
            <a:ext cx="1487700" cy="368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2" name="Google Shape;602;p62"/>
          <p:cNvSpPr/>
          <p:nvPr/>
        </p:nvSpPr>
        <p:spPr>
          <a:xfrm>
            <a:off x="4091950" y="34209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Comparison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03" name="Google Shape;603;p62"/>
          <p:cNvCxnSpPr>
            <a:stCxn id="596" idx="6"/>
            <a:endCxn id="602" idx="1"/>
          </p:cNvCxnSpPr>
          <p:nvPr/>
        </p:nvCxnSpPr>
        <p:spPr>
          <a:xfrm>
            <a:off x="2748900" y="3555488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62"/>
          <p:cNvCxnSpPr>
            <a:stCxn id="602" idx="3"/>
            <a:endCxn id="601" idx="2"/>
          </p:cNvCxnSpPr>
          <p:nvPr/>
        </p:nvCxnSpPr>
        <p:spPr>
          <a:xfrm>
            <a:off x="4998850" y="3555367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5" name="Google Shape;605;p62"/>
          <p:cNvSpPr/>
          <p:nvPr/>
        </p:nvSpPr>
        <p:spPr>
          <a:xfrm>
            <a:off x="7352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06" name="Google Shape;606;p62"/>
          <p:cNvSpPr/>
          <p:nvPr/>
        </p:nvSpPr>
        <p:spPr>
          <a:xfrm>
            <a:off x="6341900" y="443751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01" name="Google Shape;601;p62"/>
          <p:cNvSpPr/>
          <p:nvPr/>
        </p:nvSpPr>
        <p:spPr>
          <a:xfrm>
            <a:off x="6341900" y="3260588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07" name="Google Shape;607;p62"/>
          <p:cNvCxnSpPr/>
          <p:nvPr/>
        </p:nvCxnSpPr>
        <p:spPr>
          <a:xfrm flipH="1" rot="-5400000">
            <a:off x="6685700" y="427896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2"/>
          <p:cNvCxnSpPr>
            <a:stCxn id="606" idx="0"/>
            <a:endCxn id="601" idx="4"/>
          </p:cNvCxnSpPr>
          <p:nvPr/>
        </p:nvCxnSpPr>
        <p:spPr>
          <a:xfrm rot="-5400000">
            <a:off x="6392450" y="4143668"/>
            <a:ext cx="5871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62"/>
          <p:cNvSpPr/>
          <p:nvPr/>
        </p:nvSpPr>
        <p:spPr>
          <a:xfrm>
            <a:off x="1103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0" name="Google Shape;610;p62"/>
          <p:cNvSpPr/>
          <p:nvPr/>
        </p:nvSpPr>
        <p:spPr>
          <a:xfrm>
            <a:off x="3072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1" name="Google Shape;611;p62"/>
          <p:cNvSpPr/>
          <p:nvPr/>
        </p:nvSpPr>
        <p:spPr>
          <a:xfrm>
            <a:off x="2087900" y="442638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12" name="Google Shape;612;p62"/>
          <p:cNvCxnSpPr/>
          <p:nvPr/>
        </p:nvCxnSpPr>
        <p:spPr>
          <a:xfrm flipH="1" rot="-5400000">
            <a:off x="2405100" y="442638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2"/>
          <p:cNvCxnSpPr>
            <a:stCxn id="596" idx="4"/>
            <a:endCxn id="611" idx="0"/>
          </p:cNvCxnSpPr>
          <p:nvPr/>
        </p:nvCxnSpPr>
        <p:spPr>
          <a:xfrm flipH="1" rot="-5400000">
            <a:off x="2130450" y="4125038"/>
            <a:ext cx="576000" cy="26700"/>
          </a:xfrm>
          <a:prstGeom prst="curvedConnector3">
            <a:avLst>
              <a:gd fmla="val 4999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62"/>
          <p:cNvCxnSpPr>
            <a:stCxn id="596" idx="3"/>
            <a:endCxn id="609" idx="7"/>
          </p:cNvCxnSpPr>
          <p:nvPr/>
        </p:nvCxnSpPr>
        <p:spPr>
          <a:xfrm flipH="1">
            <a:off x="1690697" y="3764013"/>
            <a:ext cx="4713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62"/>
          <p:cNvCxnSpPr>
            <a:stCxn id="601" idx="3"/>
            <a:endCxn id="597" idx="7"/>
          </p:cNvCxnSpPr>
          <p:nvPr/>
        </p:nvCxnSpPr>
        <p:spPr>
          <a:xfrm flipH="1">
            <a:off x="5917897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62"/>
          <p:cNvCxnSpPr>
            <a:stCxn id="596" idx="5"/>
            <a:endCxn id="610" idx="1"/>
          </p:cNvCxnSpPr>
          <p:nvPr/>
        </p:nvCxnSpPr>
        <p:spPr>
          <a:xfrm>
            <a:off x="2648203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62"/>
          <p:cNvCxnSpPr>
            <a:stCxn id="601" idx="5"/>
            <a:endCxn id="605" idx="1"/>
          </p:cNvCxnSpPr>
          <p:nvPr/>
        </p:nvCxnSpPr>
        <p:spPr>
          <a:xfrm>
            <a:off x="6928803" y="3764013"/>
            <a:ext cx="5247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623" name="Google Shape;623;p63"/>
          <p:cNvSpPr txBox="1"/>
          <p:nvPr>
            <p:ph idx="1" type="body"/>
          </p:nvPr>
        </p:nvSpPr>
        <p:spPr>
          <a:xfrm>
            <a:off x="311700" y="1225215"/>
            <a:ext cx="38691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 other people </a:t>
            </a:r>
            <a:r>
              <a:rPr lang="en"/>
              <a:t>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3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25" name="Google Shape;625;p63"/>
          <p:cNvCxnSpPr>
            <a:endCxn id="624" idx="1"/>
          </p:cNvCxnSpPr>
          <p:nvPr/>
        </p:nvCxnSpPr>
        <p:spPr>
          <a:xfrm flipH="1" rot="10800000">
            <a:off x="4543975" y="1437904"/>
            <a:ext cx="3453600" cy="2884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63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7" name="Google Shape;627;p63"/>
          <p:cNvCxnSpPr>
            <a:stCxn id="626" idx="3"/>
            <a:endCxn id="628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63"/>
          <p:cNvCxnSpPr>
            <a:stCxn id="626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63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p63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p63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2" name="Google Shape;632;p63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638" name="Google Shape;638;p64"/>
          <p:cNvSpPr txBox="1"/>
          <p:nvPr>
            <p:ph idx="1" type="body"/>
          </p:nvPr>
        </p:nvSpPr>
        <p:spPr>
          <a:xfrm>
            <a:off x="311700" y="1225215"/>
            <a:ext cx="38691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 other people </a:t>
            </a:r>
            <a:r>
              <a:rPr lang="en"/>
              <a:t>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</a:t>
            </a:r>
            <a:r>
              <a:rPr baseline="-25000" lang="en"/>
              <a:t>i</a:t>
            </a:r>
            <a:r>
              <a:rPr lang="en"/>
              <a:t> is between zero and 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is equal to q(i)</a:t>
            </a:r>
            <a:endParaRPr/>
          </a:p>
        </p:txBody>
      </p:sp>
      <p:sp>
        <p:nvSpPr>
          <p:cNvPr id="639" name="Google Shape;639;p64"/>
          <p:cNvSpPr/>
          <p:nvPr/>
        </p:nvSpPr>
        <p:spPr>
          <a:xfrm>
            <a:off x="7997575" y="1225204"/>
            <a:ext cx="1061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S-shaped diffusion curve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40" name="Google Shape;640;p64"/>
          <p:cNvCxnSpPr>
            <a:endCxn id="639" idx="1"/>
          </p:cNvCxnSpPr>
          <p:nvPr/>
        </p:nvCxnSpPr>
        <p:spPr>
          <a:xfrm flipH="1" rot="10800000">
            <a:off x="4543975" y="1437904"/>
            <a:ext cx="3453600" cy="2884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64"/>
          <p:cNvSpPr/>
          <p:nvPr/>
        </p:nvSpPr>
        <p:spPr>
          <a:xfrm>
            <a:off x="4393675" y="410983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2" name="Google Shape;642;p64"/>
          <p:cNvCxnSpPr>
            <a:stCxn id="641" idx="3"/>
            <a:endCxn id="643" idx="2"/>
          </p:cNvCxnSpPr>
          <p:nvPr/>
        </p:nvCxnSpPr>
        <p:spPr>
          <a:xfrm rot="10800000">
            <a:off x="4525075" y="1408339"/>
            <a:ext cx="18900" cy="29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64"/>
          <p:cNvCxnSpPr>
            <a:stCxn id="641" idx="3"/>
          </p:cNvCxnSpPr>
          <p:nvPr/>
        </p:nvCxnSpPr>
        <p:spPr>
          <a:xfrm flipH="1" rot="10800000">
            <a:off x="4543975" y="431203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64"/>
          <p:cNvSpPr txBox="1"/>
          <p:nvPr/>
        </p:nvSpPr>
        <p:spPr>
          <a:xfrm>
            <a:off x="5843725" y="4322599"/>
            <a:ext cx="1203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6" name="Google Shape;646;p64"/>
          <p:cNvSpPr txBox="1"/>
          <p:nvPr/>
        </p:nvSpPr>
        <p:spPr>
          <a:xfrm rot="-5400000">
            <a:off x="2960250" y="2786175"/>
            <a:ext cx="2731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Percentage of Adopters in Population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p64"/>
          <p:cNvSpPr txBox="1"/>
          <p:nvPr/>
        </p:nvSpPr>
        <p:spPr>
          <a:xfrm>
            <a:off x="4133875" y="1147241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" name="Google Shape;647;p64"/>
          <p:cNvSpPr txBox="1"/>
          <p:nvPr/>
        </p:nvSpPr>
        <p:spPr>
          <a:xfrm>
            <a:off x="4180800" y="432259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0%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653" name="Google Shape;653;p65"/>
          <p:cNvSpPr txBox="1"/>
          <p:nvPr>
            <p:ph idx="1" type="body"/>
          </p:nvPr>
        </p:nvSpPr>
        <p:spPr>
          <a:xfrm>
            <a:off x="311700" y="1225215"/>
            <a:ext cx="4232700" cy="3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have different q values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high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in the Middle (a bell curve)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explain the S-shaped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as the majority of middle q people join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again as the last few high q people finally adopt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5"/>
          <p:cNvSpPr/>
          <p:nvPr/>
        </p:nvSpPr>
        <p:spPr>
          <a:xfrm>
            <a:off x="4654650" y="388861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5" name="Google Shape;655;p65"/>
          <p:cNvCxnSpPr>
            <a:stCxn id="654" idx="3"/>
          </p:cNvCxnSpPr>
          <p:nvPr/>
        </p:nvCxnSpPr>
        <p:spPr>
          <a:xfrm rot="10800000">
            <a:off x="4786050" y="1186819"/>
            <a:ext cx="18900" cy="291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65"/>
          <p:cNvCxnSpPr>
            <a:stCxn id="654" idx="3"/>
          </p:cNvCxnSpPr>
          <p:nvPr/>
        </p:nvCxnSpPr>
        <p:spPr>
          <a:xfrm flipH="1" rot="10800000">
            <a:off x="4804950" y="409081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65"/>
          <p:cNvSpPr txBox="1"/>
          <p:nvPr/>
        </p:nvSpPr>
        <p:spPr>
          <a:xfrm>
            <a:off x="5986025" y="1986561"/>
            <a:ext cx="120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Probability of Adoption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p65"/>
          <p:cNvSpPr txBox="1"/>
          <p:nvPr/>
        </p:nvSpPr>
        <p:spPr>
          <a:xfrm rot="-5400000">
            <a:off x="2882375" y="2226099"/>
            <a:ext cx="3408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Proportion of people with this q value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p65"/>
          <p:cNvSpPr txBox="1"/>
          <p:nvPr/>
        </p:nvSpPr>
        <p:spPr>
          <a:xfrm>
            <a:off x="4441775" y="410139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Low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0" name="Google Shape;660;p65"/>
          <p:cNvCxnSpPr>
            <a:stCxn id="661" idx="3"/>
            <a:endCxn id="662" idx="1"/>
          </p:cNvCxnSpPr>
          <p:nvPr/>
        </p:nvCxnSpPr>
        <p:spPr>
          <a:xfrm>
            <a:off x="6608075" y="2689943"/>
            <a:ext cx="1999800" cy="13947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65"/>
          <p:cNvSpPr txBox="1"/>
          <p:nvPr/>
        </p:nvSpPr>
        <p:spPr>
          <a:xfrm>
            <a:off x="8607750" y="4019310"/>
            <a:ext cx="29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3" name="Google Shape;663;p65"/>
          <p:cNvCxnSpPr>
            <a:stCxn id="661" idx="1"/>
            <a:endCxn id="664" idx="3"/>
          </p:cNvCxnSpPr>
          <p:nvPr/>
        </p:nvCxnSpPr>
        <p:spPr>
          <a:xfrm flipH="1">
            <a:off x="4785875" y="2689943"/>
            <a:ext cx="1781400" cy="1406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65"/>
          <p:cNvSpPr txBox="1"/>
          <p:nvPr/>
        </p:nvSpPr>
        <p:spPr>
          <a:xfrm flipH="1" rot="10800000">
            <a:off x="6567275" y="2676893"/>
            <a:ext cx="40800" cy="2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100">
              <a:solidFill>
                <a:srgbClr val="6AA84F"/>
              </a:solidFill>
              <a:highlight>
                <a:srgbClr val="6AA84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65"/>
          <p:cNvSpPr txBox="1"/>
          <p:nvPr/>
        </p:nvSpPr>
        <p:spPr>
          <a:xfrm>
            <a:off x="4003500" y="396556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65"/>
          <p:cNvSpPr txBox="1"/>
          <p:nvPr/>
        </p:nvSpPr>
        <p:spPr>
          <a:xfrm>
            <a:off x="8361600" y="408474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High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65"/>
          <p:cNvSpPr txBox="1"/>
          <p:nvPr/>
        </p:nvSpPr>
        <p:spPr>
          <a:xfrm>
            <a:off x="6361239" y="4101390"/>
            <a:ext cx="822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Middle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672" name="Google Shape;672;p66"/>
          <p:cNvSpPr txBox="1"/>
          <p:nvPr>
            <p:ph idx="1" type="body"/>
          </p:nvPr>
        </p:nvSpPr>
        <p:spPr>
          <a:xfrm>
            <a:off x="311700" y="1225215"/>
            <a:ext cx="4232700" cy="3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have different q values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high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in the Middle (a bell curve)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explain the S-shaped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as the majority of middle q people join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again as the last few high q people finally adopt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66"/>
          <p:cNvSpPr/>
          <p:nvPr/>
        </p:nvSpPr>
        <p:spPr>
          <a:xfrm>
            <a:off x="4654650" y="388861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4" name="Google Shape;674;p66"/>
          <p:cNvCxnSpPr>
            <a:stCxn id="673" idx="3"/>
          </p:cNvCxnSpPr>
          <p:nvPr/>
        </p:nvCxnSpPr>
        <p:spPr>
          <a:xfrm rot="10800000">
            <a:off x="4786050" y="1186819"/>
            <a:ext cx="18900" cy="291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5" name="Google Shape;675;p66"/>
          <p:cNvCxnSpPr>
            <a:stCxn id="673" idx="3"/>
          </p:cNvCxnSpPr>
          <p:nvPr/>
        </p:nvCxnSpPr>
        <p:spPr>
          <a:xfrm flipH="1" rot="10800000">
            <a:off x="4804950" y="409081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6" name="Google Shape;676;p66"/>
          <p:cNvSpPr txBox="1"/>
          <p:nvPr/>
        </p:nvSpPr>
        <p:spPr>
          <a:xfrm>
            <a:off x="5986025" y="1986561"/>
            <a:ext cx="120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Probability of Adoption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p66"/>
          <p:cNvSpPr txBox="1"/>
          <p:nvPr/>
        </p:nvSpPr>
        <p:spPr>
          <a:xfrm rot="-5400000">
            <a:off x="2911325" y="2255049"/>
            <a:ext cx="3351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Proportion of people with this q value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p66"/>
          <p:cNvSpPr txBox="1"/>
          <p:nvPr/>
        </p:nvSpPr>
        <p:spPr>
          <a:xfrm>
            <a:off x="4441775" y="410139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Low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9" name="Google Shape;679;p66"/>
          <p:cNvCxnSpPr>
            <a:stCxn id="680" idx="3"/>
            <a:endCxn id="681" idx="1"/>
          </p:cNvCxnSpPr>
          <p:nvPr/>
        </p:nvCxnSpPr>
        <p:spPr>
          <a:xfrm>
            <a:off x="6608075" y="2689943"/>
            <a:ext cx="1999800" cy="13947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66"/>
          <p:cNvSpPr txBox="1"/>
          <p:nvPr/>
        </p:nvSpPr>
        <p:spPr>
          <a:xfrm>
            <a:off x="8607750" y="4019310"/>
            <a:ext cx="29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82" name="Google Shape;682;p66"/>
          <p:cNvCxnSpPr>
            <a:stCxn id="680" idx="1"/>
            <a:endCxn id="683" idx="3"/>
          </p:cNvCxnSpPr>
          <p:nvPr/>
        </p:nvCxnSpPr>
        <p:spPr>
          <a:xfrm flipH="1">
            <a:off x="4785875" y="2689943"/>
            <a:ext cx="1781400" cy="1406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66"/>
          <p:cNvSpPr txBox="1"/>
          <p:nvPr/>
        </p:nvSpPr>
        <p:spPr>
          <a:xfrm flipH="1" rot="10800000">
            <a:off x="6567275" y="2676893"/>
            <a:ext cx="40800" cy="2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100">
              <a:solidFill>
                <a:srgbClr val="6AA84F"/>
              </a:solidFill>
              <a:highlight>
                <a:srgbClr val="6AA84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66"/>
          <p:cNvSpPr txBox="1"/>
          <p:nvPr/>
        </p:nvSpPr>
        <p:spPr>
          <a:xfrm>
            <a:off x="4003500" y="396556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66"/>
          <p:cNvSpPr txBox="1"/>
          <p:nvPr/>
        </p:nvSpPr>
        <p:spPr>
          <a:xfrm>
            <a:off x="8361600" y="408474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High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p66"/>
          <p:cNvSpPr txBox="1"/>
          <p:nvPr/>
        </p:nvSpPr>
        <p:spPr>
          <a:xfrm>
            <a:off x="6361239" y="4101390"/>
            <a:ext cx="822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Middle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" name="Google Shape;686;p66"/>
          <p:cNvSpPr txBox="1"/>
          <p:nvPr/>
        </p:nvSpPr>
        <p:spPr>
          <a:xfrm>
            <a:off x="4757300" y="1492400"/>
            <a:ext cx="120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High-risk early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66"/>
          <p:cNvSpPr txBox="1"/>
          <p:nvPr/>
        </p:nvSpPr>
        <p:spPr>
          <a:xfrm>
            <a:off x="7432175" y="1438097"/>
            <a:ext cx="120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Risk-averse late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88" name="Google Shape;688;p66"/>
          <p:cNvCxnSpPr>
            <a:stCxn id="686" idx="2"/>
          </p:cNvCxnSpPr>
          <p:nvPr/>
        </p:nvCxnSpPr>
        <p:spPr>
          <a:xfrm>
            <a:off x="5358950" y="2323700"/>
            <a:ext cx="4500" cy="14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66"/>
          <p:cNvCxnSpPr>
            <a:stCxn id="687" idx="2"/>
          </p:cNvCxnSpPr>
          <p:nvPr/>
        </p:nvCxnSpPr>
        <p:spPr>
          <a:xfrm flipH="1">
            <a:off x="8032325" y="2269397"/>
            <a:ext cx="1500" cy="149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695" name="Google Shape;695;p67"/>
          <p:cNvSpPr txBox="1"/>
          <p:nvPr>
            <p:ph idx="1" type="body"/>
          </p:nvPr>
        </p:nvSpPr>
        <p:spPr>
          <a:xfrm>
            <a:off x="311700" y="1225215"/>
            <a:ext cx="4232700" cy="3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have different q values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high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in the Middle (a bell curve)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shape of the threshold distribution can determine whether you get full diffusion or not: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q distribution is skewed toward </a:t>
            </a:r>
            <a:r>
              <a:rPr b="1" lang="en"/>
              <a:t>risk averse</a:t>
            </a:r>
            <a:r>
              <a:rPr lang="en"/>
              <a:t> late adopters the diffusion is </a:t>
            </a:r>
            <a:r>
              <a:rPr b="1" lang="en"/>
              <a:t>less</a:t>
            </a:r>
            <a:r>
              <a:rPr lang="en"/>
              <a:t> likely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7"/>
          <p:cNvSpPr/>
          <p:nvPr/>
        </p:nvSpPr>
        <p:spPr>
          <a:xfrm>
            <a:off x="4654650" y="388861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7" name="Google Shape;697;p67"/>
          <p:cNvCxnSpPr>
            <a:stCxn id="696" idx="3"/>
          </p:cNvCxnSpPr>
          <p:nvPr/>
        </p:nvCxnSpPr>
        <p:spPr>
          <a:xfrm rot="10800000">
            <a:off x="4786050" y="1186819"/>
            <a:ext cx="18900" cy="291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67"/>
          <p:cNvCxnSpPr>
            <a:stCxn id="696" idx="3"/>
          </p:cNvCxnSpPr>
          <p:nvPr/>
        </p:nvCxnSpPr>
        <p:spPr>
          <a:xfrm flipH="1" rot="10800000">
            <a:off x="4804950" y="409081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67"/>
          <p:cNvSpPr txBox="1"/>
          <p:nvPr/>
        </p:nvSpPr>
        <p:spPr>
          <a:xfrm>
            <a:off x="5986025" y="1986561"/>
            <a:ext cx="120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Probability of Adoption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0" name="Google Shape;700;p67"/>
          <p:cNvSpPr txBox="1"/>
          <p:nvPr/>
        </p:nvSpPr>
        <p:spPr>
          <a:xfrm rot="-5400000">
            <a:off x="2871425" y="2215149"/>
            <a:ext cx="3430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Proportion of people with this q value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p67"/>
          <p:cNvSpPr txBox="1"/>
          <p:nvPr/>
        </p:nvSpPr>
        <p:spPr>
          <a:xfrm>
            <a:off x="4441775" y="410139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Low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2" name="Google Shape;702;p67"/>
          <p:cNvCxnSpPr>
            <a:stCxn id="703" idx="3"/>
            <a:endCxn id="704" idx="1"/>
          </p:cNvCxnSpPr>
          <p:nvPr/>
        </p:nvCxnSpPr>
        <p:spPr>
          <a:xfrm>
            <a:off x="8186075" y="2419110"/>
            <a:ext cx="421800" cy="1665600"/>
          </a:xfrm>
          <a:prstGeom prst="curvedConnector3">
            <a:avLst>
              <a:gd fmla="val 49985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67"/>
          <p:cNvSpPr txBox="1"/>
          <p:nvPr/>
        </p:nvSpPr>
        <p:spPr>
          <a:xfrm>
            <a:off x="8607750" y="4019310"/>
            <a:ext cx="29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5" name="Google Shape;705;p67"/>
          <p:cNvCxnSpPr>
            <a:stCxn id="703" idx="1"/>
            <a:endCxn id="706" idx="3"/>
          </p:cNvCxnSpPr>
          <p:nvPr/>
        </p:nvCxnSpPr>
        <p:spPr>
          <a:xfrm flipH="1">
            <a:off x="4785875" y="2419110"/>
            <a:ext cx="3359400" cy="1677000"/>
          </a:xfrm>
          <a:prstGeom prst="curvedConnector3">
            <a:avLst>
              <a:gd fmla="val 2349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67"/>
          <p:cNvSpPr txBox="1"/>
          <p:nvPr/>
        </p:nvSpPr>
        <p:spPr>
          <a:xfrm flipH="1" rot="10800000">
            <a:off x="8145275" y="2406060"/>
            <a:ext cx="40800" cy="2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100">
              <a:solidFill>
                <a:srgbClr val="6AA84F"/>
              </a:solidFill>
              <a:highlight>
                <a:srgbClr val="6AA84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p67"/>
          <p:cNvSpPr txBox="1"/>
          <p:nvPr/>
        </p:nvSpPr>
        <p:spPr>
          <a:xfrm>
            <a:off x="4003500" y="396556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67"/>
          <p:cNvSpPr txBox="1"/>
          <p:nvPr/>
        </p:nvSpPr>
        <p:spPr>
          <a:xfrm>
            <a:off x="8361600" y="408474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High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67"/>
          <p:cNvSpPr txBox="1"/>
          <p:nvPr/>
        </p:nvSpPr>
        <p:spPr>
          <a:xfrm>
            <a:off x="6361239" y="4101390"/>
            <a:ext cx="822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Middle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" name="Google Shape;709;p67"/>
          <p:cNvSpPr txBox="1"/>
          <p:nvPr/>
        </p:nvSpPr>
        <p:spPr>
          <a:xfrm>
            <a:off x="4757300" y="1492476"/>
            <a:ext cx="1455900" cy="1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Two few high-risk early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0" name="Google Shape;710;p67"/>
          <p:cNvCxnSpPr>
            <a:stCxn id="709" idx="2"/>
          </p:cNvCxnSpPr>
          <p:nvPr/>
        </p:nvCxnSpPr>
        <p:spPr>
          <a:xfrm>
            <a:off x="5485250" y="2514276"/>
            <a:ext cx="4500" cy="124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67"/>
          <p:cNvSpPr txBox="1"/>
          <p:nvPr/>
        </p:nvSpPr>
        <p:spPr>
          <a:xfrm>
            <a:off x="6888550" y="131850"/>
            <a:ext cx="1719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Too many  risk-averse late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2" name="Google Shape;712;p67"/>
          <p:cNvCxnSpPr>
            <a:stCxn id="711" idx="2"/>
          </p:cNvCxnSpPr>
          <p:nvPr/>
        </p:nvCxnSpPr>
        <p:spPr>
          <a:xfrm flipH="1">
            <a:off x="7746700" y="833550"/>
            <a:ext cx="1500" cy="149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threshold model</a:t>
            </a:r>
            <a:endParaRPr/>
          </a:p>
        </p:txBody>
      </p:sp>
      <p:sp>
        <p:nvSpPr>
          <p:cNvPr id="718" name="Google Shape;718;p68"/>
          <p:cNvSpPr txBox="1"/>
          <p:nvPr>
            <p:ph idx="1" type="body"/>
          </p:nvPr>
        </p:nvSpPr>
        <p:spPr>
          <a:xfrm>
            <a:off x="311700" y="1225215"/>
            <a:ext cx="4232700" cy="3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have different q values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high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in the Middle (a bell curve)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shape of the threshold distribution can determine whether you get full diffusion or not: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q distribution is skewed toward </a:t>
            </a:r>
            <a:r>
              <a:rPr b="1" lang="en"/>
              <a:t>high </a:t>
            </a:r>
            <a:r>
              <a:rPr b="1" lang="en"/>
              <a:t>risk</a:t>
            </a:r>
            <a:r>
              <a:rPr lang="en"/>
              <a:t> early adopters diffusion is </a:t>
            </a:r>
            <a:r>
              <a:rPr b="1" lang="en"/>
              <a:t>more</a:t>
            </a:r>
            <a:r>
              <a:rPr lang="en"/>
              <a:t> likely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8"/>
          <p:cNvSpPr/>
          <p:nvPr/>
        </p:nvSpPr>
        <p:spPr>
          <a:xfrm>
            <a:off x="4654650" y="3888619"/>
            <a:ext cx="150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0" name="Google Shape;720;p68"/>
          <p:cNvCxnSpPr>
            <a:stCxn id="719" idx="3"/>
          </p:cNvCxnSpPr>
          <p:nvPr/>
        </p:nvCxnSpPr>
        <p:spPr>
          <a:xfrm rot="10800000">
            <a:off x="4786050" y="1186819"/>
            <a:ext cx="18900" cy="291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68"/>
          <p:cNvCxnSpPr>
            <a:stCxn id="719" idx="3"/>
          </p:cNvCxnSpPr>
          <p:nvPr/>
        </p:nvCxnSpPr>
        <p:spPr>
          <a:xfrm flipH="1" rot="10800000">
            <a:off x="4804950" y="4090819"/>
            <a:ext cx="4232700" cy="1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2" name="Google Shape;722;p68"/>
          <p:cNvSpPr txBox="1"/>
          <p:nvPr/>
        </p:nvSpPr>
        <p:spPr>
          <a:xfrm>
            <a:off x="5986025" y="1986561"/>
            <a:ext cx="120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Probability of Adoption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68"/>
          <p:cNvSpPr txBox="1"/>
          <p:nvPr/>
        </p:nvSpPr>
        <p:spPr>
          <a:xfrm rot="-5400000">
            <a:off x="2838875" y="2182599"/>
            <a:ext cx="3495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Proportion of people with this q value</a:t>
            </a:r>
            <a:endParaRPr b="1"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p68"/>
          <p:cNvSpPr txBox="1"/>
          <p:nvPr/>
        </p:nvSpPr>
        <p:spPr>
          <a:xfrm>
            <a:off x="4441775" y="410139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Low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25" name="Google Shape;725;p68"/>
          <p:cNvCxnSpPr>
            <a:stCxn id="726" idx="3"/>
            <a:endCxn id="727" idx="1"/>
          </p:cNvCxnSpPr>
          <p:nvPr/>
        </p:nvCxnSpPr>
        <p:spPr>
          <a:xfrm>
            <a:off x="5482475" y="2543625"/>
            <a:ext cx="3125400" cy="15411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68"/>
          <p:cNvSpPr txBox="1"/>
          <p:nvPr/>
        </p:nvSpPr>
        <p:spPr>
          <a:xfrm>
            <a:off x="8607750" y="4019310"/>
            <a:ext cx="290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28" name="Google Shape;728;p68"/>
          <p:cNvCxnSpPr>
            <a:stCxn id="726" idx="1"/>
            <a:endCxn id="729" idx="3"/>
          </p:cNvCxnSpPr>
          <p:nvPr/>
        </p:nvCxnSpPr>
        <p:spPr>
          <a:xfrm flipH="1">
            <a:off x="4785875" y="2543625"/>
            <a:ext cx="655800" cy="1552500"/>
          </a:xfrm>
          <a:prstGeom prst="curvedConnector3">
            <a:avLst>
              <a:gd fmla="val 77779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68"/>
          <p:cNvSpPr txBox="1"/>
          <p:nvPr/>
        </p:nvSpPr>
        <p:spPr>
          <a:xfrm flipH="1" rot="10800000">
            <a:off x="5441675" y="2530575"/>
            <a:ext cx="40800" cy="2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100">
              <a:solidFill>
                <a:srgbClr val="6AA84F"/>
              </a:solidFill>
              <a:highlight>
                <a:srgbClr val="6AA84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9" name="Google Shape;729;p68"/>
          <p:cNvSpPr txBox="1"/>
          <p:nvPr/>
        </p:nvSpPr>
        <p:spPr>
          <a:xfrm>
            <a:off x="4003500" y="3965569"/>
            <a:ext cx="782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0" name="Google Shape;730;p68"/>
          <p:cNvSpPr txBox="1"/>
          <p:nvPr/>
        </p:nvSpPr>
        <p:spPr>
          <a:xfrm>
            <a:off x="8361600" y="4084749"/>
            <a:ext cx="78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High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1" name="Google Shape;731;p68"/>
          <p:cNvSpPr txBox="1"/>
          <p:nvPr/>
        </p:nvSpPr>
        <p:spPr>
          <a:xfrm>
            <a:off x="6361239" y="4101390"/>
            <a:ext cx="822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Open Sans"/>
                <a:ea typeface="Open Sans"/>
                <a:cs typeface="Open Sans"/>
                <a:sym typeface="Open Sans"/>
              </a:rPr>
              <a:t>Middle q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68"/>
          <p:cNvSpPr txBox="1"/>
          <p:nvPr/>
        </p:nvSpPr>
        <p:spPr>
          <a:xfrm>
            <a:off x="4731875" y="164970"/>
            <a:ext cx="145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Plenty  of high risk early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33" name="Google Shape;733;p68"/>
          <p:cNvCxnSpPr>
            <a:stCxn id="732" idx="2"/>
          </p:cNvCxnSpPr>
          <p:nvPr/>
        </p:nvCxnSpPr>
        <p:spPr>
          <a:xfrm>
            <a:off x="5459825" y="996270"/>
            <a:ext cx="4500" cy="14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68"/>
          <p:cNvSpPr txBox="1"/>
          <p:nvPr/>
        </p:nvSpPr>
        <p:spPr>
          <a:xfrm>
            <a:off x="6888550" y="131850"/>
            <a:ext cx="1719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Not too many  averse late adopters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35" name="Google Shape;735;p68"/>
          <p:cNvCxnSpPr>
            <a:stCxn id="734" idx="2"/>
          </p:cNvCxnSpPr>
          <p:nvPr/>
        </p:nvCxnSpPr>
        <p:spPr>
          <a:xfrm flipH="1">
            <a:off x="7737100" y="833550"/>
            <a:ext cx="11100" cy="2813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9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 b="1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741" name="Google Shape;741;p6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900" y="1419244"/>
            <a:ext cx="4206869" cy="2966152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743" name="Google Shape;743;p69"/>
          <p:cNvSpPr txBox="1"/>
          <p:nvPr/>
        </p:nvSpPr>
        <p:spPr>
          <a:xfrm>
            <a:off x="311700" y="4330958"/>
            <a:ext cx="8469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i="1" lang="en" u="sng">
                <a:solidFill>
                  <a:schemeClr val="hlink"/>
                </a:solidFill>
                <a:hlinkClick r:id="rId6"/>
              </a:rPr>
              <a:t>Scientific Reports</a:t>
            </a:r>
            <a:r>
              <a:rPr lang="en" u="sng">
                <a:solidFill>
                  <a:schemeClr val="hlink"/>
                </a:solidFill>
                <a:hlinkClick r:id="rId7"/>
              </a:rPr>
              <a:t>, 1, 197.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69"/>
          <p:cNvSpPr/>
          <p:nvPr/>
        </p:nvSpPr>
        <p:spPr>
          <a:xfrm>
            <a:off x="7946700" y="1464435"/>
            <a:ext cx="885600" cy="2656200"/>
          </a:xfrm>
          <a:prstGeom prst="rect">
            <a:avLst/>
          </a:prstGeom>
          <a:solidFill>
            <a:srgbClr val="D5A6BD">
              <a:alpha val="43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9"/>
          <p:cNvSpPr/>
          <p:nvPr/>
        </p:nvSpPr>
        <p:spPr>
          <a:xfrm>
            <a:off x="6918150" y="1464503"/>
            <a:ext cx="1028700" cy="2656200"/>
          </a:xfrm>
          <a:prstGeom prst="rect">
            <a:avLst/>
          </a:prstGeom>
          <a:solidFill>
            <a:srgbClr val="C9DAF8">
              <a:alpha val="33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69"/>
          <p:cNvSpPr/>
          <p:nvPr/>
        </p:nvSpPr>
        <p:spPr>
          <a:xfrm>
            <a:off x="4618000" y="1464503"/>
            <a:ext cx="2300100" cy="2656200"/>
          </a:xfrm>
          <a:prstGeom prst="rect">
            <a:avLst/>
          </a:prstGeom>
          <a:solidFill>
            <a:srgbClr val="F4CCCC">
              <a:alpha val="357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8224" y="2810765"/>
            <a:ext cx="2286000" cy="152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0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 b="1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753" name="Google Shape;753;p7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900" y="1419244"/>
            <a:ext cx="4206869" cy="2966152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755" name="Google Shape;755;p70"/>
          <p:cNvSpPr txBox="1"/>
          <p:nvPr/>
        </p:nvSpPr>
        <p:spPr>
          <a:xfrm>
            <a:off x="311700" y="4330958"/>
            <a:ext cx="8469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i="1" lang="en" u="sng">
                <a:solidFill>
                  <a:schemeClr val="hlink"/>
                </a:solidFill>
                <a:hlinkClick r:id="rId6"/>
              </a:rPr>
              <a:t>Scientific Reports</a:t>
            </a:r>
            <a:r>
              <a:rPr lang="en" u="sng">
                <a:solidFill>
                  <a:schemeClr val="hlink"/>
                </a:solidFill>
                <a:hlinkClick r:id="rId7"/>
              </a:rPr>
              <a:t>, 1, 197.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0"/>
          <p:cNvSpPr/>
          <p:nvPr/>
        </p:nvSpPr>
        <p:spPr>
          <a:xfrm>
            <a:off x="7946700" y="1464435"/>
            <a:ext cx="885600" cy="2656200"/>
          </a:xfrm>
          <a:prstGeom prst="rect">
            <a:avLst/>
          </a:prstGeom>
          <a:solidFill>
            <a:srgbClr val="D5A6BD">
              <a:alpha val="43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70"/>
          <p:cNvSpPr/>
          <p:nvPr/>
        </p:nvSpPr>
        <p:spPr>
          <a:xfrm>
            <a:off x="6918150" y="1464503"/>
            <a:ext cx="1028700" cy="2656200"/>
          </a:xfrm>
          <a:prstGeom prst="rect">
            <a:avLst/>
          </a:prstGeom>
          <a:solidFill>
            <a:srgbClr val="C9DAF8">
              <a:alpha val="33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70"/>
          <p:cNvSpPr/>
          <p:nvPr/>
        </p:nvSpPr>
        <p:spPr>
          <a:xfrm>
            <a:off x="4618000" y="1464503"/>
            <a:ext cx="2300100" cy="2656200"/>
          </a:xfrm>
          <a:prstGeom prst="rect">
            <a:avLst/>
          </a:prstGeom>
          <a:solidFill>
            <a:srgbClr val="F4CCCC">
              <a:alpha val="357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70"/>
          <p:cNvSpPr txBox="1"/>
          <p:nvPr/>
        </p:nvSpPr>
        <p:spPr>
          <a:xfrm>
            <a:off x="4538375" y="1186358"/>
            <a:ext cx="2574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&lt;- Long uptake period! -&gt;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0" name="Google Shape;760;p70"/>
          <p:cNvCxnSpPr/>
          <p:nvPr/>
        </p:nvCxnSpPr>
        <p:spPr>
          <a:xfrm flipH="1" rot="10800000">
            <a:off x="4688775" y="3885503"/>
            <a:ext cx="2229300" cy="20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61" name="Google Shape;761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8224" y="2810765"/>
            <a:ext cx="2286000" cy="152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1"/>
          <p:cNvSpPr txBox="1"/>
          <p:nvPr>
            <p:ph idx="1" type="body"/>
          </p:nvPr>
        </p:nvSpPr>
        <p:spPr>
          <a:xfrm>
            <a:off x="311700" y="1225215"/>
            <a:ext cx="3987900" cy="33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 S-shaped pattern of cumulative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Initial slow uptake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Rapid spread </a:t>
            </a:r>
            <a:endParaRPr b="1">
              <a:solidFill>
                <a:srgbClr val="00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400"/>
              <a:buChar char="○"/>
            </a:pPr>
            <a:r>
              <a:rPr b="1" lang="en">
                <a:solidFill>
                  <a:srgbClr val="A64D79"/>
                </a:solidFill>
              </a:rPr>
              <a:t>Final slow saturation</a:t>
            </a:r>
            <a:endParaRPr b="1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rep00197-f1.jpg" id="767" name="Google Shape;767;p7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900" y="1419244"/>
            <a:ext cx="4206869" cy="2966152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things spread? The S curve</a:t>
            </a:r>
            <a:endParaRPr/>
          </a:p>
        </p:txBody>
      </p:sp>
      <p:sp>
        <p:nvSpPr>
          <p:cNvPr id="769" name="Google Shape;769;p71"/>
          <p:cNvSpPr txBox="1"/>
          <p:nvPr/>
        </p:nvSpPr>
        <p:spPr>
          <a:xfrm>
            <a:off x="311700" y="4330958"/>
            <a:ext cx="8469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González-Bailón, S., Borge-Holthoefer, J., Rivero, A., &amp; Moreno, Y. (2011). The dynamics of protest recruitment through an online network. </a:t>
            </a:r>
            <a:r>
              <a:rPr i="1" lang="en" u="sng">
                <a:solidFill>
                  <a:schemeClr val="hlink"/>
                </a:solidFill>
                <a:hlinkClick r:id="rId6"/>
              </a:rPr>
              <a:t>Scientific Reports</a:t>
            </a:r>
            <a:r>
              <a:rPr lang="en" u="sng">
                <a:solidFill>
                  <a:schemeClr val="hlink"/>
                </a:solidFill>
                <a:hlinkClick r:id="rId7"/>
              </a:rPr>
              <a:t>, 1, 197.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71"/>
          <p:cNvSpPr/>
          <p:nvPr/>
        </p:nvSpPr>
        <p:spPr>
          <a:xfrm>
            <a:off x="7946700" y="1464435"/>
            <a:ext cx="885600" cy="2656200"/>
          </a:xfrm>
          <a:prstGeom prst="rect">
            <a:avLst/>
          </a:prstGeom>
          <a:solidFill>
            <a:srgbClr val="D5A6BD">
              <a:alpha val="43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1"/>
          <p:cNvSpPr/>
          <p:nvPr/>
        </p:nvSpPr>
        <p:spPr>
          <a:xfrm>
            <a:off x="6918150" y="1464503"/>
            <a:ext cx="1028700" cy="2656200"/>
          </a:xfrm>
          <a:prstGeom prst="rect">
            <a:avLst/>
          </a:prstGeom>
          <a:solidFill>
            <a:srgbClr val="C9DAF8">
              <a:alpha val="33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71"/>
          <p:cNvSpPr/>
          <p:nvPr/>
        </p:nvSpPr>
        <p:spPr>
          <a:xfrm>
            <a:off x="4618000" y="1464503"/>
            <a:ext cx="2300100" cy="2656200"/>
          </a:xfrm>
          <a:prstGeom prst="rect">
            <a:avLst/>
          </a:prstGeom>
          <a:solidFill>
            <a:srgbClr val="F4CCCC">
              <a:alpha val="357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3" name="Google Shape;773;p71"/>
          <p:cNvCxnSpPr/>
          <p:nvPr/>
        </p:nvCxnSpPr>
        <p:spPr>
          <a:xfrm flipH="1">
            <a:off x="6918300" y="1472985"/>
            <a:ext cx="8700" cy="2675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71"/>
          <p:cNvSpPr txBox="1"/>
          <p:nvPr/>
        </p:nvSpPr>
        <p:spPr>
          <a:xfrm>
            <a:off x="6148500" y="796208"/>
            <a:ext cx="26064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Big mobilization helps to recruit high threshold people leading to rapid spread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75" name="Google Shape;775;p71"/>
          <p:cNvCxnSpPr/>
          <p:nvPr/>
        </p:nvCxnSpPr>
        <p:spPr>
          <a:xfrm flipH="1" rot="10800000">
            <a:off x="6918150" y="1950540"/>
            <a:ext cx="1026300" cy="186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76" name="Google Shape;776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8224" y="2810765"/>
            <a:ext cx="2286000" cy="152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2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grpSp>
        <p:nvGrpSpPr>
          <p:cNvPr id="782" name="Google Shape;782;p72"/>
          <p:cNvGrpSpPr/>
          <p:nvPr/>
        </p:nvGrpSpPr>
        <p:grpSpPr>
          <a:xfrm>
            <a:off x="470125" y="1464473"/>
            <a:ext cx="6500650" cy="2214563"/>
            <a:chOff x="470125" y="1627192"/>
            <a:chExt cx="6500650" cy="2460625"/>
          </a:xfrm>
        </p:grpSpPr>
        <p:pic>
          <p:nvPicPr>
            <p:cNvPr descr="techadoptioncycle.png" id="783" name="Google Shape;783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0125" y="1627192"/>
              <a:ext cx="6318250" cy="246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4" name="Google Shape;784;p72"/>
            <p:cNvSpPr txBox="1"/>
            <p:nvPr/>
          </p:nvSpPr>
          <p:spPr>
            <a:xfrm>
              <a:off x="5126375" y="2562558"/>
              <a:ext cx="18444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Area under the curve represents number of adopters</a:t>
              </a:r>
              <a:endParaRPr b="1"/>
            </a:p>
          </p:txBody>
        </p:sp>
      </p:grpSp>
      <p:sp>
        <p:nvSpPr>
          <p:cNvPr id="785" name="Google Shape;785;p72"/>
          <p:cNvSpPr txBox="1"/>
          <p:nvPr>
            <p:ph idx="1" type="body"/>
          </p:nvPr>
        </p:nvSpPr>
        <p:spPr>
          <a:xfrm>
            <a:off x="319500" y="3679043"/>
            <a:ext cx="84621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Kastelle, T (2012) Two Problems Caused by the Innovation Diffusion Curve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http://timkastelle.org/blog/2012/02/two-problems-caused-by-the-innovation-diffusion-curve/</a:t>
            </a:r>
            <a:r>
              <a:rPr lang="en"/>
              <a:t> (last accessed October 9th 2014)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3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sp>
        <p:nvSpPr>
          <p:cNvPr id="791" name="Google Shape;791;p73"/>
          <p:cNvSpPr txBox="1"/>
          <p:nvPr>
            <p:ph idx="1" type="body"/>
          </p:nvPr>
        </p:nvSpPr>
        <p:spPr>
          <a:xfrm>
            <a:off x="319500" y="4218930"/>
            <a:ext cx="8520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pic>
        <p:nvPicPr>
          <p:cNvPr id="792" name="Google Shape;79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147258"/>
            <a:ext cx="4550600" cy="317388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3"/>
          <p:cNvSpPr txBox="1"/>
          <p:nvPr/>
        </p:nvSpPr>
        <p:spPr>
          <a:xfrm rot="5400000">
            <a:off x="5808325" y="2430480"/>
            <a:ext cx="2301000" cy="2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Proportion of adopters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73"/>
          <p:cNvSpPr txBox="1"/>
          <p:nvPr/>
        </p:nvSpPr>
        <p:spPr>
          <a:xfrm>
            <a:off x="2086750" y="3796725"/>
            <a:ext cx="3593700" cy="5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800" name="Google Shape;80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147258"/>
            <a:ext cx="4550600" cy="317388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4"/>
          <p:cNvSpPr txBox="1"/>
          <p:nvPr>
            <p:ph idx="1" type="body"/>
          </p:nvPr>
        </p:nvSpPr>
        <p:spPr>
          <a:xfrm>
            <a:off x="319500" y="4218930"/>
            <a:ext cx="8520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sp>
        <p:nvSpPr>
          <p:cNvPr id="802" name="Google Shape;802;p74"/>
          <p:cNvSpPr txBox="1"/>
          <p:nvPr/>
        </p:nvSpPr>
        <p:spPr>
          <a:xfrm rot="5400000">
            <a:off x="5808325" y="2430480"/>
            <a:ext cx="2301000" cy="2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Proportion of adopters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808" name="Google Shape;80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147258"/>
            <a:ext cx="4550600" cy="3173881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5"/>
          <p:cNvSpPr txBox="1"/>
          <p:nvPr>
            <p:ph idx="1" type="body"/>
          </p:nvPr>
        </p:nvSpPr>
        <p:spPr>
          <a:xfrm>
            <a:off x="319500" y="4218930"/>
            <a:ext cx="8520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sp>
        <p:nvSpPr>
          <p:cNvPr id="810" name="Google Shape;810;p75"/>
          <p:cNvSpPr txBox="1"/>
          <p:nvPr/>
        </p:nvSpPr>
        <p:spPr>
          <a:xfrm>
            <a:off x="1475425" y="2264352"/>
            <a:ext cx="14619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Tipping point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11" name="Google Shape;811;p75"/>
          <p:cNvCxnSpPr>
            <a:stCxn id="810" idx="2"/>
          </p:cNvCxnSpPr>
          <p:nvPr/>
        </p:nvCxnSpPr>
        <p:spPr>
          <a:xfrm>
            <a:off x="2206375" y="2622852"/>
            <a:ext cx="1093500" cy="83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2" name="Google Shape;812;p75"/>
          <p:cNvSpPr txBox="1"/>
          <p:nvPr/>
        </p:nvSpPr>
        <p:spPr>
          <a:xfrm rot="5400000">
            <a:off x="5808325" y="2430480"/>
            <a:ext cx="2301000" cy="2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Proportion of adopters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818" name="Google Shape;81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147258"/>
            <a:ext cx="4550600" cy="3173881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6"/>
          <p:cNvSpPr txBox="1"/>
          <p:nvPr>
            <p:ph idx="1" type="body"/>
          </p:nvPr>
        </p:nvSpPr>
        <p:spPr>
          <a:xfrm>
            <a:off x="319500" y="4218930"/>
            <a:ext cx="8520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  <p:cxnSp>
        <p:nvCxnSpPr>
          <p:cNvPr id="820" name="Google Shape;820;p76"/>
          <p:cNvCxnSpPr>
            <a:stCxn id="821" idx="2"/>
          </p:cNvCxnSpPr>
          <p:nvPr/>
        </p:nvCxnSpPr>
        <p:spPr>
          <a:xfrm>
            <a:off x="2255175" y="2825789"/>
            <a:ext cx="540300" cy="653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1" name="Google Shape;821;p76"/>
          <p:cNvSpPr txBox="1"/>
          <p:nvPr/>
        </p:nvSpPr>
        <p:spPr>
          <a:xfrm>
            <a:off x="958425" y="2119589"/>
            <a:ext cx="25935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Failed Innovations die before reaching the tipping point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22" name="Google Shape;822;p76"/>
          <p:cNvSpPr/>
          <p:nvPr/>
        </p:nvSpPr>
        <p:spPr>
          <a:xfrm>
            <a:off x="2185150" y="3447585"/>
            <a:ext cx="1318129" cy="310524"/>
          </a:xfrm>
          <a:custGeom>
            <a:rect b="b" l="l" r="r" t="t"/>
            <a:pathLst>
              <a:path extrusionOk="0" h="12181" w="71039">
                <a:moveTo>
                  <a:pt x="0" y="10541"/>
                </a:moveTo>
                <a:cubicBezTo>
                  <a:pt x="3188" y="10177"/>
                  <a:pt x="10565" y="10086"/>
                  <a:pt x="19126" y="8356"/>
                </a:cubicBezTo>
                <a:cubicBezTo>
                  <a:pt x="27687" y="6626"/>
                  <a:pt x="42715" y="-478"/>
                  <a:pt x="51367" y="159"/>
                </a:cubicBezTo>
                <a:cubicBezTo>
                  <a:pt x="60019" y="797"/>
                  <a:pt x="67760" y="10177"/>
                  <a:pt x="71039" y="12181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3" name="Google Shape;823;p76"/>
          <p:cNvSpPr txBox="1"/>
          <p:nvPr/>
        </p:nvSpPr>
        <p:spPr>
          <a:xfrm rot="5400000">
            <a:off x="5808325" y="2430480"/>
            <a:ext cx="2301000" cy="2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Proportion of adopters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sp>
        <p:nvSpPr>
          <p:cNvPr id="829" name="Google Shape;829;p77"/>
          <p:cNvSpPr txBox="1"/>
          <p:nvPr>
            <p:ph idx="1" type="body"/>
          </p:nvPr>
        </p:nvSpPr>
        <p:spPr>
          <a:xfrm>
            <a:off x="311700" y="1225225"/>
            <a:ext cx="455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Innovators and Early adopters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greater than one standard deviation earlier than the average time-of-adoption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Early and late majorities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whose time-of-adoption is bounded by one  standard deviation earlier and later than the average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Laggards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who adopted later than one standard deviation from the average</a:t>
            </a:r>
            <a:endParaRPr/>
          </a:p>
        </p:txBody>
      </p:sp>
      <p:pic>
        <p:nvPicPr>
          <p:cNvPr id="830" name="Google Shape;83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799" y="1496923"/>
            <a:ext cx="4031199" cy="2810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7"/>
          <p:cNvSpPr txBox="1"/>
          <p:nvPr/>
        </p:nvSpPr>
        <p:spPr>
          <a:xfrm rot="5400000">
            <a:off x="7927149" y="2851225"/>
            <a:ext cx="1663800" cy="26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Open Sans"/>
                <a:ea typeface="Open Sans"/>
                <a:cs typeface="Open Sans"/>
                <a:sym typeface="Open Sans"/>
              </a:rPr>
              <a:t>Proportion of adopters</a:t>
            </a:r>
            <a:endParaRPr b="1"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837" name="Google Shape;837;p78"/>
          <p:cNvSpPr txBox="1"/>
          <p:nvPr>
            <p:ph idx="1" type="body"/>
          </p:nvPr>
        </p:nvSpPr>
        <p:spPr>
          <a:xfrm>
            <a:off x="311700" y="1225215"/>
            <a:ext cx="8187600" cy="24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Certain innovations only diffuse via complex contagion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8" name="Google Shape;8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844" name="Google Shape;844;p79"/>
          <p:cNvSpPr txBox="1"/>
          <p:nvPr>
            <p:ph idx="1" type="body"/>
          </p:nvPr>
        </p:nvSpPr>
        <p:spPr>
          <a:xfrm>
            <a:off x="311700" y="1225215"/>
            <a:ext cx="8187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simplex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5" name="Google Shape;84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851" name="Google Shape;851;p80"/>
          <p:cNvSpPr txBox="1"/>
          <p:nvPr>
            <p:ph idx="1" type="body"/>
          </p:nvPr>
        </p:nvSpPr>
        <p:spPr>
          <a:xfrm>
            <a:off x="311700" y="1225214"/>
            <a:ext cx="85206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Weakness of long ties argument </a:t>
            </a:r>
            <a:r>
              <a:rPr lang="en"/>
              <a:t>(Centola and Macy 2007):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ties help to spread things in networks faster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</a:t>
            </a:r>
            <a:r>
              <a:rPr b="1" lang="en"/>
              <a:t>worse</a:t>
            </a:r>
            <a:r>
              <a:rPr lang="en"/>
              <a:t> at spreading things that </a:t>
            </a:r>
            <a:r>
              <a:rPr b="1" lang="en"/>
              <a:t>require complex contagion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are usually connected to one network bridge and access the tie infrequently</a:t>
            </a:r>
            <a:endParaRPr i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52" name="Google Shape;8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858" name="Google Shape;858;p81"/>
          <p:cNvSpPr txBox="1"/>
          <p:nvPr>
            <p:ph idx="1" type="body"/>
          </p:nvPr>
        </p:nvSpPr>
        <p:spPr>
          <a:xfrm>
            <a:off x="311700" y="1225214"/>
            <a:ext cx="85206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Information, gossip, disease: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spread faster in a network via weak ties (bridges)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Strength of Weak Ties (Granovetter 1973)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High-risk</a:t>
            </a:r>
            <a:r>
              <a:rPr lang="en"/>
              <a:t> social movement participation, religious conversion, migration: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spread faster via cliques and strong ties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Threshold Models</a:t>
            </a:r>
            <a:endParaRPr/>
          </a:p>
        </p:txBody>
      </p:sp>
      <p:sp>
        <p:nvSpPr>
          <p:cNvPr id="865" name="Google Shape;865;p8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Global threshold models </a:t>
            </a:r>
            <a:r>
              <a:rPr lang="en"/>
              <a:t>are appropriate for adoptions of behaviors that are public and observable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always the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Assumption that people know what </a:t>
            </a:r>
            <a:r>
              <a:rPr i="1" lang="en"/>
              <a:t>everyone</a:t>
            </a:r>
            <a:r>
              <a:rPr lang="en"/>
              <a:t> is doing is not always realistic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must know the actual proportion of population who has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network threshold model </a:t>
            </a:r>
            <a:r>
              <a:rPr lang="en"/>
              <a:t>relaxes the assumption that persons have global information on all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only know what their direct contacts are doing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adopt when some </a:t>
            </a:r>
            <a:r>
              <a:rPr b="1" lang="en"/>
              <a:t>proportion of their contacts </a:t>
            </a:r>
            <a:r>
              <a:rPr lang="en"/>
              <a:t>adopt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appropriate for the adoption of practices, behaviors and ideas that entails some sort of risk or uncertainty (complex contagion)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3"/>
          <p:cNvSpPr txBox="1"/>
          <p:nvPr>
            <p:ph idx="1" type="body"/>
          </p:nvPr>
        </p:nvSpPr>
        <p:spPr>
          <a:xfrm>
            <a:off x="311700" y="1225214"/>
            <a:ext cx="85206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(i) has some exposure e(i)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e(i) = proportion of i’s friends who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proportion of neighbors who adopt equals q(i), ego adopts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872" name="Google Shape;872;p83"/>
          <p:cNvSpPr/>
          <p:nvPr/>
        </p:nvSpPr>
        <p:spPr>
          <a:xfrm>
            <a:off x="2161853" y="2807551"/>
            <a:ext cx="252300" cy="241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83"/>
          <p:cNvSpPr/>
          <p:nvPr/>
        </p:nvSpPr>
        <p:spPr>
          <a:xfrm>
            <a:off x="2499562" y="2478177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83"/>
          <p:cNvSpPr/>
          <p:nvPr/>
        </p:nvSpPr>
        <p:spPr>
          <a:xfrm>
            <a:off x="2499562" y="3150830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83"/>
          <p:cNvSpPr/>
          <p:nvPr/>
        </p:nvSpPr>
        <p:spPr>
          <a:xfrm>
            <a:off x="1835776" y="2478177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83"/>
          <p:cNvSpPr/>
          <p:nvPr/>
        </p:nvSpPr>
        <p:spPr>
          <a:xfrm>
            <a:off x="1835776" y="3150830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p83"/>
          <p:cNvCxnSpPr>
            <a:stCxn id="872" idx="7"/>
            <a:endCxn id="873" idx="3"/>
          </p:cNvCxnSpPr>
          <p:nvPr/>
        </p:nvCxnSpPr>
        <p:spPr>
          <a:xfrm flipH="1" rot="10800000">
            <a:off x="2377204" y="2684562"/>
            <a:ext cx="1593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83"/>
          <p:cNvCxnSpPr>
            <a:stCxn id="872" idx="5"/>
            <a:endCxn id="874" idx="1"/>
          </p:cNvCxnSpPr>
          <p:nvPr/>
        </p:nvCxnSpPr>
        <p:spPr>
          <a:xfrm>
            <a:off x="2377204" y="3013940"/>
            <a:ext cx="1593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83"/>
          <p:cNvCxnSpPr>
            <a:stCxn id="872" idx="1"/>
            <a:endCxn id="875" idx="5"/>
          </p:cNvCxnSpPr>
          <p:nvPr/>
        </p:nvCxnSpPr>
        <p:spPr>
          <a:xfrm rot="10800000">
            <a:off x="2051201" y="2684562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83"/>
          <p:cNvCxnSpPr>
            <a:stCxn id="872" idx="3"/>
            <a:endCxn id="876" idx="7"/>
          </p:cNvCxnSpPr>
          <p:nvPr/>
        </p:nvCxnSpPr>
        <p:spPr>
          <a:xfrm flipH="1">
            <a:off x="2051201" y="3013940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83"/>
          <p:cNvSpPr txBox="1"/>
          <p:nvPr/>
        </p:nvSpPr>
        <p:spPr>
          <a:xfrm>
            <a:off x="1966150" y="4792028"/>
            <a:ext cx="741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1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882" name="Google Shape;882;p83"/>
          <p:cNvSpPr/>
          <p:nvPr/>
        </p:nvSpPr>
        <p:spPr>
          <a:xfrm>
            <a:off x="3680637" y="2807585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83"/>
          <p:cNvSpPr/>
          <p:nvPr/>
        </p:nvSpPr>
        <p:spPr>
          <a:xfrm>
            <a:off x="4018347" y="2478211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83"/>
          <p:cNvSpPr/>
          <p:nvPr/>
        </p:nvSpPr>
        <p:spPr>
          <a:xfrm>
            <a:off x="4018347" y="3150863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83"/>
          <p:cNvSpPr/>
          <p:nvPr/>
        </p:nvSpPr>
        <p:spPr>
          <a:xfrm>
            <a:off x="3354561" y="247821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83"/>
          <p:cNvSpPr/>
          <p:nvPr/>
        </p:nvSpPr>
        <p:spPr>
          <a:xfrm>
            <a:off x="3354561" y="3150863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7" name="Google Shape;887;p83"/>
          <p:cNvCxnSpPr>
            <a:stCxn id="882" idx="7"/>
            <a:endCxn id="883" idx="3"/>
          </p:cNvCxnSpPr>
          <p:nvPr/>
        </p:nvCxnSpPr>
        <p:spPr>
          <a:xfrm flipH="1" rot="10800000">
            <a:off x="3895989" y="2684595"/>
            <a:ext cx="1593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83"/>
          <p:cNvCxnSpPr>
            <a:stCxn id="882" idx="5"/>
            <a:endCxn id="884" idx="1"/>
          </p:cNvCxnSpPr>
          <p:nvPr/>
        </p:nvCxnSpPr>
        <p:spPr>
          <a:xfrm>
            <a:off x="3895989" y="3013974"/>
            <a:ext cx="1593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83"/>
          <p:cNvCxnSpPr>
            <a:stCxn id="882" idx="1"/>
            <a:endCxn id="885" idx="5"/>
          </p:cNvCxnSpPr>
          <p:nvPr/>
        </p:nvCxnSpPr>
        <p:spPr>
          <a:xfrm rot="10800000">
            <a:off x="3569986" y="2684595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83"/>
          <p:cNvCxnSpPr>
            <a:stCxn id="882" idx="3"/>
            <a:endCxn id="886" idx="7"/>
          </p:cNvCxnSpPr>
          <p:nvPr/>
        </p:nvCxnSpPr>
        <p:spPr>
          <a:xfrm flipH="1">
            <a:off x="3569986" y="3013974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83"/>
          <p:cNvSpPr txBox="1"/>
          <p:nvPr/>
        </p:nvSpPr>
        <p:spPr>
          <a:xfrm>
            <a:off x="3323873" y="4792123"/>
            <a:ext cx="861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2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892" name="Google Shape;892;p83"/>
          <p:cNvSpPr/>
          <p:nvPr/>
        </p:nvSpPr>
        <p:spPr>
          <a:xfrm>
            <a:off x="5199492" y="2790472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83"/>
          <p:cNvSpPr/>
          <p:nvPr/>
        </p:nvSpPr>
        <p:spPr>
          <a:xfrm>
            <a:off x="5537201" y="2461099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83"/>
          <p:cNvSpPr/>
          <p:nvPr/>
        </p:nvSpPr>
        <p:spPr>
          <a:xfrm>
            <a:off x="5537201" y="3133751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83"/>
          <p:cNvSpPr/>
          <p:nvPr/>
        </p:nvSpPr>
        <p:spPr>
          <a:xfrm>
            <a:off x="4873415" y="2461099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83"/>
          <p:cNvSpPr/>
          <p:nvPr/>
        </p:nvSpPr>
        <p:spPr>
          <a:xfrm>
            <a:off x="4873415" y="313375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7" name="Google Shape;897;p83"/>
          <p:cNvCxnSpPr>
            <a:stCxn id="892" idx="7"/>
            <a:endCxn id="893" idx="3"/>
          </p:cNvCxnSpPr>
          <p:nvPr/>
        </p:nvCxnSpPr>
        <p:spPr>
          <a:xfrm flipH="1" rot="10800000">
            <a:off x="5414843" y="2667483"/>
            <a:ext cx="1593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83"/>
          <p:cNvCxnSpPr>
            <a:stCxn id="892" idx="5"/>
            <a:endCxn id="894" idx="1"/>
          </p:cNvCxnSpPr>
          <p:nvPr/>
        </p:nvCxnSpPr>
        <p:spPr>
          <a:xfrm>
            <a:off x="5414843" y="2996862"/>
            <a:ext cx="1593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83"/>
          <p:cNvCxnSpPr>
            <a:stCxn id="892" idx="1"/>
            <a:endCxn id="895" idx="5"/>
          </p:cNvCxnSpPr>
          <p:nvPr/>
        </p:nvCxnSpPr>
        <p:spPr>
          <a:xfrm rot="10800000">
            <a:off x="5088840" y="266748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83"/>
          <p:cNvCxnSpPr>
            <a:stCxn id="892" idx="3"/>
            <a:endCxn id="896" idx="7"/>
          </p:cNvCxnSpPr>
          <p:nvPr/>
        </p:nvCxnSpPr>
        <p:spPr>
          <a:xfrm flipH="1">
            <a:off x="5088840" y="2996862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83"/>
          <p:cNvSpPr txBox="1"/>
          <p:nvPr/>
        </p:nvSpPr>
        <p:spPr>
          <a:xfrm>
            <a:off x="4945421" y="4792103"/>
            <a:ext cx="741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3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902" name="Google Shape;902;p83"/>
          <p:cNvSpPr/>
          <p:nvPr/>
        </p:nvSpPr>
        <p:spPr>
          <a:xfrm>
            <a:off x="6718288" y="2790472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83"/>
          <p:cNvSpPr/>
          <p:nvPr/>
        </p:nvSpPr>
        <p:spPr>
          <a:xfrm>
            <a:off x="7055998" y="2461099"/>
            <a:ext cx="2523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3"/>
          <p:cNvSpPr/>
          <p:nvPr/>
        </p:nvSpPr>
        <p:spPr>
          <a:xfrm>
            <a:off x="7055998" y="313375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83"/>
          <p:cNvSpPr/>
          <p:nvPr/>
        </p:nvSpPr>
        <p:spPr>
          <a:xfrm>
            <a:off x="6392212" y="2461099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83"/>
          <p:cNvSpPr/>
          <p:nvPr/>
        </p:nvSpPr>
        <p:spPr>
          <a:xfrm>
            <a:off x="6392212" y="313375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83"/>
          <p:cNvCxnSpPr>
            <a:stCxn id="902" idx="7"/>
            <a:endCxn id="903" idx="3"/>
          </p:cNvCxnSpPr>
          <p:nvPr/>
        </p:nvCxnSpPr>
        <p:spPr>
          <a:xfrm flipH="1" rot="10800000">
            <a:off x="6933640" y="2667483"/>
            <a:ext cx="1593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83"/>
          <p:cNvCxnSpPr>
            <a:stCxn id="902" idx="5"/>
            <a:endCxn id="904" idx="1"/>
          </p:cNvCxnSpPr>
          <p:nvPr/>
        </p:nvCxnSpPr>
        <p:spPr>
          <a:xfrm>
            <a:off x="6933640" y="2996862"/>
            <a:ext cx="1593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83"/>
          <p:cNvCxnSpPr>
            <a:stCxn id="902" idx="1"/>
            <a:endCxn id="905" idx="5"/>
          </p:cNvCxnSpPr>
          <p:nvPr/>
        </p:nvCxnSpPr>
        <p:spPr>
          <a:xfrm rot="10800000">
            <a:off x="6607637" y="266748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83"/>
          <p:cNvCxnSpPr>
            <a:stCxn id="902" idx="3"/>
            <a:endCxn id="906" idx="7"/>
          </p:cNvCxnSpPr>
          <p:nvPr/>
        </p:nvCxnSpPr>
        <p:spPr>
          <a:xfrm flipH="1">
            <a:off x="6607637" y="2996862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83"/>
          <p:cNvSpPr txBox="1"/>
          <p:nvPr/>
        </p:nvSpPr>
        <p:spPr>
          <a:xfrm>
            <a:off x="6446933" y="4792115"/>
            <a:ext cx="861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4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912" name="Google Shape;912;p83"/>
          <p:cNvSpPr txBox="1"/>
          <p:nvPr/>
        </p:nvSpPr>
        <p:spPr>
          <a:xfrm>
            <a:off x="7098" y="2814500"/>
            <a:ext cx="1865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Person 1: q = 0.25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913" name="Google Shape;913;p83"/>
          <p:cNvSpPr/>
          <p:nvPr/>
        </p:nvSpPr>
        <p:spPr>
          <a:xfrm>
            <a:off x="2170022" y="4117341"/>
            <a:ext cx="251700" cy="241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83"/>
          <p:cNvSpPr/>
          <p:nvPr/>
        </p:nvSpPr>
        <p:spPr>
          <a:xfrm>
            <a:off x="2507135" y="3787968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83"/>
          <p:cNvSpPr/>
          <p:nvPr/>
        </p:nvSpPr>
        <p:spPr>
          <a:xfrm>
            <a:off x="2507135" y="4460620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83"/>
          <p:cNvSpPr/>
          <p:nvPr/>
        </p:nvSpPr>
        <p:spPr>
          <a:xfrm>
            <a:off x="1844521" y="3787968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3"/>
          <p:cNvSpPr/>
          <p:nvPr/>
        </p:nvSpPr>
        <p:spPr>
          <a:xfrm>
            <a:off x="1844521" y="4460620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8" name="Google Shape;918;p83"/>
          <p:cNvCxnSpPr>
            <a:stCxn id="913" idx="7"/>
            <a:endCxn id="914" idx="3"/>
          </p:cNvCxnSpPr>
          <p:nvPr/>
        </p:nvCxnSpPr>
        <p:spPr>
          <a:xfrm flipH="1" rot="10800000">
            <a:off x="2384861" y="3994352"/>
            <a:ext cx="1590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83"/>
          <p:cNvCxnSpPr>
            <a:stCxn id="913" idx="5"/>
            <a:endCxn id="915" idx="1"/>
          </p:cNvCxnSpPr>
          <p:nvPr/>
        </p:nvCxnSpPr>
        <p:spPr>
          <a:xfrm>
            <a:off x="2384861" y="4323730"/>
            <a:ext cx="1590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83"/>
          <p:cNvCxnSpPr>
            <a:stCxn id="913" idx="1"/>
            <a:endCxn id="916" idx="5"/>
          </p:cNvCxnSpPr>
          <p:nvPr/>
        </p:nvCxnSpPr>
        <p:spPr>
          <a:xfrm rot="10800000">
            <a:off x="2059282" y="3994352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83"/>
          <p:cNvCxnSpPr>
            <a:stCxn id="913" idx="3"/>
            <a:endCxn id="917" idx="7"/>
          </p:cNvCxnSpPr>
          <p:nvPr/>
        </p:nvCxnSpPr>
        <p:spPr>
          <a:xfrm flipH="1">
            <a:off x="2059282" y="4323730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83"/>
          <p:cNvSpPr/>
          <p:nvPr/>
        </p:nvSpPr>
        <p:spPr>
          <a:xfrm>
            <a:off x="3688826" y="4117420"/>
            <a:ext cx="251700" cy="241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83"/>
          <p:cNvSpPr/>
          <p:nvPr/>
        </p:nvSpPr>
        <p:spPr>
          <a:xfrm>
            <a:off x="4025939" y="3788047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83"/>
          <p:cNvSpPr/>
          <p:nvPr/>
        </p:nvSpPr>
        <p:spPr>
          <a:xfrm>
            <a:off x="4025939" y="4460699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83"/>
          <p:cNvSpPr/>
          <p:nvPr/>
        </p:nvSpPr>
        <p:spPr>
          <a:xfrm>
            <a:off x="3363326" y="3788047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83"/>
          <p:cNvSpPr/>
          <p:nvPr/>
        </p:nvSpPr>
        <p:spPr>
          <a:xfrm>
            <a:off x="3363326" y="446069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7" name="Google Shape;927;p83"/>
          <p:cNvCxnSpPr>
            <a:stCxn id="922" idx="7"/>
            <a:endCxn id="923" idx="3"/>
          </p:cNvCxnSpPr>
          <p:nvPr/>
        </p:nvCxnSpPr>
        <p:spPr>
          <a:xfrm flipH="1" rot="10800000">
            <a:off x="3903666" y="3994431"/>
            <a:ext cx="1590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83"/>
          <p:cNvCxnSpPr>
            <a:stCxn id="922" idx="5"/>
            <a:endCxn id="924" idx="1"/>
          </p:cNvCxnSpPr>
          <p:nvPr/>
        </p:nvCxnSpPr>
        <p:spPr>
          <a:xfrm>
            <a:off x="3903666" y="4323810"/>
            <a:ext cx="1590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83"/>
          <p:cNvCxnSpPr>
            <a:stCxn id="922" idx="1"/>
            <a:endCxn id="925" idx="5"/>
          </p:cNvCxnSpPr>
          <p:nvPr/>
        </p:nvCxnSpPr>
        <p:spPr>
          <a:xfrm rot="10800000">
            <a:off x="3578087" y="3994431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83"/>
          <p:cNvCxnSpPr>
            <a:stCxn id="922" idx="3"/>
            <a:endCxn id="926" idx="7"/>
          </p:cNvCxnSpPr>
          <p:nvPr/>
        </p:nvCxnSpPr>
        <p:spPr>
          <a:xfrm flipH="1">
            <a:off x="3578087" y="4323810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83"/>
          <p:cNvSpPr/>
          <p:nvPr/>
        </p:nvSpPr>
        <p:spPr>
          <a:xfrm>
            <a:off x="5207673" y="4117422"/>
            <a:ext cx="251700" cy="241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83"/>
          <p:cNvSpPr/>
          <p:nvPr/>
        </p:nvSpPr>
        <p:spPr>
          <a:xfrm>
            <a:off x="5544786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83"/>
          <p:cNvSpPr/>
          <p:nvPr/>
        </p:nvSpPr>
        <p:spPr>
          <a:xfrm>
            <a:off x="5544786" y="4460701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83"/>
          <p:cNvSpPr/>
          <p:nvPr/>
        </p:nvSpPr>
        <p:spPr>
          <a:xfrm>
            <a:off x="4882172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83"/>
          <p:cNvSpPr/>
          <p:nvPr/>
        </p:nvSpPr>
        <p:spPr>
          <a:xfrm>
            <a:off x="4882172" y="4460701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6" name="Google Shape;936;p83"/>
          <p:cNvCxnSpPr>
            <a:stCxn id="931" idx="7"/>
            <a:endCxn id="932" idx="3"/>
          </p:cNvCxnSpPr>
          <p:nvPr/>
        </p:nvCxnSpPr>
        <p:spPr>
          <a:xfrm flipH="1" rot="10800000">
            <a:off x="5422512" y="3994433"/>
            <a:ext cx="1590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83"/>
          <p:cNvCxnSpPr>
            <a:stCxn id="931" idx="5"/>
            <a:endCxn id="933" idx="1"/>
          </p:cNvCxnSpPr>
          <p:nvPr/>
        </p:nvCxnSpPr>
        <p:spPr>
          <a:xfrm>
            <a:off x="5422512" y="4323811"/>
            <a:ext cx="1590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83"/>
          <p:cNvCxnSpPr>
            <a:stCxn id="931" idx="1"/>
            <a:endCxn id="934" idx="5"/>
          </p:cNvCxnSpPr>
          <p:nvPr/>
        </p:nvCxnSpPr>
        <p:spPr>
          <a:xfrm rot="10800000">
            <a:off x="5096933" y="399443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83"/>
          <p:cNvCxnSpPr>
            <a:stCxn id="931" idx="3"/>
            <a:endCxn id="935" idx="7"/>
          </p:cNvCxnSpPr>
          <p:nvPr/>
        </p:nvCxnSpPr>
        <p:spPr>
          <a:xfrm flipH="1">
            <a:off x="5096933" y="4323811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83"/>
          <p:cNvSpPr/>
          <p:nvPr/>
        </p:nvSpPr>
        <p:spPr>
          <a:xfrm>
            <a:off x="6726527" y="4117422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83"/>
          <p:cNvSpPr/>
          <p:nvPr/>
        </p:nvSpPr>
        <p:spPr>
          <a:xfrm>
            <a:off x="7063640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83"/>
          <p:cNvSpPr/>
          <p:nvPr/>
        </p:nvSpPr>
        <p:spPr>
          <a:xfrm>
            <a:off x="7063640" y="4460701"/>
            <a:ext cx="251700" cy="241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83"/>
          <p:cNvSpPr/>
          <p:nvPr/>
        </p:nvSpPr>
        <p:spPr>
          <a:xfrm>
            <a:off x="6401027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3"/>
          <p:cNvSpPr/>
          <p:nvPr/>
        </p:nvSpPr>
        <p:spPr>
          <a:xfrm>
            <a:off x="6401027" y="4460701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83"/>
          <p:cNvCxnSpPr>
            <a:stCxn id="940" idx="7"/>
            <a:endCxn id="941" idx="3"/>
          </p:cNvCxnSpPr>
          <p:nvPr/>
        </p:nvCxnSpPr>
        <p:spPr>
          <a:xfrm flipH="1" rot="10800000">
            <a:off x="6941367" y="3994433"/>
            <a:ext cx="1590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83"/>
          <p:cNvCxnSpPr>
            <a:stCxn id="940" idx="5"/>
            <a:endCxn id="942" idx="1"/>
          </p:cNvCxnSpPr>
          <p:nvPr/>
        </p:nvCxnSpPr>
        <p:spPr>
          <a:xfrm>
            <a:off x="6941367" y="4323811"/>
            <a:ext cx="1590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83"/>
          <p:cNvCxnSpPr>
            <a:stCxn id="940" idx="1"/>
            <a:endCxn id="943" idx="5"/>
          </p:cNvCxnSpPr>
          <p:nvPr/>
        </p:nvCxnSpPr>
        <p:spPr>
          <a:xfrm rot="10800000">
            <a:off x="6615788" y="399443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83"/>
          <p:cNvCxnSpPr>
            <a:stCxn id="940" idx="3"/>
            <a:endCxn id="944" idx="7"/>
          </p:cNvCxnSpPr>
          <p:nvPr/>
        </p:nvCxnSpPr>
        <p:spPr>
          <a:xfrm flipH="1">
            <a:off x="6615788" y="4323811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83"/>
          <p:cNvSpPr txBox="1"/>
          <p:nvPr/>
        </p:nvSpPr>
        <p:spPr>
          <a:xfrm>
            <a:off x="7088" y="4124250"/>
            <a:ext cx="1865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Person 2: q = 0.75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950" name="Google Shape;950;p83"/>
          <p:cNvSpPr/>
          <p:nvPr/>
        </p:nvSpPr>
        <p:spPr>
          <a:xfrm>
            <a:off x="8123863" y="2790472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3"/>
          <p:cNvSpPr/>
          <p:nvPr/>
        </p:nvSpPr>
        <p:spPr>
          <a:xfrm>
            <a:off x="8461573" y="2461099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3"/>
          <p:cNvSpPr/>
          <p:nvPr/>
        </p:nvSpPr>
        <p:spPr>
          <a:xfrm>
            <a:off x="8461573" y="313375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83"/>
          <p:cNvSpPr/>
          <p:nvPr/>
        </p:nvSpPr>
        <p:spPr>
          <a:xfrm>
            <a:off x="7797787" y="2461099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83"/>
          <p:cNvSpPr/>
          <p:nvPr/>
        </p:nvSpPr>
        <p:spPr>
          <a:xfrm>
            <a:off x="7797787" y="3133751"/>
            <a:ext cx="2523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5" name="Google Shape;955;p83"/>
          <p:cNvCxnSpPr>
            <a:stCxn id="950" idx="7"/>
            <a:endCxn id="951" idx="3"/>
          </p:cNvCxnSpPr>
          <p:nvPr/>
        </p:nvCxnSpPr>
        <p:spPr>
          <a:xfrm flipH="1" rot="10800000">
            <a:off x="8339215" y="2667483"/>
            <a:ext cx="1593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83"/>
          <p:cNvCxnSpPr>
            <a:stCxn id="950" idx="5"/>
            <a:endCxn id="952" idx="1"/>
          </p:cNvCxnSpPr>
          <p:nvPr/>
        </p:nvCxnSpPr>
        <p:spPr>
          <a:xfrm>
            <a:off x="8339215" y="2996862"/>
            <a:ext cx="1593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83"/>
          <p:cNvCxnSpPr>
            <a:stCxn id="950" idx="1"/>
            <a:endCxn id="953" idx="5"/>
          </p:cNvCxnSpPr>
          <p:nvPr/>
        </p:nvCxnSpPr>
        <p:spPr>
          <a:xfrm rot="10800000">
            <a:off x="8013212" y="266748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83"/>
          <p:cNvCxnSpPr>
            <a:stCxn id="950" idx="3"/>
            <a:endCxn id="954" idx="7"/>
          </p:cNvCxnSpPr>
          <p:nvPr/>
        </p:nvCxnSpPr>
        <p:spPr>
          <a:xfrm flipH="1">
            <a:off x="8013212" y="2996862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83"/>
          <p:cNvSpPr txBox="1"/>
          <p:nvPr/>
        </p:nvSpPr>
        <p:spPr>
          <a:xfrm>
            <a:off x="7852508" y="4792115"/>
            <a:ext cx="8613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Junge"/>
                <a:ea typeface="Junge"/>
                <a:cs typeface="Junge"/>
                <a:sym typeface="Junge"/>
              </a:rPr>
              <a:t>Time 5</a:t>
            </a:r>
            <a:endParaRPr b="1"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960" name="Google Shape;960;p83"/>
          <p:cNvSpPr/>
          <p:nvPr/>
        </p:nvSpPr>
        <p:spPr>
          <a:xfrm>
            <a:off x="8132102" y="4117422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83"/>
          <p:cNvSpPr/>
          <p:nvPr/>
        </p:nvSpPr>
        <p:spPr>
          <a:xfrm>
            <a:off x="8469215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3"/>
          <p:cNvSpPr/>
          <p:nvPr/>
        </p:nvSpPr>
        <p:spPr>
          <a:xfrm>
            <a:off x="8469215" y="4460701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3"/>
          <p:cNvSpPr/>
          <p:nvPr/>
        </p:nvSpPr>
        <p:spPr>
          <a:xfrm>
            <a:off x="7806602" y="3788049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83"/>
          <p:cNvSpPr/>
          <p:nvPr/>
        </p:nvSpPr>
        <p:spPr>
          <a:xfrm>
            <a:off x="7806602" y="4460701"/>
            <a:ext cx="251700" cy="241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5" name="Google Shape;965;p83"/>
          <p:cNvCxnSpPr>
            <a:stCxn id="960" idx="7"/>
            <a:endCxn id="961" idx="3"/>
          </p:cNvCxnSpPr>
          <p:nvPr/>
        </p:nvCxnSpPr>
        <p:spPr>
          <a:xfrm flipH="1" rot="10800000">
            <a:off x="8346942" y="3994433"/>
            <a:ext cx="1590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83"/>
          <p:cNvCxnSpPr>
            <a:stCxn id="960" idx="5"/>
            <a:endCxn id="962" idx="1"/>
          </p:cNvCxnSpPr>
          <p:nvPr/>
        </p:nvCxnSpPr>
        <p:spPr>
          <a:xfrm>
            <a:off x="8346942" y="4323811"/>
            <a:ext cx="1590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83"/>
          <p:cNvCxnSpPr>
            <a:stCxn id="960" idx="1"/>
            <a:endCxn id="963" idx="5"/>
          </p:cNvCxnSpPr>
          <p:nvPr/>
        </p:nvCxnSpPr>
        <p:spPr>
          <a:xfrm rot="10800000">
            <a:off x="8021363" y="3994433"/>
            <a:ext cx="147600" cy="15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83"/>
          <p:cNvCxnSpPr>
            <a:stCxn id="960" idx="3"/>
            <a:endCxn id="964" idx="7"/>
          </p:cNvCxnSpPr>
          <p:nvPr/>
        </p:nvCxnSpPr>
        <p:spPr>
          <a:xfrm flipH="1">
            <a:off x="8021363" y="4323811"/>
            <a:ext cx="147600" cy="17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Threshold Models</a:t>
            </a:r>
            <a:endParaRPr/>
          </a:p>
        </p:txBody>
      </p:sp>
      <p:sp>
        <p:nvSpPr>
          <p:cNvPr id="974" name="Google Shape;974;p8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redefine adopter categories (e.g. innovators) as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Whole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Ego-network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 you can be an innovator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 relative laggard compared to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all of your friends are innovators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be a laggard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an innovator among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980" name="Google Shape;980;p85"/>
          <p:cNvSpPr txBox="1"/>
          <p:nvPr>
            <p:ph idx="1" type="body"/>
          </p:nvPr>
        </p:nvSpPr>
        <p:spPr>
          <a:xfrm>
            <a:off x="311700" y="1225208"/>
            <a:ext cx="8520600" cy="13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Who's an “opinion leader”?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adopters who convince those with high network thresholds (but similar system threshold) to adopt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81" name="Google Shape;981;p85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{FAEBB18C-90AF-4E46-BB6D-C42BBA933753}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982" name="Google Shape;982;p85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3" name="Google Shape;983;p85"/>
          <p:cNvSpPr txBox="1"/>
          <p:nvPr/>
        </p:nvSpPr>
        <p:spPr>
          <a:xfrm>
            <a:off x="0" y="3088450"/>
            <a:ext cx="2909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4" name="Google Shape;984;p85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5" name="Google Shape;985;p85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991" name="Google Shape;991;p86"/>
          <p:cNvSpPr txBox="1"/>
          <p:nvPr>
            <p:ph idx="1" type="body"/>
          </p:nvPr>
        </p:nvSpPr>
        <p:spPr>
          <a:xfrm>
            <a:off x="311700" y="1225222"/>
            <a:ext cx="85206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seems to reflect a</a:t>
            </a:r>
            <a:r>
              <a:rPr b="1" lang="en"/>
              <a:t> Local/Cosmopolitan</a:t>
            </a:r>
            <a:r>
              <a:rPr lang="en"/>
              <a:t> split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2" name="Google Shape;992;p86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{FAEBB18C-90AF-4E46-BB6D-C42BBA933753}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993" name="Google Shape;993;p86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4" name="Google Shape;994;p86"/>
          <p:cNvSpPr txBox="1"/>
          <p:nvPr/>
        </p:nvSpPr>
        <p:spPr>
          <a:xfrm>
            <a:off x="0" y="3088450"/>
            <a:ext cx="2909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5" name="Google Shape;995;p86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6" name="Google Shape;996;p86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1002" name="Google Shape;1002;p87"/>
          <p:cNvSpPr txBox="1"/>
          <p:nvPr>
            <p:ph idx="1" type="body"/>
          </p:nvPr>
        </p:nvSpPr>
        <p:spPr>
          <a:xfrm>
            <a:off x="311700" y="1225221"/>
            <a:ext cx="8520600" cy="12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Cosmopolitan </a:t>
            </a:r>
            <a:r>
              <a:rPr lang="en"/>
              <a:t>innovators tend to be early adopters relative to the system and have very low threshold relative to their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03" name="Google Shape;1003;p87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{FAEBB18C-90AF-4E46-BB6D-C42BBA933753}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1004" name="Google Shape;1004;p87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5" name="Google Shape;1005;p87"/>
          <p:cNvSpPr txBox="1"/>
          <p:nvPr/>
        </p:nvSpPr>
        <p:spPr>
          <a:xfrm>
            <a:off x="0" y="3088450"/>
            <a:ext cx="29094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6" name="Google Shape;1006;p87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7" name="Google Shape;1007;p87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