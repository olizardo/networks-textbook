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Economica"/>
      <p:regular r:id="rId18"/>
      <p:bold r:id="rId19"/>
      <p:italic r:id="rId20"/>
      <p:boldItalic r:id="rId21"/>
    </p:embeddedFont>
    <p:embeddedFont>
      <p:font typeface="Oxygen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italic.fntdata"/><Relationship Id="rId22" Type="http://schemas.openxmlformats.org/officeDocument/2006/relationships/font" Target="fonts/Oxygen-regular.fntdata"/><Relationship Id="rId21" Type="http://schemas.openxmlformats.org/officeDocument/2006/relationships/font" Target="fonts/Economica-boldItalic.fntdata"/><Relationship Id="rId24" Type="http://schemas.openxmlformats.org/officeDocument/2006/relationships/font" Target="fonts/OpenSans-regular.fntdata"/><Relationship Id="rId23" Type="http://schemas.openxmlformats.org/officeDocument/2006/relationships/font" Target="fonts/Oxygen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Economica-bold.fntdata"/><Relationship Id="rId18" Type="http://schemas.openxmlformats.org/officeDocument/2006/relationships/font" Target="fonts/Economic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9ec57b661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9ec57b661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9ec57b661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9ec57b661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9ec57b661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09ec57b661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09ec57b661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09ec57b661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9ec57b661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9ec57b661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09ec57b661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09ec57b661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9ec57b661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09ec57b661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09ec57b661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09ec57b661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09ec57b661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09ec57b661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9ec57b661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9ec57b661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9ec57b661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9ec57b661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 in Social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multigraph is a set in which other graphs with unique edge sets are members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{(V, E</a:t>
            </a:r>
            <a:r>
              <a:rPr baseline="-25000" lang="en"/>
              <a:t>1</a:t>
            </a:r>
            <a:r>
              <a:rPr lang="en"/>
              <a:t>), (V, E</a:t>
            </a:r>
            <a:r>
              <a:rPr baseline="-25000" lang="en"/>
              <a:t>2</a:t>
            </a:r>
            <a:r>
              <a:rPr lang="en"/>
              <a:t>), (V, E</a:t>
            </a:r>
            <a:r>
              <a:rPr baseline="-25000" lang="en"/>
              <a:t>3</a:t>
            </a:r>
            <a:r>
              <a:rPr lang="en"/>
              <a:t>), … (V, E</a:t>
            </a:r>
            <a:r>
              <a:rPr baseline="-25000" lang="en"/>
              <a:t>m</a:t>
            </a:r>
            <a:r>
              <a:rPr lang="en"/>
              <a:t>)}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</a:rPr>
              <a:t>A simple graph is a special (one layer) case of a multigraph!</a:t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9" name="Google Shape;119;p27"/>
          <p:cNvCxnSpPr>
            <a:stCxn id="117" idx="0"/>
            <a:endCxn id="118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27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" name="Google Shape;122;p27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" name="Google Shape;123;p27"/>
          <p:cNvCxnSpPr>
            <a:stCxn id="118" idx="7"/>
            <a:endCxn id="120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7"/>
          <p:cNvCxnSpPr>
            <a:stCxn id="122" idx="1"/>
            <a:endCxn id="120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7"/>
          <p:cNvCxnSpPr>
            <a:stCxn id="121" idx="0"/>
            <a:endCxn id="120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27"/>
          <p:cNvCxnSpPr>
            <a:stCxn id="117" idx="0"/>
            <a:endCxn id="120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27"/>
          <p:cNvCxnSpPr>
            <a:stCxn id="121" idx="2"/>
            <a:endCxn id="117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7"/>
          <p:cNvCxnSpPr>
            <a:stCxn id="122" idx="2"/>
            <a:endCxn id="118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7"/>
          <p:cNvCxnSpPr>
            <a:stCxn id="121" idx="6"/>
            <a:endCxn id="122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7"/>
          <p:cNvCxnSpPr>
            <a:stCxn id="118" idx="7"/>
            <a:endCxn id="122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7"/>
          <p:cNvCxnSpPr>
            <a:stCxn id="117" idx="6"/>
            <a:endCxn id="118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7"/>
          <p:cNvCxnSpPr>
            <a:stCxn id="117" idx="2"/>
            <a:endCxn id="118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7"/>
          <p:cNvCxnSpPr>
            <a:stCxn id="118" idx="1"/>
            <a:endCxn id="120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7"/>
          <p:cNvCxnSpPr>
            <a:stCxn id="121" idx="6"/>
            <a:endCxn id="120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7"/>
          <p:cNvCxnSpPr>
            <a:stCxn id="117" idx="0"/>
            <a:endCxn id="122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7"/>
          <p:cNvCxnSpPr>
            <a:stCxn id="121" idx="2"/>
            <a:endCxn id="120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7"/>
          <p:cNvCxnSpPr>
            <a:stCxn id="121" idx="0"/>
            <a:endCxn id="122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multigraph can be thought of as a set in which other graphs with unique edge sets are the members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{(V, E</a:t>
            </a:r>
            <a:r>
              <a:rPr baseline="-25000" lang="en"/>
              <a:t>1</a:t>
            </a:r>
            <a:r>
              <a:rPr lang="en"/>
              <a:t>), (V, E</a:t>
            </a:r>
            <a:r>
              <a:rPr baseline="-25000" lang="en"/>
              <a:t>2</a:t>
            </a:r>
            <a:r>
              <a:rPr lang="en"/>
              <a:t>), (V, E</a:t>
            </a:r>
            <a:r>
              <a:rPr baseline="-25000" lang="en"/>
              <a:t>3</a:t>
            </a:r>
            <a:r>
              <a:rPr lang="en"/>
              <a:t>), … (V, E</a:t>
            </a:r>
            <a:r>
              <a:rPr baseline="-25000" lang="en"/>
              <a:t>m</a:t>
            </a:r>
            <a:r>
              <a:rPr lang="en"/>
              <a:t>)}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</a:rPr>
              <a:t>A simple graph can be thought of as a special (one layer) case of a multigraph!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Multigraphs can be directed or undirected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" name="Google Shape;147;p28"/>
          <p:cNvCxnSpPr>
            <a:stCxn id="145" idx="0"/>
            <a:endCxn id="146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8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" name="Google Shape;151;p28"/>
          <p:cNvCxnSpPr>
            <a:stCxn id="146" idx="7"/>
            <a:endCxn id="148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8"/>
          <p:cNvCxnSpPr>
            <a:stCxn id="150" idx="1"/>
            <a:endCxn id="148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8"/>
          <p:cNvCxnSpPr>
            <a:stCxn id="149" idx="0"/>
            <a:endCxn id="148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8"/>
          <p:cNvCxnSpPr>
            <a:stCxn id="145" idx="0"/>
            <a:endCxn id="148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8"/>
          <p:cNvCxnSpPr>
            <a:stCxn id="149" idx="2"/>
            <a:endCxn id="145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8"/>
          <p:cNvCxnSpPr>
            <a:stCxn id="150" idx="2"/>
            <a:endCxn id="146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8"/>
          <p:cNvCxnSpPr>
            <a:stCxn id="149" idx="6"/>
            <a:endCxn id="150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8"/>
          <p:cNvCxnSpPr>
            <a:stCxn id="146" idx="7"/>
            <a:endCxn id="150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8"/>
          <p:cNvCxnSpPr>
            <a:stCxn id="145" idx="6"/>
            <a:endCxn id="146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8"/>
          <p:cNvCxnSpPr>
            <a:stCxn id="145" idx="2"/>
            <a:endCxn id="146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8"/>
          <p:cNvCxnSpPr>
            <a:stCxn id="146" idx="1"/>
            <a:endCxn id="148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8"/>
          <p:cNvCxnSpPr>
            <a:stCxn id="149" idx="6"/>
            <a:endCxn id="148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8"/>
          <p:cNvCxnSpPr>
            <a:stCxn id="145" idx="0"/>
            <a:endCxn id="150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8"/>
          <p:cNvCxnSpPr>
            <a:stCxn id="149" idx="2"/>
            <a:endCxn id="148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8"/>
          <p:cNvCxnSpPr>
            <a:stCxn id="149" idx="0"/>
            <a:endCxn id="150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multigraph there are </a:t>
            </a:r>
            <a:r>
              <a:rPr b="1" lang="en"/>
              <a:t>three</a:t>
            </a:r>
            <a:r>
              <a:rPr lang="en"/>
              <a:t> types of dyads: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3" name="Google Shape;173;p29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5" name="Google Shape;175;p29"/>
          <p:cNvCxnSpPr>
            <a:stCxn id="173" idx="0"/>
            <a:endCxn id="174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9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" name="Google Shape;177;p29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9" name="Google Shape;179;p29"/>
          <p:cNvCxnSpPr>
            <a:stCxn id="174" idx="7"/>
            <a:endCxn id="176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9"/>
          <p:cNvCxnSpPr>
            <a:stCxn id="178" idx="1"/>
            <a:endCxn id="176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9"/>
          <p:cNvCxnSpPr>
            <a:stCxn id="177" idx="0"/>
            <a:endCxn id="176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9"/>
          <p:cNvCxnSpPr>
            <a:stCxn id="177" idx="0"/>
            <a:endCxn id="174" idx="5"/>
          </p:cNvCxnSpPr>
          <p:nvPr/>
        </p:nvCxnSpPr>
        <p:spPr>
          <a:xfrm rot="10800000">
            <a:off x="6486450" y="2826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9"/>
          <p:cNvCxnSpPr>
            <a:stCxn id="173" idx="0"/>
            <a:endCxn id="176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9"/>
          <p:cNvCxnSpPr>
            <a:stCxn id="177" idx="2"/>
            <a:endCxn id="173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9"/>
          <p:cNvCxnSpPr>
            <a:stCxn id="178" idx="2"/>
            <a:endCxn id="174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9"/>
          <p:cNvCxnSpPr>
            <a:stCxn id="177" idx="6"/>
            <a:endCxn id="178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9"/>
          <p:cNvCxnSpPr>
            <a:stCxn id="174" idx="7"/>
            <a:endCxn id="178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9"/>
          <p:cNvCxnSpPr>
            <a:stCxn id="173" idx="6"/>
            <a:endCxn id="174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9"/>
          <p:cNvCxnSpPr>
            <a:stCxn id="173" idx="2"/>
            <a:endCxn id="174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9"/>
          <p:cNvCxnSpPr>
            <a:stCxn id="174" idx="1"/>
            <a:endCxn id="176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9"/>
          <p:cNvCxnSpPr>
            <a:stCxn id="177" idx="6"/>
            <a:endCxn id="176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9"/>
          <p:cNvCxnSpPr>
            <a:stCxn id="173" idx="0"/>
            <a:endCxn id="178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9"/>
          <p:cNvCxnSpPr>
            <a:stCxn id="177" idx="2"/>
            <a:endCxn id="176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9"/>
          <p:cNvCxnSpPr>
            <a:stCxn id="177" idx="0"/>
            <a:endCxn id="178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multigraph there are </a:t>
            </a:r>
            <a:r>
              <a:rPr b="1" lang="en"/>
              <a:t>three</a:t>
            </a:r>
            <a:r>
              <a:rPr lang="en"/>
              <a:t> types of dyads: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Unconnected</a:t>
            </a:r>
            <a:r>
              <a:rPr lang="en"/>
              <a:t> (null) dyads just like before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4" name="Google Shape;204;p30"/>
          <p:cNvCxnSpPr>
            <a:stCxn id="202" idx="0"/>
            <a:endCxn id="203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0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8" name="Google Shape;208;p30"/>
          <p:cNvCxnSpPr>
            <a:stCxn id="203" idx="7"/>
            <a:endCxn id="205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0"/>
          <p:cNvCxnSpPr>
            <a:stCxn id="207" idx="1"/>
            <a:endCxn id="205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0"/>
          <p:cNvCxnSpPr>
            <a:stCxn id="206" idx="0"/>
            <a:endCxn id="205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30"/>
          <p:cNvCxnSpPr>
            <a:stCxn id="202" idx="0"/>
            <a:endCxn id="205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30"/>
          <p:cNvCxnSpPr>
            <a:stCxn id="206" idx="2"/>
            <a:endCxn id="202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30"/>
          <p:cNvCxnSpPr>
            <a:stCxn id="207" idx="2"/>
            <a:endCxn id="203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30"/>
          <p:cNvCxnSpPr>
            <a:stCxn id="206" idx="6"/>
            <a:endCxn id="207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0"/>
          <p:cNvCxnSpPr>
            <a:stCxn id="203" idx="7"/>
            <a:endCxn id="207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30"/>
          <p:cNvCxnSpPr>
            <a:stCxn id="202" idx="6"/>
            <a:endCxn id="203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0"/>
          <p:cNvCxnSpPr>
            <a:stCxn id="202" idx="2"/>
            <a:endCxn id="203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30"/>
          <p:cNvCxnSpPr>
            <a:stCxn id="203" idx="1"/>
            <a:endCxn id="205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30"/>
          <p:cNvCxnSpPr>
            <a:stCxn id="206" idx="6"/>
            <a:endCxn id="205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30"/>
          <p:cNvCxnSpPr>
            <a:stCxn id="202" idx="0"/>
            <a:endCxn id="207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0"/>
          <p:cNvCxnSpPr>
            <a:stCxn id="206" idx="2"/>
            <a:endCxn id="205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0"/>
          <p:cNvCxnSpPr>
            <a:stCxn id="206" idx="0"/>
            <a:endCxn id="207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multigraph there are </a:t>
            </a:r>
            <a:r>
              <a:rPr b="1" lang="en"/>
              <a:t>three</a:t>
            </a:r>
            <a:r>
              <a:rPr lang="en"/>
              <a:t> types of dyads: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Unconnected</a:t>
            </a:r>
            <a:r>
              <a:rPr lang="en"/>
              <a:t> (null) dyads just like before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2" name="Google Shape;232;p31"/>
          <p:cNvCxnSpPr>
            <a:stCxn id="230" idx="0"/>
            <a:endCxn id="231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1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" name="Google Shape;235;p31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6" name="Google Shape;236;p31"/>
          <p:cNvCxnSpPr>
            <a:stCxn id="231" idx="7"/>
            <a:endCxn id="233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1"/>
          <p:cNvCxnSpPr>
            <a:stCxn id="235" idx="1"/>
            <a:endCxn id="233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1"/>
          <p:cNvCxnSpPr>
            <a:stCxn id="234" idx="0"/>
            <a:endCxn id="233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1"/>
          <p:cNvCxnSpPr>
            <a:stCxn id="230" idx="0"/>
            <a:endCxn id="233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31"/>
          <p:cNvCxnSpPr>
            <a:stCxn id="234" idx="2"/>
            <a:endCxn id="230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1"/>
          <p:cNvCxnSpPr>
            <a:stCxn id="235" idx="2"/>
            <a:endCxn id="231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31"/>
          <p:cNvCxnSpPr>
            <a:stCxn id="234" idx="6"/>
            <a:endCxn id="235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31"/>
          <p:cNvCxnSpPr>
            <a:stCxn id="231" idx="7"/>
            <a:endCxn id="235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1"/>
          <p:cNvCxnSpPr>
            <a:stCxn id="230" idx="6"/>
            <a:endCxn id="231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1"/>
          <p:cNvCxnSpPr>
            <a:stCxn id="230" idx="2"/>
            <a:endCxn id="231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1"/>
          <p:cNvCxnSpPr>
            <a:stCxn id="231" idx="1"/>
            <a:endCxn id="233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1"/>
          <p:cNvCxnSpPr>
            <a:stCxn id="234" idx="6"/>
            <a:endCxn id="233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1"/>
          <p:cNvCxnSpPr>
            <a:stCxn id="230" idx="0"/>
            <a:endCxn id="235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1"/>
          <p:cNvCxnSpPr>
            <a:stCxn id="234" idx="2"/>
            <a:endCxn id="233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1"/>
          <p:cNvCxnSpPr>
            <a:stCxn id="234" idx="0"/>
            <a:endCxn id="235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multigraph there are </a:t>
            </a:r>
            <a:r>
              <a:rPr b="1" lang="en"/>
              <a:t>three</a:t>
            </a:r>
            <a:r>
              <a:rPr lang="en"/>
              <a:t> types of dyads: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Unconnected</a:t>
            </a:r>
            <a:r>
              <a:rPr lang="en"/>
              <a:t> (null) dyads just like before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Uniplex dyads</a:t>
            </a:r>
            <a:r>
              <a:rPr lang="en"/>
              <a:t> connected by a single type of tie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2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8" name="Google Shape;258;p32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" name="Google Shape;259;p32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0" name="Google Shape;260;p32"/>
          <p:cNvCxnSpPr>
            <a:stCxn id="258" idx="0"/>
            <a:endCxn id="259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32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4" name="Google Shape;264;p32"/>
          <p:cNvCxnSpPr>
            <a:stCxn id="259" idx="7"/>
            <a:endCxn id="261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2"/>
          <p:cNvCxnSpPr>
            <a:stCxn id="263" idx="1"/>
            <a:endCxn id="261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2"/>
          <p:cNvCxnSpPr>
            <a:stCxn id="262" idx="0"/>
            <a:endCxn id="261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>
            <a:stCxn id="258" idx="0"/>
            <a:endCxn id="261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2"/>
          <p:cNvCxnSpPr>
            <a:stCxn id="262" idx="2"/>
            <a:endCxn id="258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2"/>
          <p:cNvCxnSpPr>
            <a:stCxn id="263" idx="2"/>
            <a:endCxn id="259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2"/>
          <p:cNvCxnSpPr>
            <a:stCxn id="262" idx="6"/>
            <a:endCxn id="263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2"/>
          <p:cNvCxnSpPr>
            <a:stCxn id="259" idx="7"/>
            <a:endCxn id="263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32"/>
          <p:cNvCxnSpPr>
            <a:stCxn id="258" idx="6"/>
            <a:endCxn id="259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2"/>
          <p:cNvCxnSpPr>
            <a:stCxn id="258" idx="2"/>
            <a:endCxn id="259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2"/>
          <p:cNvCxnSpPr>
            <a:stCxn id="259" idx="1"/>
            <a:endCxn id="261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32"/>
          <p:cNvCxnSpPr>
            <a:stCxn id="262" idx="6"/>
            <a:endCxn id="261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32"/>
          <p:cNvCxnSpPr>
            <a:stCxn id="258" idx="0"/>
            <a:endCxn id="263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2"/>
          <p:cNvCxnSpPr>
            <a:stCxn id="262" idx="2"/>
            <a:endCxn id="261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2"/>
          <p:cNvCxnSpPr>
            <a:stCxn id="262" idx="0"/>
            <a:endCxn id="263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284" name="Google Shape;284;p33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multigraph there are </a:t>
            </a:r>
            <a:r>
              <a:rPr b="1" lang="en"/>
              <a:t>three</a:t>
            </a:r>
            <a:r>
              <a:rPr lang="en"/>
              <a:t> types of dyads: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Unconnected</a:t>
            </a:r>
            <a:r>
              <a:rPr lang="en"/>
              <a:t> (null) dyads just like before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Uniplex dyads</a:t>
            </a:r>
            <a:r>
              <a:rPr lang="en"/>
              <a:t> connected by a single type of tie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3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6" name="Google Shape;286;p33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7" name="Google Shape;287;p33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8" name="Google Shape;288;p33"/>
          <p:cNvCxnSpPr>
            <a:stCxn id="286" idx="0"/>
            <a:endCxn id="287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33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2" name="Google Shape;292;p33"/>
          <p:cNvCxnSpPr>
            <a:stCxn id="287" idx="7"/>
            <a:endCxn id="289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3"/>
          <p:cNvCxnSpPr>
            <a:stCxn id="291" idx="1"/>
            <a:endCxn id="289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3"/>
          <p:cNvCxnSpPr>
            <a:stCxn id="290" idx="0"/>
            <a:endCxn id="289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3"/>
          <p:cNvCxnSpPr>
            <a:stCxn id="286" idx="0"/>
            <a:endCxn id="289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3"/>
          <p:cNvCxnSpPr>
            <a:stCxn id="290" idx="2"/>
            <a:endCxn id="286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3"/>
          <p:cNvCxnSpPr>
            <a:stCxn id="291" idx="2"/>
            <a:endCxn id="287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3"/>
          <p:cNvCxnSpPr>
            <a:stCxn id="290" idx="6"/>
            <a:endCxn id="291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3"/>
          <p:cNvCxnSpPr>
            <a:stCxn id="287" idx="7"/>
            <a:endCxn id="291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3"/>
          <p:cNvCxnSpPr>
            <a:stCxn id="286" idx="6"/>
            <a:endCxn id="287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3"/>
          <p:cNvCxnSpPr>
            <a:stCxn id="286" idx="2"/>
            <a:endCxn id="287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3"/>
          <p:cNvCxnSpPr>
            <a:stCxn id="287" idx="1"/>
            <a:endCxn id="289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3"/>
          <p:cNvCxnSpPr>
            <a:stCxn id="290" idx="6"/>
            <a:endCxn id="289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3"/>
          <p:cNvCxnSpPr>
            <a:stCxn id="286" idx="0"/>
            <a:endCxn id="291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3"/>
          <p:cNvCxnSpPr>
            <a:stCxn id="290" idx="2"/>
            <a:endCxn id="289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3"/>
          <p:cNvCxnSpPr>
            <a:stCxn id="290" idx="0"/>
            <a:endCxn id="291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312" name="Google Shape;312;p34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multigraph there are </a:t>
            </a:r>
            <a:r>
              <a:rPr b="1" lang="en"/>
              <a:t>three</a:t>
            </a:r>
            <a:r>
              <a:rPr lang="en"/>
              <a:t> types of dyads: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Unconnected</a:t>
            </a:r>
            <a:r>
              <a:rPr lang="en"/>
              <a:t> (null) dyads just like before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Uniplex dyads</a:t>
            </a:r>
            <a:r>
              <a:rPr lang="en"/>
              <a:t> connected by a single type of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Multiplex dyads </a:t>
            </a:r>
            <a:r>
              <a:rPr lang="en"/>
              <a:t>connected by more than one type of tie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4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5" name="Google Shape;315;p34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6" name="Google Shape;316;p34"/>
          <p:cNvCxnSpPr>
            <a:stCxn id="314" idx="0"/>
            <a:endCxn id="315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4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0" name="Google Shape;320;p34"/>
          <p:cNvCxnSpPr>
            <a:stCxn id="315" idx="7"/>
            <a:endCxn id="317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4"/>
          <p:cNvCxnSpPr>
            <a:stCxn id="319" idx="1"/>
            <a:endCxn id="317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4"/>
          <p:cNvCxnSpPr>
            <a:stCxn id="318" idx="0"/>
            <a:endCxn id="317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4"/>
          <p:cNvCxnSpPr>
            <a:stCxn id="314" idx="0"/>
            <a:endCxn id="317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4"/>
          <p:cNvCxnSpPr>
            <a:stCxn id="318" idx="2"/>
            <a:endCxn id="314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4"/>
          <p:cNvCxnSpPr>
            <a:stCxn id="319" idx="2"/>
            <a:endCxn id="315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4"/>
          <p:cNvCxnSpPr>
            <a:stCxn id="318" idx="6"/>
            <a:endCxn id="319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4"/>
          <p:cNvCxnSpPr>
            <a:stCxn id="315" idx="7"/>
            <a:endCxn id="319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4"/>
          <p:cNvCxnSpPr>
            <a:stCxn id="314" idx="6"/>
            <a:endCxn id="315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4"/>
          <p:cNvCxnSpPr>
            <a:stCxn id="314" idx="2"/>
            <a:endCxn id="315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4"/>
          <p:cNvCxnSpPr>
            <a:stCxn id="315" idx="1"/>
            <a:endCxn id="317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4"/>
          <p:cNvCxnSpPr>
            <a:stCxn id="318" idx="6"/>
            <a:endCxn id="317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4"/>
          <p:cNvCxnSpPr>
            <a:stCxn id="314" idx="0"/>
            <a:endCxn id="319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4"/>
          <p:cNvCxnSpPr>
            <a:stCxn id="318" idx="2"/>
            <a:endCxn id="317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4"/>
          <p:cNvCxnSpPr>
            <a:stCxn id="318" idx="0"/>
            <a:endCxn id="319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340" name="Google Shape;340;p35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single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one edge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multigraph there are </a:t>
            </a:r>
            <a:r>
              <a:rPr b="1" lang="en"/>
              <a:t>three</a:t>
            </a:r>
            <a:r>
              <a:rPr lang="en"/>
              <a:t> types of dyads: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Unconnected</a:t>
            </a:r>
            <a:r>
              <a:rPr lang="en"/>
              <a:t> (null) dyads just like before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Uniplex dyads</a:t>
            </a:r>
            <a:r>
              <a:rPr lang="en"/>
              <a:t> connected by a single type of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Multiplex dyads </a:t>
            </a:r>
            <a:r>
              <a:rPr lang="en"/>
              <a:t>connected by more than one type of tie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5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4" name="Google Shape;344;p35"/>
          <p:cNvCxnSpPr>
            <a:stCxn id="342" idx="0"/>
            <a:endCxn id="343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5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8" name="Google Shape;348;p35"/>
          <p:cNvCxnSpPr>
            <a:stCxn id="343" idx="7"/>
            <a:endCxn id="345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5"/>
          <p:cNvCxnSpPr>
            <a:stCxn id="347" idx="1"/>
            <a:endCxn id="345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5"/>
          <p:cNvCxnSpPr>
            <a:stCxn id="346" idx="0"/>
            <a:endCxn id="345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5"/>
          <p:cNvCxnSpPr>
            <a:stCxn id="342" idx="0"/>
            <a:endCxn id="345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5"/>
          <p:cNvCxnSpPr>
            <a:stCxn id="346" idx="2"/>
            <a:endCxn id="342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5"/>
          <p:cNvCxnSpPr>
            <a:stCxn id="347" idx="2"/>
            <a:endCxn id="343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5"/>
          <p:cNvCxnSpPr>
            <a:stCxn id="346" idx="6"/>
            <a:endCxn id="347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5"/>
          <p:cNvCxnSpPr>
            <a:stCxn id="343" idx="7"/>
            <a:endCxn id="347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5"/>
          <p:cNvCxnSpPr>
            <a:stCxn id="342" idx="6"/>
            <a:endCxn id="343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5"/>
          <p:cNvCxnSpPr>
            <a:stCxn id="342" idx="2"/>
            <a:endCxn id="343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5"/>
          <p:cNvCxnSpPr>
            <a:stCxn id="343" idx="1"/>
            <a:endCxn id="345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5"/>
          <p:cNvCxnSpPr>
            <a:stCxn id="346" idx="6"/>
            <a:endCxn id="345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5"/>
          <p:cNvCxnSpPr>
            <a:stCxn id="342" idx="0"/>
            <a:endCxn id="347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5"/>
          <p:cNvCxnSpPr>
            <a:stCxn id="346" idx="2"/>
            <a:endCxn id="345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5"/>
          <p:cNvCxnSpPr>
            <a:stCxn id="346" idx="0"/>
            <a:endCxn id="347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368" name="Google Shape;368;p36"/>
          <p:cNvSpPr txBox="1"/>
          <p:nvPr>
            <p:ph idx="1" type="body"/>
          </p:nvPr>
        </p:nvSpPr>
        <p:spPr>
          <a:xfrm>
            <a:off x="311700" y="1225225"/>
            <a:ext cx="4838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Multigraphs may be used to represent the social network concept of </a:t>
            </a:r>
            <a:r>
              <a:rPr b="1" lang="en"/>
              <a:t>multiplexity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Multiplexity </a:t>
            </a:r>
            <a:r>
              <a:rPr lang="en">
                <a:solidFill>
                  <a:srgbClr val="FF0000"/>
                </a:solidFill>
              </a:rPr>
              <a:t>exists when there is more than one basis of connectivity between people 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E.g.,  a friend who is also a coworker who goes to UCLA with you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Networks have different “layers” when we measure different types of ties on the same nodes: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E.g., Advice, liking, hanging out, texting, co-memberships</a:t>
            </a:r>
            <a:endParaRPr i="1"/>
          </a:p>
        </p:txBody>
      </p:sp>
      <p:sp>
        <p:nvSpPr>
          <p:cNvPr id="369" name="Google Shape;369;p36"/>
          <p:cNvSpPr/>
          <p:nvPr/>
        </p:nvSpPr>
        <p:spPr>
          <a:xfrm>
            <a:off x="6862600" y="111050"/>
            <a:ext cx="316500" cy="27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/>
        </p:nvSpPr>
        <p:spPr>
          <a:xfrm>
            <a:off x="7258275" y="66513"/>
            <a:ext cx="1651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Hang out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6862600" y="462188"/>
            <a:ext cx="316500" cy="2769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6"/>
          <p:cNvSpPr txBox="1"/>
          <p:nvPr/>
        </p:nvSpPr>
        <p:spPr>
          <a:xfrm>
            <a:off x="7258275" y="417663"/>
            <a:ext cx="1810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Coworkers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6862600" y="813325"/>
            <a:ext cx="316500" cy="2769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6"/>
          <p:cNvSpPr txBox="1"/>
          <p:nvPr/>
        </p:nvSpPr>
        <p:spPr>
          <a:xfrm>
            <a:off x="7258275" y="768800"/>
            <a:ext cx="1810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Both go to UCLA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6216175" y="46808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Multigraph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5989325" y="40372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5973425" y="231345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8" name="Google Shape;378;p36"/>
          <p:cNvCxnSpPr>
            <a:stCxn id="376" idx="0"/>
            <a:endCxn id="377" idx="4"/>
          </p:cNvCxnSpPr>
          <p:nvPr/>
        </p:nvCxnSpPr>
        <p:spPr>
          <a:xfrm rot="10800000">
            <a:off x="6274025" y="2914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36"/>
          <p:cNvSpPr/>
          <p:nvPr/>
        </p:nvSpPr>
        <p:spPr>
          <a:xfrm>
            <a:off x="7319250" y="1166000"/>
            <a:ext cx="601200" cy="6012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7319250" y="4037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8478175" y="2313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2" name="Google Shape;382;p36"/>
          <p:cNvCxnSpPr>
            <a:stCxn id="377" idx="7"/>
            <a:endCxn id="379" idx="4"/>
          </p:cNvCxnSpPr>
          <p:nvPr/>
        </p:nvCxnSpPr>
        <p:spPr>
          <a:xfrm flipH="1" rot="10800000">
            <a:off x="6486581" y="1767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6"/>
          <p:cNvCxnSpPr>
            <a:stCxn id="381" idx="1"/>
            <a:endCxn id="379" idx="4"/>
          </p:cNvCxnSpPr>
          <p:nvPr/>
        </p:nvCxnSpPr>
        <p:spPr>
          <a:xfrm rot="10800000">
            <a:off x="7619719" y="1767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6"/>
          <p:cNvCxnSpPr>
            <a:stCxn id="380" idx="0"/>
            <a:endCxn id="379" idx="4"/>
          </p:cNvCxnSpPr>
          <p:nvPr/>
        </p:nvCxnSpPr>
        <p:spPr>
          <a:xfrm rot="10800000">
            <a:off x="7619850" y="1767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6"/>
          <p:cNvCxnSpPr>
            <a:stCxn id="376" idx="0"/>
            <a:endCxn id="379" idx="4"/>
          </p:cNvCxnSpPr>
          <p:nvPr/>
        </p:nvCxnSpPr>
        <p:spPr>
          <a:xfrm flipH="1" rot="10800000">
            <a:off x="6289925" y="1767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6"/>
          <p:cNvCxnSpPr>
            <a:stCxn id="380" idx="2"/>
            <a:endCxn id="376" idx="6"/>
          </p:cNvCxnSpPr>
          <p:nvPr/>
        </p:nvCxnSpPr>
        <p:spPr>
          <a:xfrm rot="10800000">
            <a:off x="6590550" y="4337850"/>
            <a:ext cx="728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6"/>
          <p:cNvCxnSpPr>
            <a:stCxn id="381" idx="2"/>
            <a:endCxn id="377" idx="6"/>
          </p:cNvCxnSpPr>
          <p:nvPr/>
        </p:nvCxnSpPr>
        <p:spPr>
          <a:xfrm rot="10800000">
            <a:off x="6574675" y="2614050"/>
            <a:ext cx="1903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6"/>
          <p:cNvCxnSpPr>
            <a:stCxn id="380" idx="6"/>
            <a:endCxn id="381" idx="4"/>
          </p:cNvCxnSpPr>
          <p:nvPr/>
        </p:nvCxnSpPr>
        <p:spPr>
          <a:xfrm flipH="1" rot="10800000">
            <a:off x="7920450" y="2914650"/>
            <a:ext cx="858300" cy="14232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6"/>
          <p:cNvCxnSpPr>
            <a:stCxn id="377" idx="7"/>
            <a:endCxn id="381" idx="1"/>
          </p:cNvCxnSpPr>
          <p:nvPr/>
        </p:nvCxnSpPr>
        <p:spPr>
          <a:xfrm flipH="1" rot="-5400000">
            <a:off x="7526081" y="1361994"/>
            <a:ext cx="600" cy="2079600"/>
          </a:xfrm>
          <a:prstGeom prst="curvedConnector3">
            <a:avLst>
              <a:gd fmla="val -5436145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6"/>
          <p:cNvCxnSpPr>
            <a:stCxn id="376" idx="6"/>
            <a:endCxn id="377" idx="6"/>
          </p:cNvCxnSpPr>
          <p:nvPr/>
        </p:nvCxnSpPr>
        <p:spPr>
          <a:xfrm rot="10800000">
            <a:off x="6574625" y="2614050"/>
            <a:ext cx="15900" cy="1723800"/>
          </a:xfrm>
          <a:prstGeom prst="curvedConnector3">
            <a:avLst>
              <a:gd fmla="val -1497642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6"/>
          <p:cNvCxnSpPr>
            <a:stCxn id="376" idx="2"/>
            <a:endCxn id="377" idx="2"/>
          </p:cNvCxnSpPr>
          <p:nvPr/>
        </p:nvCxnSpPr>
        <p:spPr>
          <a:xfrm rot="10800000">
            <a:off x="5973425" y="2614050"/>
            <a:ext cx="15900" cy="1723800"/>
          </a:xfrm>
          <a:prstGeom prst="curvedConnector3">
            <a:avLst>
              <a:gd fmla="val 159764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36"/>
          <p:cNvCxnSpPr>
            <a:stCxn id="377" idx="1"/>
            <a:endCxn id="379" idx="2"/>
          </p:cNvCxnSpPr>
          <p:nvPr/>
        </p:nvCxnSpPr>
        <p:spPr>
          <a:xfrm rot="-5400000">
            <a:off x="6223019" y="1305144"/>
            <a:ext cx="934800" cy="1257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6"/>
          <p:cNvCxnSpPr>
            <a:stCxn id="380" idx="6"/>
            <a:endCxn id="379" idx="6"/>
          </p:cNvCxnSpPr>
          <p:nvPr/>
        </p:nvCxnSpPr>
        <p:spPr>
          <a:xfrm flipH="1" rot="10800000">
            <a:off x="7920450" y="1466550"/>
            <a:ext cx="600" cy="2871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6"/>
          <p:cNvCxnSpPr>
            <a:stCxn id="376" idx="0"/>
            <a:endCxn id="381" idx="2"/>
          </p:cNvCxnSpPr>
          <p:nvPr/>
        </p:nvCxnSpPr>
        <p:spPr>
          <a:xfrm rot="-5400000">
            <a:off x="6672425" y="2231550"/>
            <a:ext cx="1423200" cy="2188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6"/>
          <p:cNvCxnSpPr>
            <a:stCxn id="380" idx="2"/>
            <a:endCxn id="379" idx="2"/>
          </p:cNvCxnSpPr>
          <p:nvPr/>
        </p:nvCxnSpPr>
        <p:spPr>
          <a:xfrm flipH="1" rot="10800000">
            <a:off x="7319250" y="1466550"/>
            <a:ext cx="600" cy="28713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36"/>
          <p:cNvCxnSpPr>
            <a:stCxn id="380" idx="0"/>
            <a:endCxn id="381" idx="2"/>
          </p:cNvCxnSpPr>
          <p:nvPr/>
        </p:nvCxnSpPr>
        <p:spPr>
          <a:xfrm rot="-5400000">
            <a:off x="7337400" y="2896500"/>
            <a:ext cx="1423200" cy="8583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