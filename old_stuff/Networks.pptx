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  <p:sldMasterId id="2147483660" r:id="rId6"/>
    <p:sldMasterId id="2147483661" r:id="rId7"/>
    <p:sldMasterId id="2147483662" r:id="rId8"/>
    <p:sldMasterId id="2147483663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y="6858000" cx="9144000"/>
  <p:notesSz cx="6858000" cy="9144000"/>
  <p:embeddedFontLst>
    <p:embeddedFont>
      <p:font typeface="Libre Franklin"/>
      <p:regular r:id="rId34"/>
      <p:bold r:id="rId35"/>
      <p:italic r:id="rId36"/>
      <p:boldItalic r:id="rId37"/>
    </p:embeddedFont>
    <p:embeddedFont>
      <p:font typeface="Arimo"/>
      <p:regular r:id="rId38"/>
      <p:bold r:id="rId39"/>
      <p:italic r:id="rId40"/>
      <p:boldItalic r:id="rId41"/>
    </p:embeddedFont>
    <p:embeddedFont>
      <p:font typeface="Libre Baskervill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9252E2-9426-448E-B126-26AFFFEDDC5A}">
  <a:tblStyle styleId="{639252E2-9426-448E-B126-26AFFFEDDC5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italic.fntdata"/><Relationship Id="rId20" Type="http://schemas.openxmlformats.org/officeDocument/2006/relationships/slide" Target="slides/slide10.xml"/><Relationship Id="rId42" Type="http://schemas.openxmlformats.org/officeDocument/2006/relationships/font" Target="fonts/LibreBaskerville-regular.fntdata"/><Relationship Id="rId41" Type="http://schemas.openxmlformats.org/officeDocument/2006/relationships/font" Target="fonts/Arimo-boldItalic.fntdata"/><Relationship Id="rId22" Type="http://schemas.openxmlformats.org/officeDocument/2006/relationships/slide" Target="slides/slide12.xml"/><Relationship Id="rId44" Type="http://schemas.openxmlformats.org/officeDocument/2006/relationships/font" Target="fonts/LibreBaskerville-italic.fntdata"/><Relationship Id="rId21" Type="http://schemas.openxmlformats.org/officeDocument/2006/relationships/slide" Target="slides/slide11.xml"/><Relationship Id="rId43" Type="http://schemas.openxmlformats.org/officeDocument/2006/relationships/font" Target="fonts/LibreBaskerville-bold.fntdata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45" Type="http://schemas.openxmlformats.org/officeDocument/2006/relationships/font" Target="fonts/LibreBaskervill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font" Target="fonts/LibreFranklin-bold.fntdata"/><Relationship Id="rId12" Type="http://schemas.openxmlformats.org/officeDocument/2006/relationships/slide" Target="slides/slide2.xml"/><Relationship Id="rId34" Type="http://schemas.openxmlformats.org/officeDocument/2006/relationships/font" Target="fonts/LibreFranklin-regular.fntdata"/><Relationship Id="rId15" Type="http://schemas.openxmlformats.org/officeDocument/2006/relationships/slide" Target="slides/slide5.xml"/><Relationship Id="rId37" Type="http://schemas.openxmlformats.org/officeDocument/2006/relationships/font" Target="fonts/LibreFranklin-boldItalic.fntdata"/><Relationship Id="rId14" Type="http://schemas.openxmlformats.org/officeDocument/2006/relationships/slide" Target="slides/slide4.xml"/><Relationship Id="rId36" Type="http://schemas.openxmlformats.org/officeDocument/2006/relationships/font" Target="fonts/LibreFranklin-italic.fntdata"/><Relationship Id="rId17" Type="http://schemas.openxmlformats.org/officeDocument/2006/relationships/slide" Target="slides/slide7.xml"/><Relationship Id="rId39" Type="http://schemas.openxmlformats.org/officeDocument/2006/relationships/font" Target="fonts/Arimo-bold.fntdata"/><Relationship Id="rId16" Type="http://schemas.openxmlformats.org/officeDocument/2006/relationships/slide" Target="slides/slide6.xml"/><Relationship Id="rId38" Type="http://schemas.openxmlformats.org/officeDocument/2006/relationships/font" Target="fonts/Arimo-regular.fntdata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/>
          <p:nvPr>
            <p:ph idx="12" type="sldNum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spcBef>
                <a:spcPts val="375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375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spcBef>
                <a:spcPts val="375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75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70" lvl="1" marL="914400" algn="l">
              <a:spcBef>
                <a:spcPts val="375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spcBef>
                <a:spcPts val="375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20" lvl="3" marL="1828800" algn="l">
              <a:spcBef>
                <a:spcPts val="375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spcBef>
                <a:spcPts val="375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/>
          <p:nvPr>
            <p:ph idx="12" type="sldNum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1065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65087" y="69850"/>
            <a:ext cx="9013825" cy="6691312"/>
          </a:xfrm>
          <a:prstGeom prst="roundRect">
            <a:avLst>
              <a:gd fmla="val 1065" name="adj"/>
            </a:avLst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63500" y="1449387"/>
            <a:ext cx="9020175" cy="152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63500" y="2976562"/>
            <a:ext cx="9020175" cy="111125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9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0" name="Google Shape;80;p11"/>
          <p:cNvSpPr txBox="1"/>
          <p:nvPr/>
        </p:nvSpPr>
        <p:spPr>
          <a:xfrm flipH="1" rot="10800000">
            <a:off x="69850" y="2376487"/>
            <a:ext cx="901382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69850" y="2341562"/>
            <a:ext cx="9013825" cy="46037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68262" y="2468562"/>
            <a:ext cx="9015412" cy="46037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1"/>
          <p:cNvSpPr/>
          <p:nvPr>
            <p:ph idx="12" type="sldNum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1065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1065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3"/>
          <p:cNvSpPr/>
          <p:nvPr>
            <p:ph idx="12" type="sldNum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fmla="val 1065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 flipH="1" rot="10800000">
            <a:off x="68262" y="4683125"/>
            <a:ext cx="9007475" cy="92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8262" y="4649787"/>
            <a:ext cx="9007475" cy="46037"/>
          </a:xfrm>
          <a:prstGeom prst="rect">
            <a:avLst/>
          </a:prstGeom>
          <a:solidFill>
            <a:srgbClr val="E6B1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8262" y="4773612"/>
            <a:ext cx="9007475" cy="47625"/>
          </a:xfrm>
          <a:prstGeom prst="rect">
            <a:avLst/>
          </a:prstGeom>
          <a:solidFill>
            <a:srgbClr val="9184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935" lvl="0" marL="45720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spcBef>
                <a:spcPts val="375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spcBef>
                <a:spcPts val="375"/>
              </a:spcBef>
              <a:spcAft>
                <a:spcPts val="0"/>
              </a:spcAft>
              <a:buClr>
                <a:srgbClr val="A28E6A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5"/>
          <p:cNvSpPr/>
          <p:nvPr>
            <p:ph idx="12" type="sldNum"/>
          </p:nvPr>
        </p:nvSpPr>
        <p:spPr>
          <a:xfrm>
            <a:off x="146050" y="620871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  <a:defRPr b="0" i="0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Networks Defined	</a:t>
            </a:r>
            <a:endParaRPr/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457200" y="1600200"/>
            <a:ext cx="746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Nodes (vertices, points, actors):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endParaRPr/>
          </a:p>
          <a:p>
            <a:pPr indent="-228599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b="0" i="1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{n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… , 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}</a:t>
            </a:r>
            <a:endParaRPr/>
          </a:p>
          <a:p>
            <a:pPr indent="-228599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 = number of nodes in </a:t>
            </a:r>
            <a:r>
              <a:rPr b="0" i="1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endParaRPr/>
          </a:p>
          <a:p>
            <a:pPr indent="-273050" lvl="0" marL="2730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Ties (arcs, edges, lines):  </a:t>
            </a: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28599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Ordered pairs &lt;n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&gt; or  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🡪 n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</a:t>
            </a:r>
            <a:endParaRPr/>
          </a:p>
          <a:p>
            <a:pPr indent="-228599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g(g-1) = total number of ordered pairs (L) in </a:t>
            </a:r>
            <a:r>
              <a:rPr b="0" i="1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</a:t>
            </a:r>
            <a:endParaRPr/>
          </a:p>
          <a:p>
            <a:pPr indent="-228599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Non-directed graph:  L = g(g-1)/2</a:t>
            </a:r>
            <a:endParaRPr/>
          </a:p>
          <a:p>
            <a:pPr indent="-273050" lvl="0" marL="2730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Graph </a:t>
            </a: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(</a:t>
            </a: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</a:t>
            </a:r>
            <a:endParaRPr b="0" i="1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28599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15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09854" lvl="1" marL="54768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43510" lvl="0" marL="2730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43510" lvl="0" marL="2730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43510" lvl="0" marL="27305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1778000" y="5289550"/>
            <a:ext cx="4013200" cy="863600"/>
            <a:chOff x="2514600" y="5029200"/>
            <a:chExt cx="4013200" cy="863600"/>
          </a:xfrm>
        </p:grpSpPr>
        <p:sp>
          <p:nvSpPr>
            <p:cNvPr id="136" name="Google Shape;136;p17"/>
            <p:cNvSpPr/>
            <p:nvPr/>
          </p:nvSpPr>
          <p:spPr>
            <a:xfrm>
              <a:off x="2667000" y="5162550"/>
              <a:ext cx="3721100" cy="635000"/>
            </a:xfrm>
            <a:custGeom>
              <a:rect b="b" l="l" r="r" t="t"/>
              <a:pathLst>
                <a:path extrusionOk="0" h="400" w="2344">
                  <a:moveTo>
                    <a:pt x="0" y="384"/>
                  </a:moveTo>
                  <a:lnTo>
                    <a:pt x="608" y="0"/>
                  </a:lnTo>
                  <a:lnTo>
                    <a:pt x="1048" y="392"/>
                  </a:lnTo>
                  <a:lnTo>
                    <a:pt x="1760" y="0"/>
                  </a:lnTo>
                  <a:lnTo>
                    <a:pt x="2344" y="392"/>
                  </a:lnTo>
                  <a:lnTo>
                    <a:pt x="1064" y="40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2514600" y="5638800"/>
              <a:ext cx="279400" cy="254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3479800" y="5029200"/>
              <a:ext cx="279400" cy="254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4191000" y="5638800"/>
              <a:ext cx="279400" cy="254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6248400" y="5638800"/>
              <a:ext cx="279400" cy="254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5321300" y="5029200"/>
              <a:ext cx="279400" cy="254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</p:grpSp>
      <p:sp>
        <p:nvSpPr>
          <p:cNvPr id="142" name="Google Shape;142;p17"/>
          <p:cNvSpPr/>
          <p:nvPr/>
        </p:nvSpPr>
        <p:spPr>
          <a:xfrm>
            <a:off x="22860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Ties &amp; Graph Types</a:t>
            </a:r>
            <a:endParaRPr/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457200" y="1600200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Binary (1,0) or valued (tie strength)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Directed or Undirected</a:t>
            </a:r>
            <a:endParaRPr/>
          </a:p>
        </p:txBody>
      </p:sp>
      <p:grpSp>
        <p:nvGrpSpPr>
          <p:cNvPr id="149" name="Google Shape;149;p18"/>
          <p:cNvGrpSpPr/>
          <p:nvPr/>
        </p:nvGrpSpPr>
        <p:grpSpPr>
          <a:xfrm>
            <a:off x="990600" y="3200400"/>
            <a:ext cx="6481762" cy="2811462"/>
            <a:chOff x="351" y="1543"/>
            <a:chExt cx="5104" cy="1969"/>
          </a:xfrm>
        </p:grpSpPr>
        <p:grpSp>
          <p:nvGrpSpPr>
            <p:cNvPr id="150" name="Google Shape;150;p18"/>
            <p:cNvGrpSpPr/>
            <p:nvPr/>
          </p:nvGrpSpPr>
          <p:grpSpPr>
            <a:xfrm>
              <a:off x="351" y="1599"/>
              <a:ext cx="2344" cy="544"/>
              <a:chOff x="272" y="2380"/>
              <a:chExt cx="2528" cy="544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368" y="2464"/>
                <a:ext cx="2344" cy="400"/>
              </a:xfrm>
              <a:custGeom>
                <a:rect b="b" l="l" r="r" t="t"/>
                <a:pathLst>
                  <a:path extrusionOk="0" h="400" w="2344">
                    <a:moveTo>
                      <a:pt x="0" y="384"/>
                    </a:moveTo>
                    <a:lnTo>
                      <a:pt x="608" y="0"/>
                    </a:lnTo>
                    <a:lnTo>
                      <a:pt x="1048" y="392"/>
                    </a:lnTo>
                    <a:lnTo>
                      <a:pt x="1760" y="0"/>
                    </a:lnTo>
                    <a:lnTo>
                      <a:pt x="2344" y="392"/>
                    </a:lnTo>
                    <a:lnTo>
                      <a:pt x="1064" y="40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>
                <a:off x="272" y="2764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153" name="Google Shape;153;p18"/>
              <p:cNvSpPr/>
              <p:nvPr/>
            </p:nvSpPr>
            <p:spPr>
              <a:xfrm>
                <a:off x="880" y="2380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>
                <a:off x="1328" y="2764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155" name="Google Shape;155;p18"/>
              <p:cNvSpPr/>
              <p:nvPr/>
            </p:nvSpPr>
            <p:spPr>
              <a:xfrm>
                <a:off x="2624" y="2764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2040" y="2380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</p:grpSp>
        <p:sp>
          <p:nvSpPr>
            <p:cNvPr id="157" name="Google Shape;157;p18"/>
            <p:cNvSpPr txBox="1"/>
            <p:nvPr/>
          </p:nvSpPr>
          <p:spPr>
            <a:xfrm>
              <a:off x="909" y="2226"/>
              <a:ext cx="1347" cy="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Undirected, binary</a:t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3572" y="2170"/>
              <a:ext cx="1268" cy="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 Directed, binary</a:t>
              </a:r>
              <a:endParaRPr/>
            </a:p>
          </p:txBody>
        </p:sp>
        <p:grpSp>
          <p:nvGrpSpPr>
            <p:cNvPr id="159" name="Google Shape;159;p18"/>
            <p:cNvGrpSpPr/>
            <p:nvPr/>
          </p:nvGrpSpPr>
          <p:grpSpPr>
            <a:xfrm>
              <a:off x="3015" y="1543"/>
              <a:ext cx="2344" cy="636"/>
              <a:chOff x="2976" y="2220"/>
              <a:chExt cx="2344" cy="636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2976" y="2604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3540" y="2220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162" name="Google Shape;162;p18"/>
              <p:cNvSpPr/>
              <p:nvPr/>
            </p:nvSpPr>
            <p:spPr>
              <a:xfrm>
                <a:off x="3955" y="2604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163" name="Google Shape;163;p18"/>
              <p:cNvSpPr/>
              <p:nvPr/>
            </p:nvSpPr>
            <p:spPr>
              <a:xfrm>
                <a:off x="5157" y="2604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4615" y="2220"/>
                <a:ext cx="164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165" name="Google Shape;165;p18"/>
              <p:cNvSpPr/>
              <p:nvPr/>
            </p:nvSpPr>
            <p:spPr>
              <a:xfrm>
                <a:off x="3128" y="2320"/>
                <a:ext cx="384" cy="320"/>
              </a:xfrm>
              <a:custGeom>
                <a:rect b="b" l="l" r="r" t="t"/>
                <a:pathLst>
                  <a:path extrusionOk="0" h="320" w="384">
                    <a:moveTo>
                      <a:pt x="0" y="320"/>
                    </a:moveTo>
                    <a:cubicBezTo>
                      <a:pt x="19" y="288"/>
                      <a:pt x="48" y="181"/>
                      <a:pt x="112" y="128"/>
                    </a:cubicBezTo>
                    <a:cubicBezTo>
                      <a:pt x="176" y="75"/>
                      <a:pt x="327" y="27"/>
                      <a:pt x="384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 rot="10800000">
                <a:off x="3144" y="2408"/>
                <a:ext cx="384" cy="320"/>
              </a:xfrm>
              <a:custGeom>
                <a:rect b="b" l="l" r="r" t="t"/>
                <a:pathLst>
                  <a:path extrusionOk="0" h="320" w="384">
                    <a:moveTo>
                      <a:pt x="0" y="320"/>
                    </a:moveTo>
                    <a:cubicBezTo>
                      <a:pt x="19" y="288"/>
                      <a:pt x="48" y="181"/>
                      <a:pt x="112" y="128"/>
                    </a:cubicBezTo>
                    <a:cubicBezTo>
                      <a:pt x="176" y="75"/>
                      <a:pt x="327" y="27"/>
                      <a:pt x="384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>
                <a:off x="4128" y="2304"/>
                <a:ext cx="440" cy="336"/>
              </a:xfrm>
              <a:custGeom>
                <a:rect b="b" l="l" r="r" t="t"/>
                <a:pathLst>
                  <a:path extrusionOk="0" h="336" w="440">
                    <a:moveTo>
                      <a:pt x="0" y="336"/>
                    </a:moveTo>
                    <a:cubicBezTo>
                      <a:pt x="25" y="296"/>
                      <a:pt x="79" y="152"/>
                      <a:pt x="152" y="96"/>
                    </a:cubicBezTo>
                    <a:cubicBezTo>
                      <a:pt x="225" y="40"/>
                      <a:pt x="380" y="20"/>
                      <a:pt x="440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>
                <a:off x="4160" y="2704"/>
                <a:ext cx="952" cy="152"/>
              </a:xfrm>
              <a:custGeom>
                <a:rect b="b" l="l" r="r" t="t"/>
                <a:pathLst>
                  <a:path extrusionOk="0" h="152" w="952">
                    <a:moveTo>
                      <a:pt x="0" y="24"/>
                    </a:moveTo>
                    <a:cubicBezTo>
                      <a:pt x="60" y="43"/>
                      <a:pt x="244" y="120"/>
                      <a:pt x="360" y="136"/>
                    </a:cubicBezTo>
                    <a:cubicBezTo>
                      <a:pt x="476" y="152"/>
                      <a:pt x="597" y="143"/>
                      <a:pt x="696" y="120"/>
                    </a:cubicBezTo>
                    <a:cubicBezTo>
                      <a:pt x="795" y="97"/>
                      <a:pt x="899" y="25"/>
                      <a:pt x="952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8"/>
              <p:cNvSpPr/>
              <p:nvPr/>
            </p:nvSpPr>
            <p:spPr>
              <a:xfrm flipH="1">
                <a:off x="4800" y="2336"/>
                <a:ext cx="384" cy="320"/>
              </a:xfrm>
              <a:custGeom>
                <a:rect b="b" l="l" r="r" t="t"/>
                <a:pathLst>
                  <a:path extrusionOk="0" h="320" w="384">
                    <a:moveTo>
                      <a:pt x="0" y="320"/>
                    </a:moveTo>
                    <a:cubicBezTo>
                      <a:pt x="19" y="288"/>
                      <a:pt x="48" y="181"/>
                      <a:pt x="112" y="128"/>
                    </a:cubicBezTo>
                    <a:cubicBezTo>
                      <a:pt x="176" y="75"/>
                      <a:pt x="327" y="27"/>
                      <a:pt x="384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 rot="10800000">
                <a:off x="4152" y="2536"/>
                <a:ext cx="952" cy="152"/>
              </a:xfrm>
              <a:custGeom>
                <a:rect b="b" l="l" r="r" t="t"/>
                <a:pathLst>
                  <a:path extrusionOk="0" h="152" w="952">
                    <a:moveTo>
                      <a:pt x="0" y="24"/>
                    </a:moveTo>
                    <a:cubicBezTo>
                      <a:pt x="60" y="43"/>
                      <a:pt x="244" y="120"/>
                      <a:pt x="360" y="136"/>
                    </a:cubicBezTo>
                    <a:cubicBezTo>
                      <a:pt x="476" y="152"/>
                      <a:pt x="597" y="143"/>
                      <a:pt x="696" y="120"/>
                    </a:cubicBezTo>
                    <a:cubicBezTo>
                      <a:pt x="795" y="97"/>
                      <a:pt x="899" y="25"/>
                      <a:pt x="952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3680" y="2360"/>
                <a:ext cx="280" cy="264"/>
              </a:xfrm>
              <a:custGeom>
                <a:rect b="b" l="l" r="r" t="t"/>
                <a:pathLst>
                  <a:path extrusionOk="0" h="264" w="280">
                    <a:moveTo>
                      <a:pt x="280" y="264"/>
                    </a:moveTo>
                    <a:cubicBezTo>
                      <a:pt x="265" y="233"/>
                      <a:pt x="239" y="124"/>
                      <a:pt x="192" y="80"/>
                    </a:cubicBezTo>
                    <a:cubicBezTo>
                      <a:pt x="145" y="36"/>
                      <a:pt x="40" y="1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" name="Google Shape;172;p18"/>
            <p:cNvGrpSpPr/>
            <p:nvPr/>
          </p:nvGrpSpPr>
          <p:grpSpPr>
            <a:xfrm>
              <a:off x="447" y="2650"/>
              <a:ext cx="2344" cy="544"/>
              <a:chOff x="272" y="2380"/>
              <a:chExt cx="2528" cy="544"/>
            </a:xfrm>
          </p:grpSpPr>
          <p:sp>
            <p:nvSpPr>
              <p:cNvPr id="173" name="Google Shape;173;p18"/>
              <p:cNvSpPr/>
              <p:nvPr/>
            </p:nvSpPr>
            <p:spPr>
              <a:xfrm>
                <a:off x="368" y="2464"/>
                <a:ext cx="2344" cy="400"/>
              </a:xfrm>
              <a:custGeom>
                <a:rect b="b" l="l" r="r" t="t"/>
                <a:pathLst>
                  <a:path extrusionOk="0" h="400" w="2344">
                    <a:moveTo>
                      <a:pt x="0" y="384"/>
                    </a:moveTo>
                    <a:lnTo>
                      <a:pt x="608" y="0"/>
                    </a:lnTo>
                    <a:lnTo>
                      <a:pt x="1048" y="392"/>
                    </a:lnTo>
                    <a:lnTo>
                      <a:pt x="1760" y="0"/>
                    </a:lnTo>
                    <a:lnTo>
                      <a:pt x="2344" y="392"/>
                    </a:lnTo>
                    <a:lnTo>
                      <a:pt x="1064" y="40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8"/>
              <p:cNvSpPr/>
              <p:nvPr/>
            </p:nvSpPr>
            <p:spPr>
              <a:xfrm>
                <a:off x="272" y="2764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>
                <a:off x="880" y="2380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176" name="Google Shape;176;p18"/>
              <p:cNvSpPr/>
              <p:nvPr/>
            </p:nvSpPr>
            <p:spPr>
              <a:xfrm>
                <a:off x="1328" y="2764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2624" y="2764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2040" y="2380"/>
                <a:ext cx="176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</p:grpSp>
        <p:sp>
          <p:nvSpPr>
            <p:cNvPr id="179" name="Google Shape;179;p18"/>
            <p:cNvSpPr txBox="1"/>
            <p:nvPr/>
          </p:nvSpPr>
          <p:spPr>
            <a:xfrm>
              <a:off x="1005" y="3277"/>
              <a:ext cx="1400" cy="2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Undirected, Valued</a:t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3669" y="3221"/>
              <a:ext cx="1240" cy="2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Directed, Valued</a:t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3111" y="2978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3675" y="2594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4090" y="2978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5292" y="2978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4750" y="2594"/>
              <a:ext cx="164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3263" y="2694"/>
              <a:ext cx="384" cy="320"/>
            </a:xfrm>
            <a:custGeom>
              <a:rect b="b" l="l" r="r" t="t"/>
              <a:pathLst>
                <a:path extrusionOk="0" h="320" w="384">
                  <a:moveTo>
                    <a:pt x="0" y="320"/>
                  </a:moveTo>
                  <a:cubicBezTo>
                    <a:pt x="19" y="288"/>
                    <a:pt x="48" y="181"/>
                    <a:pt x="112" y="128"/>
                  </a:cubicBezTo>
                  <a:cubicBezTo>
                    <a:pt x="176" y="75"/>
                    <a:pt x="327" y="27"/>
                    <a:pt x="384" y="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 rot="10800000">
              <a:off x="3279" y="2782"/>
              <a:ext cx="384" cy="320"/>
            </a:xfrm>
            <a:custGeom>
              <a:rect b="b" l="l" r="r" t="t"/>
              <a:pathLst>
                <a:path extrusionOk="0" h="320" w="384">
                  <a:moveTo>
                    <a:pt x="0" y="320"/>
                  </a:moveTo>
                  <a:cubicBezTo>
                    <a:pt x="19" y="288"/>
                    <a:pt x="48" y="181"/>
                    <a:pt x="112" y="128"/>
                  </a:cubicBezTo>
                  <a:cubicBezTo>
                    <a:pt x="176" y="75"/>
                    <a:pt x="327" y="27"/>
                    <a:pt x="384" y="0"/>
                  </a:cubicBezTo>
                </a:path>
              </a:pathLst>
            </a:cu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4263" y="2678"/>
              <a:ext cx="440" cy="336"/>
            </a:xfrm>
            <a:custGeom>
              <a:rect b="b" l="l" r="r" t="t"/>
              <a:pathLst>
                <a:path extrusionOk="0" h="336" w="440">
                  <a:moveTo>
                    <a:pt x="0" y="336"/>
                  </a:moveTo>
                  <a:cubicBezTo>
                    <a:pt x="25" y="296"/>
                    <a:pt x="79" y="152"/>
                    <a:pt x="152" y="96"/>
                  </a:cubicBezTo>
                  <a:cubicBezTo>
                    <a:pt x="225" y="40"/>
                    <a:pt x="380" y="20"/>
                    <a:pt x="440" y="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4295" y="3078"/>
              <a:ext cx="952" cy="152"/>
            </a:xfrm>
            <a:custGeom>
              <a:rect b="b" l="l" r="r" t="t"/>
              <a:pathLst>
                <a:path extrusionOk="0" h="152" w="952">
                  <a:moveTo>
                    <a:pt x="0" y="24"/>
                  </a:moveTo>
                  <a:cubicBezTo>
                    <a:pt x="60" y="43"/>
                    <a:pt x="244" y="120"/>
                    <a:pt x="360" y="136"/>
                  </a:cubicBezTo>
                  <a:cubicBezTo>
                    <a:pt x="476" y="152"/>
                    <a:pt x="597" y="143"/>
                    <a:pt x="696" y="120"/>
                  </a:cubicBezTo>
                  <a:cubicBezTo>
                    <a:pt x="795" y="97"/>
                    <a:pt x="899" y="25"/>
                    <a:pt x="952" y="0"/>
                  </a:cubicBezTo>
                </a:path>
              </a:pathLst>
            </a:custGeom>
            <a:noFill/>
            <a:ln cap="flat" cmpd="sng" w="571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 flipH="1">
              <a:off x="4935" y="2710"/>
              <a:ext cx="384" cy="320"/>
            </a:xfrm>
            <a:custGeom>
              <a:rect b="b" l="l" r="r" t="t"/>
              <a:pathLst>
                <a:path extrusionOk="0" h="320" w="384">
                  <a:moveTo>
                    <a:pt x="0" y="320"/>
                  </a:moveTo>
                  <a:cubicBezTo>
                    <a:pt x="19" y="288"/>
                    <a:pt x="48" y="181"/>
                    <a:pt x="112" y="128"/>
                  </a:cubicBezTo>
                  <a:cubicBezTo>
                    <a:pt x="176" y="75"/>
                    <a:pt x="327" y="27"/>
                    <a:pt x="384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 rot="10800000">
              <a:off x="4287" y="2910"/>
              <a:ext cx="952" cy="152"/>
            </a:xfrm>
            <a:custGeom>
              <a:rect b="b" l="l" r="r" t="t"/>
              <a:pathLst>
                <a:path extrusionOk="0" h="152" w="952">
                  <a:moveTo>
                    <a:pt x="0" y="24"/>
                  </a:moveTo>
                  <a:cubicBezTo>
                    <a:pt x="60" y="43"/>
                    <a:pt x="244" y="120"/>
                    <a:pt x="360" y="136"/>
                  </a:cubicBezTo>
                  <a:cubicBezTo>
                    <a:pt x="476" y="152"/>
                    <a:pt x="597" y="143"/>
                    <a:pt x="696" y="120"/>
                  </a:cubicBezTo>
                  <a:cubicBezTo>
                    <a:pt x="795" y="97"/>
                    <a:pt x="899" y="25"/>
                    <a:pt x="952" y="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3815" y="2734"/>
              <a:ext cx="280" cy="264"/>
            </a:xfrm>
            <a:custGeom>
              <a:rect b="b" l="l" r="r" t="t"/>
              <a:pathLst>
                <a:path extrusionOk="0" h="264" w="280">
                  <a:moveTo>
                    <a:pt x="280" y="264"/>
                  </a:moveTo>
                  <a:cubicBezTo>
                    <a:pt x="265" y="233"/>
                    <a:pt x="239" y="124"/>
                    <a:pt x="192" y="80"/>
                  </a:cubicBezTo>
                  <a:cubicBezTo>
                    <a:pt x="145" y="36"/>
                    <a:pt x="40" y="1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694" y="2790"/>
              <a:ext cx="215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ibre Baskerville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269" y="2790"/>
              <a:ext cx="215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ibre Baskerville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2054" y="2965"/>
              <a:ext cx="215" cy="2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ibre Baskerville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2374" y="2781"/>
              <a:ext cx="215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ibre Baskerville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  <a:endParaRPr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1741" y="2773"/>
              <a:ext cx="215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Libre Baskerville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</p:grpSp>
      <p:sp>
        <p:nvSpPr>
          <p:cNvPr id="198" name="Google Shape;198;p18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4965700" y="3890962"/>
            <a:ext cx="254000" cy="2333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4965700" y="3890962"/>
            <a:ext cx="254000" cy="2333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4156075" y="3040062"/>
            <a:ext cx="265112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4156075" y="3040062"/>
            <a:ext cx="265112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5294312" y="2759075"/>
            <a:ext cx="25400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294312" y="2759075"/>
            <a:ext cx="254000" cy="246062"/>
          </a:xfrm>
          <a:prstGeom prst="rect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016625" y="3611562"/>
            <a:ext cx="265112" cy="244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016625" y="3611562"/>
            <a:ext cx="265112" cy="244475"/>
          </a:xfrm>
          <a:prstGeom prst="rect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661025" y="4660900"/>
            <a:ext cx="266700" cy="246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5661025" y="4660900"/>
            <a:ext cx="266700" cy="246062"/>
          </a:xfrm>
          <a:prstGeom prst="rect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4371975" y="4556125"/>
            <a:ext cx="265112" cy="2460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371975" y="4556125"/>
            <a:ext cx="265112" cy="2460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2801937" y="2246312"/>
            <a:ext cx="266700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2801937" y="2246312"/>
            <a:ext cx="266700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295650" y="1744662"/>
            <a:ext cx="266700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295650" y="1744662"/>
            <a:ext cx="266700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4168775" y="1581150"/>
            <a:ext cx="265112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4168775" y="1581150"/>
            <a:ext cx="265112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5548312" y="1616075"/>
            <a:ext cx="265112" cy="2333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5548312" y="1616075"/>
            <a:ext cx="265112" cy="2333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6091237" y="1733550"/>
            <a:ext cx="266700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6091237" y="1733550"/>
            <a:ext cx="266700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129337" y="2386012"/>
            <a:ext cx="266700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6129337" y="2386012"/>
            <a:ext cx="266700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7192962" y="3249612"/>
            <a:ext cx="265112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7192962" y="3249612"/>
            <a:ext cx="265112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7231062" y="3973512"/>
            <a:ext cx="265112" cy="244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7231062" y="3973512"/>
            <a:ext cx="265112" cy="244475"/>
          </a:xfrm>
          <a:prstGeom prst="rect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38950" y="5664200"/>
            <a:ext cx="265112" cy="2333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6838950" y="5664200"/>
            <a:ext cx="265112" cy="2333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915025" y="6073775"/>
            <a:ext cx="265112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5915025" y="6073775"/>
            <a:ext cx="265112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4346575" y="6073775"/>
            <a:ext cx="265112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346575" y="6073775"/>
            <a:ext cx="265112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2916237" y="5792787"/>
            <a:ext cx="265112" cy="2460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2916237" y="5792787"/>
            <a:ext cx="265112" cy="2460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2562225" y="4206875"/>
            <a:ext cx="265112" cy="244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2562225" y="4206875"/>
            <a:ext cx="265112" cy="244475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2776537" y="2935287"/>
            <a:ext cx="254000" cy="2333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2776537" y="2935287"/>
            <a:ext cx="254000" cy="2333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2954337" y="4953000"/>
            <a:ext cx="265112" cy="2333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2954337" y="4953000"/>
            <a:ext cx="265112" cy="233362"/>
          </a:xfrm>
          <a:prstGeom prst="rect">
            <a:avLst/>
          </a:prstGeom>
          <a:noFill/>
          <a:ln cap="sq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2903537" y="1720850"/>
            <a:ext cx="4327525" cy="4468812"/>
          </a:xfrm>
          <a:custGeom>
            <a:rect b="b" l="l" r="r" t="t"/>
            <a:pathLst>
              <a:path extrusionOk="0" h="2298" w="2052">
                <a:moveTo>
                  <a:pt x="1098" y="1158"/>
                </a:moveTo>
                <a:lnTo>
                  <a:pt x="1476" y="1050"/>
                </a:lnTo>
                <a:moveTo>
                  <a:pt x="1056" y="1116"/>
                </a:moveTo>
                <a:lnTo>
                  <a:pt x="1176" y="660"/>
                </a:lnTo>
                <a:moveTo>
                  <a:pt x="984" y="1116"/>
                </a:moveTo>
                <a:lnTo>
                  <a:pt x="708" y="804"/>
                </a:lnTo>
                <a:moveTo>
                  <a:pt x="984" y="1236"/>
                </a:moveTo>
                <a:lnTo>
                  <a:pt x="810" y="1458"/>
                </a:lnTo>
                <a:moveTo>
                  <a:pt x="1092" y="1236"/>
                </a:moveTo>
                <a:lnTo>
                  <a:pt x="1320" y="1512"/>
                </a:lnTo>
                <a:moveTo>
                  <a:pt x="1242" y="660"/>
                </a:moveTo>
                <a:lnTo>
                  <a:pt x="1488" y="972"/>
                </a:lnTo>
                <a:moveTo>
                  <a:pt x="822" y="1524"/>
                </a:moveTo>
                <a:lnTo>
                  <a:pt x="1308" y="1566"/>
                </a:lnTo>
                <a:moveTo>
                  <a:pt x="696" y="1536"/>
                </a:moveTo>
                <a:lnTo>
                  <a:pt x="150" y="1704"/>
                </a:lnTo>
                <a:moveTo>
                  <a:pt x="756" y="1584"/>
                </a:moveTo>
                <a:lnTo>
                  <a:pt x="750" y="2238"/>
                </a:lnTo>
                <a:moveTo>
                  <a:pt x="1434" y="1632"/>
                </a:moveTo>
                <a:lnTo>
                  <a:pt x="1866" y="2028"/>
                </a:lnTo>
                <a:moveTo>
                  <a:pt x="810" y="2298"/>
                </a:moveTo>
                <a:lnTo>
                  <a:pt x="1428" y="2298"/>
                </a:lnTo>
                <a:moveTo>
                  <a:pt x="132" y="2172"/>
                </a:moveTo>
                <a:lnTo>
                  <a:pt x="684" y="2286"/>
                </a:lnTo>
                <a:moveTo>
                  <a:pt x="84" y="1782"/>
                </a:moveTo>
                <a:lnTo>
                  <a:pt x="72" y="2094"/>
                </a:lnTo>
                <a:moveTo>
                  <a:pt x="1254" y="570"/>
                </a:moveTo>
                <a:lnTo>
                  <a:pt x="1530" y="432"/>
                </a:lnTo>
                <a:moveTo>
                  <a:pt x="1590" y="342"/>
                </a:moveTo>
                <a:lnTo>
                  <a:pt x="1578" y="132"/>
                </a:lnTo>
                <a:moveTo>
                  <a:pt x="1548" y="342"/>
                </a:moveTo>
                <a:lnTo>
                  <a:pt x="1362" y="66"/>
                </a:lnTo>
                <a:moveTo>
                  <a:pt x="1380" y="18"/>
                </a:moveTo>
                <a:lnTo>
                  <a:pt x="1512" y="54"/>
                </a:lnTo>
                <a:moveTo>
                  <a:pt x="1308" y="66"/>
                </a:moveTo>
                <a:lnTo>
                  <a:pt x="1206" y="534"/>
                </a:lnTo>
                <a:moveTo>
                  <a:pt x="1602" y="1014"/>
                </a:moveTo>
                <a:lnTo>
                  <a:pt x="2034" y="870"/>
                </a:lnTo>
                <a:moveTo>
                  <a:pt x="1602" y="1056"/>
                </a:moveTo>
                <a:lnTo>
                  <a:pt x="2052" y="1200"/>
                </a:lnTo>
                <a:moveTo>
                  <a:pt x="654" y="678"/>
                </a:moveTo>
                <a:lnTo>
                  <a:pt x="660" y="54"/>
                </a:lnTo>
                <a:moveTo>
                  <a:pt x="618" y="678"/>
                </a:moveTo>
                <a:lnTo>
                  <a:pt x="288" y="138"/>
                </a:lnTo>
                <a:moveTo>
                  <a:pt x="312" y="60"/>
                </a:moveTo>
                <a:lnTo>
                  <a:pt x="600" y="0"/>
                </a:lnTo>
                <a:moveTo>
                  <a:pt x="12" y="396"/>
                </a:moveTo>
                <a:lnTo>
                  <a:pt x="0" y="624"/>
                </a:lnTo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19"/>
          <p:cNvGrpSpPr/>
          <p:nvPr/>
        </p:nvGrpSpPr>
        <p:grpSpPr>
          <a:xfrm>
            <a:off x="3035300" y="2559050"/>
            <a:ext cx="3478212" cy="2593975"/>
            <a:chOff x="1912" y="1612"/>
            <a:chExt cx="2191" cy="1634"/>
          </a:xfrm>
        </p:grpSpPr>
        <p:sp>
          <p:nvSpPr>
            <p:cNvPr id="247" name="Google Shape;247;p19"/>
            <p:cNvSpPr/>
            <p:nvPr/>
          </p:nvSpPr>
          <p:spPr>
            <a:xfrm>
              <a:off x="2440" y="1612"/>
              <a:ext cx="1663" cy="1634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9"/>
            <p:cNvSpPr txBox="1"/>
            <p:nvPr/>
          </p:nvSpPr>
          <p:spPr>
            <a:xfrm>
              <a:off x="1912" y="2266"/>
              <a:ext cx="55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Ego-Net</a:t>
              </a:r>
              <a:endParaRPr/>
            </a:p>
          </p:txBody>
        </p:sp>
      </p:grpSp>
      <p:sp>
        <p:nvSpPr>
          <p:cNvPr id="249" name="Google Shape;249;p19"/>
          <p:cNvSpPr txBox="1"/>
          <p:nvPr/>
        </p:nvSpPr>
        <p:spPr>
          <a:xfrm>
            <a:off x="1212850" y="2152650"/>
            <a:ext cx="1325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</a:pPr>
            <a:r>
              <a:rPr b="0" i="0" lang="en-US" sz="20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Global-Net</a:t>
            </a:r>
            <a:endParaRPr/>
          </a:p>
        </p:txBody>
      </p:sp>
      <p:cxnSp>
        <p:nvCxnSpPr>
          <p:cNvPr id="250" name="Google Shape;250;p19"/>
          <p:cNvCxnSpPr/>
          <p:nvPr/>
        </p:nvCxnSpPr>
        <p:spPr>
          <a:xfrm flipH="1" rot="10800000">
            <a:off x="5219700" y="3783012"/>
            <a:ext cx="771525" cy="188912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251" name="Google Shape;251;p19"/>
          <p:cNvGrpSpPr/>
          <p:nvPr/>
        </p:nvGrpSpPr>
        <p:grpSpPr>
          <a:xfrm>
            <a:off x="4761846" y="3407659"/>
            <a:ext cx="2032653" cy="1223078"/>
            <a:chOff x="3178" y="1929"/>
            <a:chExt cx="1280" cy="770"/>
          </a:xfrm>
        </p:grpSpPr>
        <p:sp>
          <p:nvSpPr>
            <p:cNvPr id="252" name="Google Shape;252;p19"/>
            <p:cNvSpPr/>
            <p:nvPr/>
          </p:nvSpPr>
          <p:spPr>
            <a:xfrm rot="-960000">
              <a:off x="3203" y="2064"/>
              <a:ext cx="1029" cy="329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3747" y="2333"/>
              <a:ext cx="711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Best Friend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Dyad</a:t>
              </a:r>
              <a:endParaRPr/>
            </a:p>
          </p:txBody>
        </p:sp>
      </p:grpSp>
      <p:cxnSp>
        <p:nvCxnSpPr>
          <p:cNvPr id="254" name="Google Shape;254;p19"/>
          <p:cNvCxnSpPr/>
          <p:nvPr/>
        </p:nvCxnSpPr>
        <p:spPr>
          <a:xfrm flipH="1" rot="10800000">
            <a:off x="6134100" y="2600325"/>
            <a:ext cx="109537" cy="9937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5" name="Google Shape;255;p19"/>
          <p:cNvCxnSpPr/>
          <p:nvPr/>
        </p:nvCxnSpPr>
        <p:spPr>
          <a:xfrm>
            <a:off x="6370637" y="2506662"/>
            <a:ext cx="850900" cy="835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6" name="Google Shape;256;p19"/>
          <p:cNvCxnSpPr/>
          <p:nvPr/>
        </p:nvCxnSpPr>
        <p:spPr>
          <a:xfrm>
            <a:off x="7285037" y="3467100"/>
            <a:ext cx="0" cy="52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257" name="Google Shape;257;p19"/>
          <p:cNvGrpSpPr/>
          <p:nvPr/>
        </p:nvGrpSpPr>
        <p:grpSpPr>
          <a:xfrm>
            <a:off x="4532312" y="1143000"/>
            <a:ext cx="3517900" cy="3541712"/>
            <a:chOff x="2855" y="720"/>
            <a:chExt cx="2216" cy="2231"/>
          </a:xfrm>
        </p:grpSpPr>
        <p:sp>
          <p:nvSpPr>
            <p:cNvPr id="258" name="Google Shape;258;p19"/>
            <p:cNvSpPr/>
            <p:nvPr/>
          </p:nvSpPr>
          <p:spPr>
            <a:xfrm>
              <a:off x="2855" y="720"/>
              <a:ext cx="2149" cy="2231"/>
            </a:xfrm>
            <a:custGeom>
              <a:rect b="b" l="l" r="r" t="t"/>
              <a:pathLst>
                <a:path extrusionOk="0" h="2231" w="2149">
                  <a:moveTo>
                    <a:pt x="36" y="1782"/>
                  </a:moveTo>
                  <a:cubicBezTo>
                    <a:pt x="72" y="2095"/>
                    <a:pt x="407" y="2072"/>
                    <a:pt x="741" y="2100"/>
                  </a:cubicBezTo>
                  <a:cubicBezTo>
                    <a:pt x="1075" y="2128"/>
                    <a:pt x="1935" y="2231"/>
                    <a:pt x="2042" y="1951"/>
                  </a:cubicBezTo>
                  <a:cubicBezTo>
                    <a:pt x="2149" y="1671"/>
                    <a:pt x="1639" y="710"/>
                    <a:pt x="1386" y="422"/>
                  </a:cubicBezTo>
                  <a:cubicBezTo>
                    <a:pt x="1133" y="134"/>
                    <a:pt x="752" y="0"/>
                    <a:pt x="522" y="223"/>
                  </a:cubicBezTo>
                  <a:cubicBezTo>
                    <a:pt x="292" y="446"/>
                    <a:pt x="0" y="1469"/>
                    <a:pt x="36" y="178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4541" y="1329"/>
              <a:ext cx="53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Primary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Group</a:t>
              </a:r>
              <a:endParaRPr/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1563687" y="1108075"/>
            <a:ext cx="6696075" cy="5500687"/>
            <a:chOff x="985" y="698"/>
            <a:chExt cx="4218" cy="3465"/>
          </a:xfrm>
        </p:grpSpPr>
        <p:sp>
          <p:nvSpPr>
            <p:cNvPr id="261" name="Google Shape;261;p19"/>
            <p:cNvSpPr/>
            <p:nvPr/>
          </p:nvSpPr>
          <p:spPr>
            <a:xfrm>
              <a:off x="1605" y="698"/>
              <a:ext cx="3598" cy="3465"/>
            </a:xfrm>
            <a:custGeom>
              <a:rect b="b" l="l" r="r" t="t"/>
              <a:pathLst>
                <a:path extrusionOk="0" h="3465" w="3598">
                  <a:moveTo>
                    <a:pt x="431" y="325"/>
                  </a:moveTo>
                  <a:cubicBezTo>
                    <a:pt x="370" y="650"/>
                    <a:pt x="898" y="1727"/>
                    <a:pt x="838" y="2073"/>
                  </a:cubicBezTo>
                  <a:cubicBezTo>
                    <a:pt x="778" y="2419"/>
                    <a:pt x="0" y="2183"/>
                    <a:pt x="73" y="2400"/>
                  </a:cubicBezTo>
                  <a:cubicBezTo>
                    <a:pt x="146" y="2617"/>
                    <a:pt x="729" y="3465"/>
                    <a:pt x="1275" y="3374"/>
                  </a:cubicBezTo>
                  <a:cubicBezTo>
                    <a:pt x="1821" y="3283"/>
                    <a:pt x="3104" y="2299"/>
                    <a:pt x="3351" y="1854"/>
                  </a:cubicBezTo>
                  <a:cubicBezTo>
                    <a:pt x="3598" y="1409"/>
                    <a:pt x="3020" y="905"/>
                    <a:pt x="2755" y="702"/>
                  </a:cubicBezTo>
                  <a:cubicBezTo>
                    <a:pt x="2490" y="499"/>
                    <a:pt x="2020" y="729"/>
                    <a:pt x="1762" y="633"/>
                  </a:cubicBezTo>
                  <a:cubicBezTo>
                    <a:pt x="1504" y="537"/>
                    <a:pt x="1428" y="182"/>
                    <a:pt x="1205" y="126"/>
                  </a:cubicBezTo>
                  <a:cubicBezTo>
                    <a:pt x="982" y="70"/>
                    <a:pt x="492" y="0"/>
                    <a:pt x="431" y="3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985" y="3155"/>
              <a:ext cx="904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2-step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Libre Baskerville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Partial network</a:t>
              </a:r>
              <a:endParaRPr/>
            </a:p>
          </p:txBody>
        </p:sp>
      </p:grpSp>
      <p:sp>
        <p:nvSpPr>
          <p:cNvPr id="263" name="Google Shape;263;p19"/>
          <p:cNvSpPr txBox="1"/>
          <p:nvPr>
            <p:ph type="title"/>
          </p:nvPr>
        </p:nvSpPr>
        <p:spPr>
          <a:xfrm>
            <a:off x="457200" y="274637"/>
            <a:ext cx="8229600" cy="8334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Network Components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/>
        </p:nvSpPr>
        <p:spPr>
          <a:xfrm>
            <a:off x="663575" y="1417637"/>
            <a:ext cx="672623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</a:pPr>
            <a:r>
              <a:rPr b="0" i="0" lang="en-US" sz="20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standard way to draw a sociogram: each of these are equal</a:t>
            </a:r>
            <a:endParaRPr/>
          </a:p>
        </p:txBody>
      </p:sp>
      <p:pic>
        <p:nvPicPr>
          <p:cNvPr id="270" name="Google Shape;270;p20"/>
          <p:cNvPicPr preferRelativeResize="0"/>
          <p:nvPr/>
        </p:nvPicPr>
        <p:blipFill rotWithShape="1">
          <a:blip r:embed="rId3">
            <a:alphaModFix/>
          </a:blip>
          <a:srcRect b="65950" l="3125" r="77734" t="9677"/>
          <a:stretch/>
        </p:blipFill>
        <p:spPr>
          <a:xfrm>
            <a:off x="6103937" y="2647950"/>
            <a:ext cx="1866900" cy="1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0"/>
          <p:cNvPicPr preferRelativeResize="0"/>
          <p:nvPr/>
        </p:nvPicPr>
        <p:blipFill rotWithShape="1">
          <a:blip r:embed="rId4">
            <a:alphaModFix/>
          </a:blip>
          <a:srcRect b="53047" l="20182" r="41665" t="12185"/>
          <a:stretch/>
        </p:blipFill>
        <p:spPr>
          <a:xfrm>
            <a:off x="817562" y="2571750"/>
            <a:ext cx="2838450" cy="18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/>
          <p:cNvPicPr preferRelativeResize="0"/>
          <p:nvPr/>
        </p:nvPicPr>
        <p:blipFill rotWithShape="1">
          <a:blip r:embed="rId5">
            <a:alphaModFix/>
          </a:blip>
          <a:srcRect b="66308" l="31379" r="49609" t="10752"/>
          <a:stretch/>
        </p:blipFill>
        <p:spPr>
          <a:xfrm>
            <a:off x="3952875" y="2698750"/>
            <a:ext cx="1854200" cy="1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/>
          <p:cNvPicPr preferRelativeResize="0"/>
          <p:nvPr/>
        </p:nvPicPr>
        <p:blipFill rotWithShape="1">
          <a:blip r:embed="rId6">
            <a:alphaModFix/>
          </a:blip>
          <a:srcRect b="50895" l="23176" r="52865" t="19175"/>
          <a:stretch/>
        </p:blipFill>
        <p:spPr>
          <a:xfrm>
            <a:off x="3841750" y="4584700"/>
            <a:ext cx="2085975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Sociograms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/>
        </p:nvSpPr>
        <p:spPr>
          <a:xfrm>
            <a:off x="396875" y="1098550"/>
            <a:ext cx="77136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Network visualization helps build intuition, but you have to keep the drawing algorithm in mind:</a:t>
            </a:r>
            <a:endParaRPr/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3">
            <a:alphaModFix/>
          </a:blip>
          <a:srcRect b="39183" l="28971" r="49830" t="33283"/>
          <a:stretch/>
        </p:blipFill>
        <p:spPr>
          <a:xfrm>
            <a:off x="517525" y="2351087"/>
            <a:ext cx="2584450" cy="2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760412" y="1962150"/>
            <a:ext cx="195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Tree-Based layouts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571500" y="5068887"/>
            <a:ext cx="2551112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None/>
            </a:pPr>
            <a:r>
              <a:rPr b="0" i="0" lang="en-US" sz="14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Most effective for very sparse, regular graphs.  Very useful when relations are strongly directed, such as organization charts, internet connections,</a:t>
            </a:r>
            <a:endParaRPr/>
          </a:p>
        </p:txBody>
      </p:sp>
      <p:pic>
        <p:nvPicPr>
          <p:cNvPr id="284" name="Google Shape;284;p21"/>
          <p:cNvPicPr preferRelativeResize="0"/>
          <p:nvPr/>
        </p:nvPicPr>
        <p:blipFill rotWithShape="1">
          <a:blip r:embed="rId4">
            <a:alphaModFix/>
          </a:blip>
          <a:srcRect b="48266" l="2644" r="45924" t="7583"/>
          <a:stretch/>
        </p:blipFill>
        <p:spPr>
          <a:xfrm>
            <a:off x="4176712" y="2351087"/>
            <a:ext cx="3587750" cy="2738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5046662" y="1925637"/>
            <a:ext cx="2374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Spring-embeder layouts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4081462" y="5259387"/>
            <a:ext cx="4103687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None/>
            </a:pPr>
            <a:r>
              <a:rPr b="0" i="0" lang="en-US" sz="14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Most effective with graphs that have a strong community structure (clustering, etc).  Provides a very clear correspondence between social distance and plotted distance 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2538412" y="6303962"/>
            <a:ext cx="322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Two images of the same network</a:t>
            </a:r>
            <a:endParaRPr/>
          </a:p>
        </p:txBody>
      </p:sp>
      <p:sp>
        <p:nvSpPr>
          <p:cNvPr id="288" name="Google Shape;288;p21"/>
          <p:cNvSpPr txBox="1"/>
          <p:nvPr>
            <p:ph type="title"/>
          </p:nvPr>
        </p:nvSpPr>
        <p:spPr>
          <a:xfrm>
            <a:off x="457200" y="471487"/>
            <a:ext cx="8229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ibre Franklin"/>
              <a:buNone/>
            </a:pPr>
            <a:r>
              <a:rPr b="0" i="0" lang="en-US" sz="29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Network Visualization</a:t>
            </a:r>
            <a:br>
              <a:rPr b="0" i="0" lang="en-US" sz="29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/>
          <p:nvPr/>
        </p:nvSpPr>
        <p:spPr>
          <a:xfrm>
            <a:off x="396875" y="1098550"/>
            <a:ext cx="77136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Network visualization helps build intuition, but you have to keep the drawing algorithm in mind: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760412" y="1962150"/>
            <a:ext cx="195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Tree-Based layouts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5046662" y="1925637"/>
            <a:ext cx="2374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Spring-embeder layouts</a:t>
            </a:r>
            <a:endParaRPr/>
          </a:p>
        </p:txBody>
      </p:sp>
      <p:pic>
        <p:nvPicPr>
          <p:cNvPr id="297" name="Google Shape;297;p22"/>
          <p:cNvPicPr preferRelativeResize="0"/>
          <p:nvPr/>
        </p:nvPicPr>
        <p:blipFill rotWithShape="1">
          <a:blip r:embed="rId3">
            <a:alphaModFix/>
          </a:blip>
          <a:srcRect b="23266" l="3398" r="79426" t="12232"/>
          <a:stretch/>
        </p:blipFill>
        <p:spPr>
          <a:xfrm>
            <a:off x="679450" y="2411412"/>
            <a:ext cx="2093912" cy="38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 rotWithShape="1">
          <a:blip r:embed="rId4">
            <a:alphaModFix/>
          </a:blip>
          <a:srcRect b="60366" l="2668" r="60313" t="8283"/>
          <a:stretch/>
        </p:blipFill>
        <p:spPr>
          <a:xfrm>
            <a:off x="3902075" y="2589212"/>
            <a:ext cx="4513262" cy="298608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 txBox="1"/>
          <p:nvPr/>
        </p:nvSpPr>
        <p:spPr>
          <a:xfrm>
            <a:off x="2538412" y="6303962"/>
            <a:ext cx="322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Two images of the same network</a:t>
            </a:r>
            <a:endParaRPr/>
          </a:p>
        </p:txBody>
      </p:sp>
      <p:sp>
        <p:nvSpPr>
          <p:cNvPr id="300" name="Google Shape;300;p22"/>
          <p:cNvSpPr txBox="1"/>
          <p:nvPr>
            <p:ph type="title"/>
          </p:nvPr>
        </p:nvSpPr>
        <p:spPr>
          <a:xfrm>
            <a:off x="457200" y="471487"/>
            <a:ext cx="8229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ibre Franklin"/>
              <a:buNone/>
            </a:pPr>
            <a:r>
              <a:rPr b="0" i="0" lang="en-US" sz="29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Network Visualization</a:t>
            </a:r>
            <a:br>
              <a:rPr b="0" i="0" lang="en-US" sz="29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Sociomatrices</a:t>
            </a:r>
            <a:endParaRPr/>
          </a:p>
        </p:txBody>
      </p:sp>
      <p:sp>
        <p:nvSpPr>
          <p:cNvPr id="307" name="Google Shape;307;p2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{n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… , 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}</a:t>
            </a:r>
            <a:endParaRPr/>
          </a:p>
          <a:p>
            <a:pPr indent="-342900" lvl="1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 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 A single valued, directional relationship, e.g., gives advice to, places a telephone call to.</a:t>
            </a:r>
            <a:endParaRPr/>
          </a:p>
          <a:p>
            <a:pPr indent="-342900" lvl="1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X: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Sociomatrix</a:t>
            </a:r>
            <a:endParaRPr/>
          </a:p>
          <a:p>
            <a:pPr indent="-342900" lvl="2" marL="7429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</a:pPr>
            <a:r>
              <a:rPr b="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Elements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r>
              <a:rPr b="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are x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ij</a:t>
            </a:r>
            <a:endParaRPr/>
          </a:p>
          <a:p>
            <a:pPr indent="-342900" lvl="2" marL="7429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6B1AB"/>
              </a:buClr>
              <a:buSzPts val="1700"/>
              <a:buFont typeface="Noto Sans Symbols"/>
              <a:buChar char="⚫"/>
            </a:pPr>
            <a:r>
              <a:rPr b="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ij</a:t>
            </a:r>
            <a:r>
              <a:rPr b="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the value of the tie from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to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</a:t>
            </a:r>
            <a:r>
              <a:rPr b="0" i="0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on relation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endParaRPr/>
          </a:p>
          <a:p>
            <a:pPr indent="-342900" lvl="1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Adjacency Matrix:  when 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ij 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1,0 </a:t>
            </a:r>
            <a:endParaRPr/>
          </a:p>
          <a:p>
            <a:pPr indent="-213360" lvl="1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43510" lvl="0" marL="27305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4"/>
          <p:cNvGrpSpPr/>
          <p:nvPr/>
        </p:nvGrpSpPr>
        <p:grpSpPr>
          <a:xfrm>
            <a:off x="396875" y="2174875"/>
            <a:ext cx="3721100" cy="863600"/>
            <a:chOff x="272" y="2380"/>
            <a:chExt cx="2528" cy="544"/>
          </a:xfrm>
        </p:grpSpPr>
        <p:sp>
          <p:nvSpPr>
            <p:cNvPr id="314" name="Google Shape;314;p24"/>
            <p:cNvSpPr/>
            <p:nvPr/>
          </p:nvSpPr>
          <p:spPr>
            <a:xfrm>
              <a:off x="368" y="2464"/>
              <a:ext cx="2344" cy="400"/>
            </a:xfrm>
            <a:custGeom>
              <a:rect b="b" l="l" r="r" t="t"/>
              <a:pathLst>
                <a:path extrusionOk="0" h="400" w="2344">
                  <a:moveTo>
                    <a:pt x="0" y="384"/>
                  </a:moveTo>
                  <a:lnTo>
                    <a:pt x="608" y="0"/>
                  </a:lnTo>
                  <a:lnTo>
                    <a:pt x="1048" y="392"/>
                  </a:lnTo>
                  <a:lnTo>
                    <a:pt x="1760" y="0"/>
                  </a:lnTo>
                  <a:lnTo>
                    <a:pt x="2344" y="392"/>
                  </a:lnTo>
                  <a:lnTo>
                    <a:pt x="1064" y="40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272" y="2764"/>
              <a:ext cx="176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880" y="2380"/>
              <a:ext cx="176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1328" y="2764"/>
              <a:ext cx="176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2624" y="2764"/>
              <a:ext cx="176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2040" y="2380"/>
              <a:ext cx="176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</p:grpSp>
      <p:sp>
        <p:nvSpPr>
          <p:cNvPr id="320" name="Google Shape;320;p24"/>
          <p:cNvSpPr txBox="1"/>
          <p:nvPr/>
        </p:nvSpPr>
        <p:spPr>
          <a:xfrm>
            <a:off x="1282700" y="3125787"/>
            <a:ext cx="17113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Baskerville"/>
              <a:buNone/>
            </a:pPr>
            <a:r>
              <a:rPr b="0" i="0" lang="en-US" sz="1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Undirected, binary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5765800" y="3125787"/>
            <a:ext cx="15081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Baskerville"/>
              <a:buNone/>
            </a:pPr>
            <a:r>
              <a:rPr b="0" i="0" lang="en-US" sz="1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Directed, binary</a:t>
            </a:r>
            <a:endParaRPr/>
          </a:p>
        </p:txBody>
      </p:sp>
      <p:grpSp>
        <p:nvGrpSpPr>
          <p:cNvPr id="322" name="Google Shape;322;p24"/>
          <p:cNvGrpSpPr/>
          <p:nvPr/>
        </p:nvGrpSpPr>
        <p:grpSpPr>
          <a:xfrm>
            <a:off x="4879975" y="2085975"/>
            <a:ext cx="3721100" cy="1009650"/>
            <a:chOff x="2976" y="2220"/>
            <a:chExt cx="2344" cy="636"/>
          </a:xfrm>
        </p:grpSpPr>
        <p:sp>
          <p:nvSpPr>
            <p:cNvPr id="323" name="Google Shape;323;p24"/>
            <p:cNvSpPr/>
            <p:nvPr/>
          </p:nvSpPr>
          <p:spPr>
            <a:xfrm>
              <a:off x="2976" y="2604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3540" y="2220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3955" y="2604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5157" y="2604"/>
              <a:ext cx="163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4615" y="2220"/>
              <a:ext cx="164" cy="16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128" y="2320"/>
              <a:ext cx="384" cy="320"/>
            </a:xfrm>
            <a:custGeom>
              <a:rect b="b" l="l" r="r" t="t"/>
              <a:pathLst>
                <a:path extrusionOk="0" h="320" w="384">
                  <a:moveTo>
                    <a:pt x="0" y="320"/>
                  </a:moveTo>
                  <a:cubicBezTo>
                    <a:pt x="19" y="288"/>
                    <a:pt x="48" y="181"/>
                    <a:pt x="112" y="128"/>
                  </a:cubicBezTo>
                  <a:cubicBezTo>
                    <a:pt x="176" y="75"/>
                    <a:pt x="327" y="27"/>
                    <a:pt x="384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 rot="10800000">
              <a:off x="3144" y="2408"/>
              <a:ext cx="384" cy="320"/>
            </a:xfrm>
            <a:custGeom>
              <a:rect b="b" l="l" r="r" t="t"/>
              <a:pathLst>
                <a:path extrusionOk="0" h="320" w="384">
                  <a:moveTo>
                    <a:pt x="0" y="320"/>
                  </a:moveTo>
                  <a:cubicBezTo>
                    <a:pt x="19" y="288"/>
                    <a:pt x="48" y="181"/>
                    <a:pt x="112" y="128"/>
                  </a:cubicBezTo>
                  <a:cubicBezTo>
                    <a:pt x="176" y="75"/>
                    <a:pt x="327" y="27"/>
                    <a:pt x="384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4128" y="2304"/>
              <a:ext cx="440" cy="336"/>
            </a:xfrm>
            <a:custGeom>
              <a:rect b="b" l="l" r="r" t="t"/>
              <a:pathLst>
                <a:path extrusionOk="0" h="336" w="440">
                  <a:moveTo>
                    <a:pt x="0" y="336"/>
                  </a:moveTo>
                  <a:cubicBezTo>
                    <a:pt x="25" y="296"/>
                    <a:pt x="79" y="152"/>
                    <a:pt x="152" y="96"/>
                  </a:cubicBezTo>
                  <a:cubicBezTo>
                    <a:pt x="225" y="40"/>
                    <a:pt x="380" y="20"/>
                    <a:pt x="44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4160" y="2704"/>
              <a:ext cx="952" cy="152"/>
            </a:xfrm>
            <a:custGeom>
              <a:rect b="b" l="l" r="r" t="t"/>
              <a:pathLst>
                <a:path extrusionOk="0" h="152" w="952">
                  <a:moveTo>
                    <a:pt x="0" y="24"/>
                  </a:moveTo>
                  <a:cubicBezTo>
                    <a:pt x="60" y="43"/>
                    <a:pt x="244" y="120"/>
                    <a:pt x="360" y="136"/>
                  </a:cubicBezTo>
                  <a:cubicBezTo>
                    <a:pt x="476" y="152"/>
                    <a:pt x="597" y="143"/>
                    <a:pt x="696" y="120"/>
                  </a:cubicBezTo>
                  <a:cubicBezTo>
                    <a:pt x="795" y="97"/>
                    <a:pt x="899" y="25"/>
                    <a:pt x="952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 flipH="1">
              <a:off x="4800" y="2336"/>
              <a:ext cx="384" cy="320"/>
            </a:xfrm>
            <a:custGeom>
              <a:rect b="b" l="l" r="r" t="t"/>
              <a:pathLst>
                <a:path extrusionOk="0" h="320" w="384">
                  <a:moveTo>
                    <a:pt x="0" y="320"/>
                  </a:moveTo>
                  <a:cubicBezTo>
                    <a:pt x="19" y="288"/>
                    <a:pt x="48" y="181"/>
                    <a:pt x="112" y="128"/>
                  </a:cubicBezTo>
                  <a:cubicBezTo>
                    <a:pt x="176" y="75"/>
                    <a:pt x="327" y="27"/>
                    <a:pt x="384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 rot="10800000">
              <a:off x="4152" y="2536"/>
              <a:ext cx="952" cy="152"/>
            </a:xfrm>
            <a:custGeom>
              <a:rect b="b" l="l" r="r" t="t"/>
              <a:pathLst>
                <a:path extrusionOk="0" h="152" w="952">
                  <a:moveTo>
                    <a:pt x="0" y="24"/>
                  </a:moveTo>
                  <a:cubicBezTo>
                    <a:pt x="60" y="43"/>
                    <a:pt x="244" y="120"/>
                    <a:pt x="360" y="136"/>
                  </a:cubicBezTo>
                  <a:cubicBezTo>
                    <a:pt x="476" y="152"/>
                    <a:pt x="597" y="143"/>
                    <a:pt x="696" y="120"/>
                  </a:cubicBezTo>
                  <a:cubicBezTo>
                    <a:pt x="795" y="97"/>
                    <a:pt x="899" y="25"/>
                    <a:pt x="952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3680" y="2360"/>
              <a:ext cx="280" cy="264"/>
            </a:xfrm>
            <a:custGeom>
              <a:rect b="b" l="l" r="r" t="t"/>
              <a:pathLst>
                <a:path extrusionOk="0" h="264" w="280">
                  <a:moveTo>
                    <a:pt x="280" y="264"/>
                  </a:moveTo>
                  <a:cubicBezTo>
                    <a:pt x="265" y="233"/>
                    <a:pt x="239" y="124"/>
                    <a:pt x="192" y="80"/>
                  </a:cubicBezTo>
                  <a:cubicBezTo>
                    <a:pt x="145" y="36"/>
                    <a:pt x="40" y="1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4"/>
          <p:cNvGrpSpPr/>
          <p:nvPr/>
        </p:nvGrpSpPr>
        <p:grpSpPr>
          <a:xfrm>
            <a:off x="5321300" y="3416300"/>
            <a:ext cx="2632075" cy="2717800"/>
            <a:chOff x="486" y="2170"/>
            <a:chExt cx="1994" cy="1943"/>
          </a:xfrm>
        </p:grpSpPr>
        <p:sp>
          <p:nvSpPr>
            <p:cNvPr id="336" name="Google Shape;336;p24"/>
            <p:cNvSpPr txBox="1"/>
            <p:nvPr/>
          </p:nvSpPr>
          <p:spPr>
            <a:xfrm>
              <a:off x="822" y="2170"/>
              <a:ext cx="24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337" name="Google Shape;337;p24"/>
            <p:cNvSpPr txBox="1"/>
            <p:nvPr/>
          </p:nvSpPr>
          <p:spPr>
            <a:xfrm>
              <a:off x="1168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338" name="Google Shape;338;p24"/>
            <p:cNvSpPr txBox="1"/>
            <p:nvPr/>
          </p:nvSpPr>
          <p:spPr>
            <a:xfrm>
              <a:off x="1526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339" name="Google Shape;339;p24"/>
            <p:cNvSpPr txBox="1"/>
            <p:nvPr/>
          </p:nvSpPr>
          <p:spPr>
            <a:xfrm>
              <a:off x="1871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340" name="Google Shape;340;p24"/>
            <p:cNvSpPr txBox="1"/>
            <p:nvPr/>
          </p:nvSpPr>
          <p:spPr>
            <a:xfrm>
              <a:off x="2230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grpSp>
          <p:nvGrpSpPr>
            <p:cNvPr id="341" name="Google Shape;341;p24"/>
            <p:cNvGrpSpPr/>
            <p:nvPr/>
          </p:nvGrpSpPr>
          <p:grpSpPr>
            <a:xfrm>
              <a:off x="486" y="2444"/>
              <a:ext cx="1994" cy="1669"/>
              <a:chOff x="486" y="2444"/>
              <a:chExt cx="1994" cy="1669"/>
            </a:xfrm>
          </p:grpSpPr>
          <p:sp>
            <p:nvSpPr>
              <p:cNvPr id="342" name="Google Shape;342;p24"/>
              <p:cNvSpPr txBox="1"/>
              <p:nvPr/>
            </p:nvSpPr>
            <p:spPr>
              <a:xfrm>
                <a:off x="728" y="2448"/>
                <a:ext cx="1752" cy="1592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3" name="Google Shape;343;p24"/>
              <p:cNvGrpSpPr/>
              <p:nvPr/>
            </p:nvGrpSpPr>
            <p:grpSpPr>
              <a:xfrm>
                <a:off x="1064" y="2456"/>
                <a:ext cx="1072" cy="1592"/>
                <a:chOff x="1064" y="2456"/>
                <a:chExt cx="1072" cy="1592"/>
              </a:xfrm>
            </p:grpSpPr>
            <p:cxnSp>
              <p:nvCxnSpPr>
                <p:cNvPr id="344" name="Google Shape;344;p24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5" name="Google Shape;345;p24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6" name="Google Shape;346;p24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7" name="Google Shape;347;p24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8" name="Google Shape;348;p24"/>
              <p:cNvGrpSpPr/>
              <p:nvPr/>
            </p:nvGrpSpPr>
            <p:grpSpPr>
              <a:xfrm rot="5400000">
                <a:off x="1076" y="2404"/>
                <a:ext cx="1072" cy="1728"/>
                <a:chOff x="1064" y="2456"/>
                <a:chExt cx="1072" cy="1592"/>
              </a:xfrm>
            </p:grpSpPr>
            <p:cxnSp>
              <p:nvCxnSpPr>
                <p:cNvPr id="349" name="Google Shape;349;p24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50" name="Google Shape;350;p24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51" name="Google Shape;351;p24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52" name="Google Shape;352;p24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53" name="Google Shape;353;p24"/>
              <p:cNvSpPr txBox="1"/>
              <p:nvPr/>
            </p:nvSpPr>
            <p:spPr>
              <a:xfrm>
                <a:off x="491" y="2444"/>
                <a:ext cx="24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354" name="Google Shape;354;p24"/>
              <p:cNvSpPr txBox="1"/>
              <p:nvPr/>
            </p:nvSpPr>
            <p:spPr>
              <a:xfrm>
                <a:off x="486" y="276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355" name="Google Shape;355;p24"/>
              <p:cNvSpPr txBox="1"/>
              <p:nvPr/>
            </p:nvSpPr>
            <p:spPr>
              <a:xfrm>
                <a:off x="491" y="3095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356" name="Google Shape;356;p24"/>
              <p:cNvSpPr txBox="1"/>
              <p:nvPr/>
            </p:nvSpPr>
            <p:spPr>
              <a:xfrm>
                <a:off x="486" y="344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357" name="Google Shape;357;p24"/>
              <p:cNvSpPr txBox="1"/>
              <p:nvPr/>
            </p:nvSpPr>
            <p:spPr>
              <a:xfrm>
                <a:off x="492" y="3771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358" name="Google Shape;358;p24"/>
              <p:cNvSpPr txBox="1"/>
              <p:nvPr/>
            </p:nvSpPr>
            <p:spPr>
              <a:xfrm>
                <a:off x="1141" y="2451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59" name="Google Shape;359;p24"/>
              <p:cNvSpPr txBox="1"/>
              <p:nvPr/>
            </p:nvSpPr>
            <p:spPr>
              <a:xfrm>
                <a:off x="797" y="2764"/>
                <a:ext cx="255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60" name="Google Shape;360;p24"/>
              <p:cNvSpPr txBox="1"/>
              <p:nvPr/>
            </p:nvSpPr>
            <p:spPr>
              <a:xfrm>
                <a:off x="1502" y="2768"/>
                <a:ext cx="14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4"/>
              <p:cNvSpPr txBox="1"/>
              <p:nvPr/>
            </p:nvSpPr>
            <p:spPr>
              <a:xfrm>
                <a:off x="1141" y="3139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62" name="Google Shape;362;p24"/>
              <p:cNvSpPr txBox="1"/>
              <p:nvPr/>
            </p:nvSpPr>
            <p:spPr>
              <a:xfrm>
                <a:off x="1846" y="3122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63" name="Google Shape;363;p24"/>
              <p:cNvSpPr txBox="1"/>
              <p:nvPr/>
            </p:nvSpPr>
            <p:spPr>
              <a:xfrm>
                <a:off x="2206" y="3130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64" name="Google Shape;364;p24"/>
              <p:cNvSpPr txBox="1"/>
              <p:nvPr/>
            </p:nvSpPr>
            <p:spPr>
              <a:xfrm>
                <a:off x="1502" y="3483"/>
                <a:ext cx="14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4"/>
              <p:cNvSpPr txBox="1"/>
              <p:nvPr/>
            </p:nvSpPr>
            <p:spPr>
              <a:xfrm>
                <a:off x="2214" y="3490"/>
                <a:ext cx="14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4"/>
              <p:cNvSpPr txBox="1"/>
              <p:nvPr/>
            </p:nvSpPr>
            <p:spPr>
              <a:xfrm>
                <a:off x="1502" y="377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67" name="Google Shape;367;p24"/>
              <p:cNvSpPr txBox="1"/>
              <p:nvPr/>
            </p:nvSpPr>
            <p:spPr>
              <a:xfrm>
                <a:off x="1853" y="378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</p:grpSp>
      </p:grpSp>
      <p:grpSp>
        <p:nvGrpSpPr>
          <p:cNvPr id="368" name="Google Shape;368;p24"/>
          <p:cNvGrpSpPr/>
          <p:nvPr/>
        </p:nvGrpSpPr>
        <p:grpSpPr>
          <a:xfrm>
            <a:off x="850900" y="3416300"/>
            <a:ext cx="2632075" cy="2717800"/>
            <a:chOff x="486" y="2170"/>
            <a:chExt cx="1994" cy="1943"/>
          </a:xfrm>
        </p:grpSpPr>
        <p:sp>
          <p:nvSpPr>
            <p:cNvPr id="369" name="Google Shape;369;p24"/>
            <p:cNvSpPr txBox="1"/>
            <p:nvPr/>
          </p:nvSpPr>
          <p:spPr>
            <a:xfrm>
              <a:off x="822" y="2170"/>
              <a:ext cx="24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370" name="Google Shape;370;p24"/>
            <p:cNvSpPr txBox="1"/>
            <p:nvPr/>
          </p:nvSpPr>
          <p:spPr>
            <a:xfrm>
              <a:off x="1168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371" name="Google Shape;371;p24"/>
            <p:cNvSpPr txBox="1"/>
            <p:nvPr/>
          </p:nvSpPr>
          <p:spPr>
            <a:xfrm>
              <a:off x="1526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1871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373" name="Google Shape;373;p24"/>
            <p:cNvSpPr txBox="1"/>
            <p:nvPr/>
          </p:nvSpPr>
          <p:spPr>
            <a:xfrm>
              <a:off x="2230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grpSp>
          <p:nvGrpSpPr>
            <p:cNvPr id="374" name="Google Shape;374;p24"/>
            <p:cNvGrpSpPr/>
            <p:nvPr/>
          </p:nvGrpSpPr>
          <p:grpSpPr>
            <a:xfrm>
              <a:off x="486" y="2444"/>
              <a:ext cx="1994" cy="1669"/>
              <a:chOff x="486" y="2444"/>
              <a:chExt cx="1994" cy="1669"/>
            </a:xfrm>
          </p:grpSpPr>
          <p:sp>
            <p:nvSpPr>
              <p:cNvPr id="375" name="Google Shape;375;p24"/>
              <p:cNvSpPr txBox="1"/>
              <p:nvPr/>
            </p:nvSpPr>
            <p:spPr>
              <a:xfrm>
                <a:off x="728" y="2448"/>
                <a:ext cx="1752" cy="1592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6" name="Google Shape;376;p24"/>
              <p:cNvGrpSpPr/>
              <p:nvPr/>
            </p:nvGrpSpPr>
            <p:grpSpPr>
              <a:xfrm>
                <a:off x="1064" y="2456"/>
                <a:ext cx="1072" cy="1592"/>
                <a:chOff x="1064" y="2456"/>
                <a:chExt cx="1072" cy="1592"/>
              </a:xfrm>
            </p:grpSpPr>
            <p:cxnSp>
              <p:nvCxnSpPr>
                <p:cNvPr id="377" name="Google Shape;377;p24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78" name="Google Shape;378;p24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79" name="Google Shape;379;p24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80" name="Google Shape;380;p24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81" name="Google Shape;381;p24"/>
              <p:cNvGrpSpPr/>
              <p:nvPr/>
            </p:nvGrpSpPr>
            <p:grpSpPr>
              <a:xfrm rot="5400000">
                <a:off x="1076" y="2404"/>
                <a:ext cx="1072" cy="1728"/>
                <a:chOff x="1064" y="2456"/>
                <a:chExt cx="1072" cy="1592"/>
              </a:xfrm>
            </p:grpSpPr>
            <p:cxnSp>
              <p:nvCxnSpPr>
                <p:cNvPr id="382" name="Google Shape;382;p24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83" name="Google Shape;383;p24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84" name="Google Shape;384;p24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85" name="Google Shape;385;p24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86" name="Google Shape;386;p24"/>
              <p:cNvSpPr txBox="1"/>
              <p:nvPr/>
            </p:nvSpPr>
            <p:spPr>
              <a:xfrm>
                <a:off x="491" y="2444"/>
                <a:ext cx="24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387" name="Google Shape;387;p24"/>
              <p:cNvSpPr txBox="1"/>
              <p:nvPr/>
            </p:nvSpPr>
            <p:spPr>
              <a:xfrm>
                <a:off x="486" y="276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388" name="Google Shape;388;p24"/>
              <p:cNvSpPr txBox="1"/>
              <p:nvPr/>
            </p:nvSpPr>
            <p:spPr>
              <a:xfrm>
                <a:off x="491" y="3095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389" name="Google Shape;389;p24"/>
              <p:cNvSpPr txBox="1"/>
              <p:nvPr/>
            </p:nvSpPr>
            <p:spPr>
              <a:xfrm>
                <a:off x="486" y="344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390" name="Google Shape;390;p24"/>
              <p:cNvSpPr txBox="1"/>
              <p:nvPr/>
            </p:nvSpPr>
            <p:spPr>
              <a:xfrm>
                <a:off x="492" y="3771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391" name="Google Shape;391;p24"/>
              <p:cNvSpPr txBox="1"/>
              <p:nvPr/>
            </p:nvSpPr>
            <p:spPr>
              <a:xfrm>
                <a:off x="1141" y="2451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2" name="Google Shape;392;p24"/>
              <p:cNvSpPr txBox="1"/>
              <p:nvPr/>
            </p:nvSpPr>
            <p:spPr>
              <a:xfrm>
                <a:off x="797" y="2764"/>
                <a:ext cx="255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3" name="Google Shape;393;p24"/>
              <p:cNvSpPr txBox="1"/>
              <p:nvPr/>
            </p:nvSpPr>
            <p:spPr>
              <a:xfrm>
                <a:off x="1502" y="2771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4" name="Google Shape;394;p24"/>
              <p:cNvSpPr txBox="1"/>
              <p:nvPr/>
            </p:nvSpPr>
            <p:spPr>
              <a:xfrm>
                <a:off x="1141" y="3139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5" name="Google Shape;395;p24"/>
              <p:cNvSpPr txBox="1"/>
              <p:nvPr/>
            </p:nvSpPr>
            <p:spPr>
              <a:xfrm>
                <a:off x="1846" y="3122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6" name="Google Shape;396;p24"/>
              <p:cNvSpPr txBox="1"/>
              <p:nvPr/>
            </p:nvSpPr>
            <p:spPr>
              <a:xfrm>
                <a:off x="2206" y="3130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7" name="Google Shape;397;p24"/>
              <p:cNvSpPr txBox="1"/>
              <p:nvPr/>
            </p:nvSpPr>
            <p:spPr>
              <a:xfrm>
                <a:off x="1502" y="3483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8" name="Google Shape;398;p24"/>
              <p:cNvSpPr txBox="1"/>
              <p:nvPr/>
            </p:nvSpPr>
            <p:spPr>
              <a:xfrm>
                <a:off x="2214" y="3490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399" name="Google Shape;399;p24"/>
              <p:cNvSpPr txBox="1"/>
              <p:nvPr/>
            </p:nvSpPr>
            <p:spPr>
              <a:xfrm>
                <a:off x="1502" y="377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00" name="Google Shape;400;p24"/>
              <p:cNvSpPr txBox="1"/>
              <p:nvPr/>
            </p:nvSpPr>
            <p:spPr>
              <a:xfrm>
                <a:off x="1853" y="378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</p:grpSp>
      </p:grpSp>
      <p:sp>
        <p:nvSpPr>
          <p:cNvPr id="401" name="Google Shape;401;p24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Pictures and Matrices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25"/>
          <p:cNvGrpSpPr/>
          <p:nvPr/>
        </p:nvGrpSpPr>
        <p:grpSpPr>
          <a:xfrm>
            <a:off x="574675" y="2216150"/>
            <a:ext cx="2632075" cy="2717800"/>
            <a:chOff x="486" y="2170"/>
            <a:chExt cx="1994" cy="1943"/>
          </a:xfrm>
        </p:grpSpPr>
        <p:sp>
          <p:nvSpPr>
            <p:cNvPr id="408" name="Google Shape;408;p25"/>
            <p:cNvSpPr txBox="1"/>
            <p:nvPr/>
          </p:nvSpPr>
          <p:spPr>
            <a:xfrm>
              <a:off x="822" y="2170"/>
              <a:ext cx="24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409" name="Google Shape;409;p25"/>
            <p:cNvSpPr txBox="1"/>
            <p:nvPr/>
          </p:nvSpPr>
          <p:spPr>
            <a:xfrm>
              <a:off x="1168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410" name="Google Shape;410;p25"/>
            <p:cNvSpPr txBox="1"/>
            <p:nvPr/>
          </p:nvSpPr>
          <p:spPr>
            <a:xfrm>
              <a:off x="1526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411" name="Google Shape;411;p25"/>
            <p:cNvSpPr txBox="1"/>
            <p:nvPr/>
          </p:nvSpPr>
          <p:spPr>
            <a:xfrm>
              <a:off x="1871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412" name="Google Shape;412;p25"/>
            <p:cNvSpPr txBox="1"/>
            <p:nvPr/>
          </p:nvSpPr>
          <p:spPr>
            <a:xfrm>
              <a:off x="2230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grpSp>
          <p:nvGrpSpPr>
            <p:cNvPr id="413" name="Google Shape;413;p25"/>
            <p:cNvGrpSpPr/>
            <p:nvPr/>
          </p:nvGrpSpPr>
          <p:grpSpPr>
            <a:xfrm>
              <a:off x="486" y="2444"/>
              <a:ext cx="1994" cy="1669"/>
              <a:chOff x="486" y="2444"/>
              <a:chExt cx="1994" cy="1669"/>
            </a:xfrm>
          </p:grpSpPr>
          <p:sp>
            <p:nvSpPr>
              <p:cNvPr id="414" name="Google Shape;414;p25"/>
              <p:cNvSpPr txBox="1"/>
              <p:nvPr/>
            </p:nvSpPr>
            <p:spPr>
              <a:xfrm>
                <a:off x="728" y="2448"/>
                <a:ext cx="1752" cy="1592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5" name="Google Shape;415;p25"/>
              <p:cNvGrpSpPr/>
              <p:nvPr/>
            </p:nvGrpSpPr>
            <p:grpSpPr>
              <a:xfrm>
                <a:off x="1064" y="2456"/>
                <a:ext cx="1072" cy="1592"/>
                <a:chOff x="1064" y="2456"/>
                <a:chExt cx="1072" cy="1592"/>
              </a:xfrm>
            </p:grpSpPr>
            <p:cxnSp>
              <p:nvCxnSpPr>
                <p:cNvPr id="416" name="Google Shape;416;p25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17" name="Google Shape;417;p25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18" name="Google Shape;418;p25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19" name="Google Shape;419;p25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20" name="Google Shape;420;p25"/>
              <p:cNvGrpSpPr/>
              <p:nvPr/>
            </p:nvGrpSpPr>
            <p:grpSpPr>
              <a:xfrm rot="5400000">
                <a:off x="1076" y="2404"/>
                <a:ext cx="1072" cy="1728"/>
                <a:chOff x="1064" y="2456"/>
                <a:chExt cx="1072" cy="1592"/>
              </a:xfrm>
            </p:grpSpPr>
            <p:cxnSp>
              <p:nvCxnSpPr>
                <p:cNvPr id="421" name="Google Shape;421;p25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22" name="Google Shape;422;p25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23" name="Google Shape;423;p25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24" name="Google Shape;424;p25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25" name="Google Shape;425;p25"/>
              <p:cNvSpPr txBox="1"/>
              <p:nvPr/>
            </p:nvSpPr>
            <p:spPr>
              <a:xfrm>
                <a:off x="491" y="2444"/>
                <a:ext cx="24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426" name="Google Shape;426;p25"/>
              <p:cNvSpPr txBox="1"/>
              <p:nvPr/>
            </p:nvSpPr>
            <p:spPr>
              <a:xfrm>
                <a:off x="486" y="276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427" name="Google Shape;427;p25"/>
              <p:cNvSpPr txBox="1"/>
              <p:nvPr/>
            </p:nvSpPr>
            <p:spPr>
              <a:xfrm>
                <a:off x="491" y="3095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428" name="Google Shape;428;p25"/>
              <p:cNvSpPr txBox="1"/>
              <p:nvPr/>
            </p:nvSpPr>
            <p:spPr>
              <a:xfrm>
                <a:off x="486" y="344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429" name="Google Shape;429;p25"/>
              <p:cNvSpPr txBox="1"/>
              <p:nvPr/>
            </p:nvSpPr>
            <p:spPr>
              <a:xfrm>
                <a:off x="492" y="3771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430" name="Google Shape;430;p25"/>
              <p:cNvSpPr txBox="1"/>
              <p:nvPr/>
            </p:nvSpPr>
            <p:spPr>
              <a:xfrm>
                <a:off x="1141" y="2451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1" name="Google Shape;431;p25"/>
              <p:cNvSpPr txBox="1"/>
              <p:nvPr/>
            </p:nvSpPr>
            <p:spPr>
              <a:xfrm>
                <a:off x="797" y="2764"/>
                <a:ext cx="255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2" name="Google Shape;432;p25"/>
              <p:cNvSpPr txBox="1"/>
              <p:nvPr/>
            </p:nvSpPr>
            <p:spPr>
              <a:xfrm>
                <a:off x="1502" y="2771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3" name="Google Shape;433;p25"/>
              <p:cNvSpPr txBox="1"/>
              <p:nvPr/>
            </p:nvSpPr>
            <p:spPr>
              <a:xfrm>
                <a:off x="1141" y="3139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4" name="Google Shape;434;p25"/>
              <p:cNvSpPr txBox="1"/>
              <p:nvPr/>
            </p:nvSpPr>
            <p:spPr>
              <a:xfrm>
                <a:off x="1846" y="3122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5" name="Google Shape;435;p25"/>
              <p:cNvSpPr txBox="1"/>
              <p:nvPr/>
            </p:nvSpPr>
            <p:spPr>
              <a:xfrm>
                <a:off x="2206" y="3130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6" name="Google Shape;436;p25"/>
              <p:cNvSpPr txBox="1"/>
              <p:nvPr/>
            </p:nvSpPr>
            <p:spPr>
              <a:xfrm>
                <a:off x="1502" y="3483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7" name="Google Shape;437;p25"/>
              <p:cNvSpPr txBox="1"/>
              <p:nvPr/>
            </p:nvSpPr>
            <p:spPr>
              <a:xfrm>
                <a:off x="2214" y="3490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8" name="Google Shape;438;p25"/>
              <p:cNvSpPr txBox="1"/>
              <p:nvPr/>
            </p:nvSpPr>
            <p:spPr>
              <a:xfrm>
                <a:off x="1502" y="377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39" name="Google Shape;439;p25"/>
              <p:cNvSpPr txBox="1"/>
              <p:nvPr/>
            </p:nvSpPr>
            <p:spPr>
              <a:xfrm>
                <a:off x="1853" y="378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</p:grpSp>
      </p:grpSp>
      <p:grpSp>
        <p:nvGrpSpPr>
          <p:cNvPr id="440" name="Google Shape;440;p25"/>
          <p:cNvGrpSpPr/>
          <p:nvPr/>
        </p:nvGrpSpPr>
        <p:grpSpPr>
          <a:xfrm>
            <a:off x="4740275" y="2952750"/>
            <a:ext cx="987425" cy="1917700"/>
            <a:chOff x="3694" y="1354"/>
            <a:chExt cx="622" cy="1208"/>
          </a:xfrm>
        </p:grpSpPr>
        <p:sp>
          <p:nvSpPr>
            <p:cNvPr id="441" name="Google Shape;441;p25"/>
            <p:cNvSpPr txBox="1"/>
            <p:nvPr/>
          </p:nvSpPr>
          <p:spPr>
            <a:xfrm>
              <a:off x="3694" y="1354"/>
              <a:ext cx="622" cy="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 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 a 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 b d 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 c 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 c d</a:t>
              </a:r>
              <a:endParaRPr/>
            </a:p>
          </p:txBody>
        </p:sp>
        <p:cxnSp>
          <p:nvCxnSpPr>
            <p:cNvPr id="442" name="Google Shape;442;p25"/>
            <p:cNvCxnSpPr/>
            <p:nvPr/>
          </p:nvCxnSpPr>
          <p:spPr>
            <a:xfrm>
              <a:off x="3828" y="1366"/>
              <a:ext cx="0" cy="11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43" name="Google Shape;443;p25"/>
          <p:cNvSpPr txBox="1"/>
          <p:nvPr/>
        </p:nvSpPr>
        <p:spPr>
          <a:xfrm>
            <a:off x="7508875" y="2736850"/>
            <a:ext cx="547687" cy="3743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 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 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 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 d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4067175" y="2355850"/>
            <a:ext cx="2035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Adjacency List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7305675" y="2292350"/>
            <a:ext cx="1190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Arc List</a:t>
            </a:r>
            <a:endParaRPr/>
          </a:p>
        </p:txBody>
      </p:sp>
      <p:sp>
        <p:nvSpPr>
          <p:cNvPr id="446" name="Google Shape;446;p25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From matrices to lists</a:t>
            </a:r>
            <a:b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6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Graph Theory Concepts:</a:t>
            </a:r>
            <a:b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Undirected Graphs</a:t>
            </a:r>
            <a:endParaRPr/>
          </a:p>
        </p:txBody>
      </p:sp>
      <p:sp>
        <p:nvSpPr>
          <p:cNvPr id="453" name="Google Shape;453;p26"/>
          <p:cNvSpPr txBox="1"/>
          <p:nvPr>
            <p:ph idx="1" type="body"/>
          </p:nvPr>
        </p:nvSpPr>
        <p:spPr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Degree;  d(n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Mean (d) = Sum d(n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)/ g = 2L/g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Density = Δ = Sum 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ij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/[g(g-1) /2]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L/[g(g-1) /2] 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2L/g(g-1)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mean (d)/g-1</a:t>
            </a:r>
            <a:endParaRPr/>
          </a:p>
          <a:p>
            <a:pPr indent="-9905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32715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32715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32715" lvl="0" marL="27305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Graph Theory Concepts:</a:t>
            </a:r>
            <a:b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Directred Graphs</a:t>
            </a:r>
            <a:endParaRPr/>
          </a:p>
        </p:txBody>
      </p:sp>
      <p:sp>
        <p:nvSpPr>
          <p:cNvPr id="460" name="Google Shape;460;p27"/>
          <p:cNvSpPr txBox="1"/>
          <p:nvPr>
            <p:ph idx="1" type="body"/>
          </p:nvPr>
        </p:nvSpPr>
        <p:spPr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599" lvl="1" marL="547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Indegree:  d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 number of arcs terminating at 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Outdgree: d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number of arcs originating from n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Density = L/g(g-1)</a:t>
            </a:r>
            <a:endParaRPr/>
          </a:p>
          <a:p>
            <a:pPr indent="-22859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Mean(d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= Mean(d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= L/g</a:t>
            </a:r>
            <a:endParaRPr/>
          </a:p>
          <a:p>
            <a:pPr indent="-99059" lvl="1" marL="54768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32715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32715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32715" lvl="0" marL="27305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28"/>
          <p:cNvGrpSpPr/>
          <p:nvPr/>
        </p:nvGrpSpPr>
        <p:grpSpPr>
          <a:xfrm>
            <a:off x="650875" y="1828800"/>
            <a:ext cx="2632075" cy="2717800"/>
            <a:chOff x="486" y="2170"/>
            <a:chExt cx="1994" cy="1943"/>
          </a:xfrm>
        </p:grpSpPr>
        <p:sp>
          <p:nvSpPr>
            <p:cNvPr id="467" name="Google Shape;467;p28"/>
            <p:cNvSpPr txBox="1"/>
            <p:nvPr/>
          </p:nvSpPr>
          <p:spPr>
            <a:xfrm>
              <a:off x="822" y="2170"/>
              <a:ext cx="24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468" name="Google Shape;468;p28"/>
            <p:cNvSpPr txBox="1"/>
            <p:nvPr/>
          </p:nvSpPr>
          <p:spPr>
            <a:xfrm>
              <a:off x="1168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469" name="Google Shape;469;p28"/>
            <p:cNvSpPr txBox="1"/>
            <p:nvPr/>
          </p:nvSpPr>
          <p:spPr>
            <a:xfrm>
              <a:off x="1526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470" name="Google Shape;470;p28"/>
            <p:cNvSpPr txBox="1"/>
            <p:nvPr/>
          </p:nvSpPr>
          <p:spPr>
            <a:xfrm>
              <a:off x="1871" y="2170"/>
              <a:ext cx="255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471" name="Google Shape;471;p28"/>
            <p:cNvSpPr txBox="1"/>
            <p:nvPr/>
          </p:nvSpPr>
          <p:spPr>
            <a:xfrm>
              <a:off x="2230" y="2170"/>
              <a:ext cx="242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grpSp>
          <p:nvGrpSpPr>
            <p:cNvPr id="472" name="Google Shape;472;p28"/>
            <p:cNvGrpSpPr/>
            <p:nvPr/>
          </p:nvGrpSpPr>
          <p:grpSpPr>
            <a:xfrm>
              <a:off x="486" y="2444"/>
              <a:ext cx="1994" cy="1669"/>
              <a:chOff x="486" y="2444"/>
              <a:chExt cx="1994" cy="1669"/>
            </a:xfrm>
          </p:grpSpPr>
          <p:sp>
            <p:nvSpPr>
              <p:cNvPr id="473" name="Google Shape;473;p28"/>
              <p:cNvSpPr txBox="1"/>
              <p:nvPr/>
            </p:nvSpPr>
            <p:spPr>
              <a:xfrm>
                <a:off x="728" y="2448"/>
                <a:ext cx="1752" cy="1592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4" name="Google Shape;474;p28"/>
              <p:cNvGrpSpPr/>
              <p:nvPr/>
            </p:nvGrpSpPr>
            <p:grpSpPr>
              <a:xfrm>
                <a:off x="1064" y="2456"/>
                <a:ext cx="1072" cy="1592"/>
                <a:chOff x="1064" y="2456"/>
                <a:chExt cx="1072" cy="1592"/>
              </a:xfrm>
            </p:grpSpPr>
            <p:cxnSp>
              <p:nvCxnSpPr>
                <p:cNvPr id="475" name="Google Shape;475;p28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76" name="Google Shape;476;p28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77" name="Google Shape;477;p28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78" name="Google Shape;478;p28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79" name="Google Shape;479;p28"/>
              <p:cNvGrpSpPr/>
              <p:nvPr/>
            </p:nvGrpSpPr>
            <p:grpSpPr>
              <a:xfrm rot="5400000">
                <a:off x="1076" y="2404"/>
                <a:ext cx="1072" cy="1728"/>
                <a:chOff x="1064" y="2456"/>
                <a:chExt cx="1072" cy="1592"/>
              </a:xfrm>
            </p:grpSpPr>
            <p:cxnSp>
              <p:nvCxnSpPr>
                <p:cNvPr id="480" name="Google Shape;480;p28"/>
                <p:cNvCxnSpPr/>
                <p:nvPr/>
              </p:nvCxnSpPr>
              <p:spPr>
                <a:xfrm>
                  <a:off x="1064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1" name="Google Shape;481;p28"/>
                <p:cNvCxnSpPr/>
                <p:nvPr/>
              </p:nvCxnSpPr>
              <p:spPr>
                <a:xfrm>
                  <a:off x="1421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2" name="Google Shape;482;p28"/>
                <p:cNvCxnSpPr/>
                <p:nvPr/>
              </p:nvCxnSpPr>
              <p:spPr>
                <a:xfrm>
                  <a:off x="1778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3" name="Google Shape;483;p28"/>
                <p:cNvCxnSpPr/>
                <p:nvPr/>
              </p:nvCxnSpPr>
              <p:spPr>
                <a:xfrm>
                  <a:off x="2136" y="2456"/>
                  <a:ext cx="0" cy="15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84" name="Google Shape;484;p28"/>
              <p:cNvSpPr txBox="1"/>
              <p:nvPr/>
            </p:nvSpPr>
            <p:spPr>
              <a:xfrm>
                <a:off x="491" y="2444"/>
                <a:ext cx="242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485" name="Google Shape;485;p28"/>
              <p:cNvSpPr txBox="1"/>
              <p:nvPr/>
            </p:nvSpPr>
            <p:spPr>
              <a:xfrm>
                <a:off x="486" y="276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486" name="Google Shape;486;p28"/>
              <p:cNvSpPr txBox="1"/>
              <p:nvPr/>
            </p:nvSpPr>
            <p:spPr>
              <a:xfrm>
                <a:off x="491" y="3095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487" name="Google Shape;487;p28"/>
              <p:cNvSpPr txBox="1"/>
              <p:nvPr/>
            </p:nvSpPr>
            <p:spPr>
              <a:xfrm>
                <a:off x="486" y="344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488" name="Google Shape;488;p28"/>
              <p:cNvSpPr txBox="1"/>
              <p:nvPr/>
            </p:nvSpPr>
            <p:spPr>
              <a:xfrm>
                <a:off x="492" y="3771"/>
                <a:ext cx="242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489" name="Google Shape;489;p28"/>
              <p:cNvSpPr txBox="1"/>
              <p:nvPr/>
            </p:nvSpPr>
            <p:spPr>
              <a:xfrm>
                <a:off x="1141" y="2451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90" name="Google Shape;490;p28"/>
              <p:cNvSpPr txBox="1"/>
              <p:nvPr/>
            </p:nvSpPr>
            <p:spPr>
              <a:xfrm>
                <a:off x="797" y="2764"/>
                <a:ext cx="255" cy="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91" name="Google Shape;491;p28"/>
              <p:cNvSpPr txBox="1"/>
              <p:nvPr/>
            </p:nvSpPr>
            <p:spPr>
              <a:xfrm>
                <a:off x="1502" y="2768"/>
                <a:ext cx="14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8"/>
              <p:cNvSpPr txBox="1"/>
              <p:nvPr/>
            </p:nvSpPr>
            <p:spPr>
              <a:xfrm>
                <a:off x="1141" y="3139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93" name="Google Shape;493;p28"/>
              <p:cNvSpPr txBox="1"/>
              <p:nvPr/>
            </p:nvSpPr>
            <p:spPr>
              <a:xfrm>
                <a:off x="1846" y="3122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94" name="Google Shape;494;p28"/>
              <p:cNvSpPr txBox="1"/>
              <p:nvPr/>
            </p:nvSpPr>
            <p:spPr>
              <a:xfrm>
                <a:off x="2206" y="3130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95" name="Google Shape;495;p28"/>
              <p:cNvSpPr txBox="1"/>
              <p:nvPr/>
            </p:nvSpPr>
            <p:spPr>
              <a:xfrm>
                <a:off x="1502" y="3483"/>
                <a:ext cx="14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8"/>
              <p:cNvSpPr txBox="1"/>
              <p:nvPr/>
            </p:nvSpPr>
            <p:spPr>
              <a:xfrm>
                <a:off x="2214" y="3490"/>
                <a:ext cx="140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8"/>
              <p:cNvSpPr txBox="1"/>
              <p:nvPr/>
            </p:nvSpPr>
            <p:spPr>
              <a:xfrm>
                <a:off x="1502" y="3778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  <p:sp>
            <p:nvSpPr>
              <p:cNvPr id="498" name="Google Shape;498;p28"/>
              <p:cNvSpPr txBox="1"/>
              <p:nvPr/>
            </p:nvSpPr>
            <p:spPr>
              <a:xfrm>
                <a:off x="1853" y="3786"/>
                <a:ext cx="255" cy="3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Baskerville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</a:t>
                </a:r>
                <a:endParaRPr/>
              </a:p>
            </p:txBody>
          </p:sp>
        </p:grpSp>
      </p:grpSp>
      <p:sp>
        <p:nvSpPr>
          <p:cNvPr id="499" name="Google Shape;499;p28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Example</a:t>
            </a:r>
            <a:endParaRPr/>
          </a:p>
        </p:txBody>
      </p:sp>
      <p:graphicFrame>
        <p:nvGraphicFramePr>
          <p:cNvPr id="500" name="Google Shape;500;p28"/>
          <p:cNvGraphicFramePr/>
          <p:nvPr/>
        </p:nvGraphicFramePr>
        <p:xfrm>
          <a:off x="44958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{639252E2-9426-448E-B126-26AFFFEDDC5A}</a:tableStyleId>
              </a:tblPr>
              <a:tblGrid>
                <a:gridCol w="1270000"/>
                <a:gridCol w="1270000"/>
                <a:gridCol w="1270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Node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In-Degree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Out-Degree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Mean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7/5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Baskerville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7/5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01" name="Google Shape;501;p28"/>
          <p:cNvSpPr txBox="1"/>
          <p:nvPr/>
        </p:nvSpPr>
        <p:spPr>
          <a:xfrm>
            <a:off x="969962" y="4800600"/>
            <a:ext cx="68786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 =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Δ = 7/20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In-Degree:  sum of the row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Out-Degree: sum of the column</a:t>
            </a:r>
            <a:endParaRPr/>
          </a:p>
        </p:txBody>
      </p:sp>
      <p:sp>
        <p:nvSpPr>
          <p:cNvPr id="502" name="Google Shape;502;p28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9"/>
          <p:cNvGrpSpPr/>
          <p:nvPr/>
        </p:nvGrpSpPr>
        <p:grpSpPr>
          <a:xfrm>
            <a:off x="1200150" y="3854450"/>
            <a:ext cx="3721100" cy="1574800"/>
            <a:chOff x="1295400" y="3600450"/>
            <a:chExt cx="3721100" cy="1574800"/>
          </a:xfrm>
        </p:grpSpPr>
        <p:cxnSp>
          <p:nvCxnSpPr>
            <p:cNvPr id="508" name="Google Shape;508;p29"/>
            <p:cNvCxnSpPr/>
            <p:nvPr/>
          </p:nvCxnSpPr>
          <p:spPr>
            <a:xfrm>
              <a:off x="2959100" y="4381500"/>
              <a:ext cx="0" cy="63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509" name="Google Shape;509;p29"/>
            <p:cNvGrpSpPr/>
            <p:nvPr/>
          </p:nvGrpSpPr>
          <p:grpSpPr>
            <a:xfrm>
              <a:off x="1295400" y="3600450"/>
              <a:ext cx="3721100" cy="1574800"/>
              <a:chOff x="1295400" y="3600450"/>
              <a:chExt cx="3721100" cy="1574800"/>
            </a:xfrm>
          </p:grpSpPr>
          <p:cxnSp>
            <p:nvCxnSpPr>
              <p:cNvPr id="510" name="Google Shape;510;p29"/>
              <p:cNvCxnSpPr/>
              <p:nvPr/>
            </p:nvCxnSpPr>
            <p:spPr>
              <a:xfrm>
                <a:off x="1409700" y="4343400"/>
                <a:ext cx="1562100" cy="723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511" name="Google Shape;511;p29"/>
              <p:cNvSpPr/>
              <p:nvPr/>
            </p:nvSpPr>
            <p:spPr>
              <a:xfrm>
                <a:off x="1436688" y="3733800"/>
                <a:ext cx="3449637" cy="635000"/>
              </a:xfrm>
              <a:custGeom>
                <a:rect b="b" l="l" r="r" t="t"/>
                <a:pathLst>
                  <a:path extrusionOk="0" h="400" w="2344">
                    <a:moveTo>
                      <a:pt x="0" y="384"/>
                    </a:moveTo>
                    <a:lnTo>
                      <a:pt x="608" y="0"/>
                    </a:lnTo>
                    <a:lnTo>
                      <a:pt x="1048" y="392"/>
                    </a:lnTo>
                    <a:lnTo>
                      <a:pt x="1760" y="0"/>
                    </a:lnTo>
                    <a:lnTo>
                      <a:pt x="2344" y="392"/>
                    </a:lnTo>
                    <a:lnTo>
                      <a:pt x="1064" y="40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9"/>
              <p:cNvSpPr/>
              <p:nvPr/>
            </p:nvSpPr>
            <p:spPr>
              <a:xfrm>
                <a:off x="1295400" y="4210050"/>
                <a:ext cx="258763" cy="254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a</a:t>
                </a:r>
                <a:endParaRPr/>
              </a:p>
            </p:txBody>
          </p:sp>
          <p:sp>
            <p:nvSpPr>
              <p:cNvPr id="513" name="Google Shape;513;p29"/>
              <p:cNvSpPr/>
              <p:nvPr/>
            </p:nvSpPr>
            <p:spPr>
              <a:xfrm>
                <a:off x="2190750" y="3600450"/>
                <a:ext cx="258763" cy="254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514" name="Google Shape;514;p29"/>
              <p:cNvSpPr/>
              <p:nvPr/>
            </p:nvSpPr>
            <p:spPr>
              <a:xfrm>
                <a:off x="2849563" y="4210050"/>
                <a:ext cx="258762" cy="254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c</a:t>
                </a:r>
                <a:endParaRPr/>
              </a:p>
            </p:txBody>
          </p:sp>
          <p:sp>
            <p:nvSpPr>
              <p:cNvPr id="515" name="Google Shape;515;p29"/>
              <p:cNvSpPr/>
              <p:nvPr/>
            </p:nvSpPr>
            <p:spPr>
              <a:xfrm>
                <a:off x="4757738" y="4210050"/>
                <a:ext cx="258762" cy="254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  <p:sp>
            <p:nvSpPr>
              <p:cNvPr id="516" name="Google Shape;516;p29"/>
              <p:cNvSpPr/>
              <p:nvPr/>
            </p:nvSpPr>
            <p:spPr>
              <a:xfrm>
                <a:off x="3897313" y="3600450"/>
                <a:ext cx="260350" cy="254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517" name="Google Shape;517;p29"/>
              <p:cNvSpPr/>
              <p:nvPr/>
            </p:nvSpPr>
            <p:spPr>
              <a:xfrm>
                <a:off x="2801938" y="4921250"/>
                <a:ext cx="258762" cy="254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f</a:t>
                </a:r>
                <a:endParaRPr/>
              </a:p>
            </p:txBody>
          </p:sp>
        </p:grpSp>
      </p:grpSp>
      <p:grpSp>
        <p:nvGrpSpPr>
          <p:cNvPr id="518" name="Google Shape;518;p29"/>
          <p:cNvGrpSpPr/>
          <p:nvPr/>
        </p:nvGrpSpPr>
        <p:grpSpPr>
          <a:xfrm>
            <a:off x="5981700" y="3683000"/>
            <a:ext cx="1423987" cy="2006600"/>
            <a:chOff x="6069013" y="3473450"/>
            <a:chExt cx="1423987" cy="2006600"/>
          </a:xfrm>
        </p:grpSpPr>
        <p:grpSp>
          <p:nvGrpSpPr>
            <p:cNvPr id="519" name="Google Shape;519;p29"/>
            <p:cNvGrpSpPr/>
            <p:nvPr/>
          </p:nvGrpSpPr>
          <p:grpSpPr>
            <a:xfrm>
              <a:off x="6069013" y="4775200"/>
              <a:ext cx="915987" cy="704850"/>
              <a:chOff x="3823" y="3008"/>
              <a:chExt cx="577" cy="444"/>
            </a:xfrm>
          </p:grpSpPr>
          <p:cxnSp>
            <p:nvCxnSpPr>
              <p:cNvPr id="520" name="Google Shape;520;p29"/>
              <p:cNvCxnSpPr/>
              <p:nvPr/>
            </p:nvCxnSpPr>
            <p:spPr>
              <a:xfrm flipH="1">
                <a:off x="3984" y="3016"/>
                <a:ext cx="144" cy="26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521" name="Google Shape;521;p29"/>
              <p:cNvCxnSpPr/>
              <p:nvPr/>
            </p:nvCxnSpPr>
            <p:spPr>
              <a:xfrm>
                <a:off x="4136" y="3008"/>
                <a:ext cx="128" cy="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22" name="Google Shape;522;p29"/>
              <p:cNvSpPr/>
              <p:nvPr/>
            </p:nvSpPr>
            <p:spPr>
              <a:xfrm>
                <a:off x="3823" y="3292"/>
                <a:ext cx="164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d</a:t>
                </a:r>
                <a:endParaRPr/>
              </a:p>
            </p:txBody>
          </p:sp>
          <p:sp>
            <p:nvSpPr>
              <p:cNvPr id="523" name="Google Shape;523;p29"/>
              <p:cNvSpPr/>
              <p:nvPr/>
            </p:nvSpPr>
            <p:spPr>
              <a:xfrm>
                <a:off x="4237" y="3284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e</a:t>
                </a:r>
                <a:endParaRPr/>
              </a:p>
            </p:txBody>
          </p:sp>
        </p:grpSp>
        <p:grpSp>
          <p:nvGrpSpPr>
            <p:cNvPr id="524" name="Google Shape;524;p29"/>
            <p:cNvGrpSpPr/>
            <p:nvPr/>
          </p:nvGrpSpPr>
          <p:grpSpPr>
            <a:xfrm>
              <a:off x="6405563" y="4216400"/>
              <a:ext cx="922337" cy="666750"/>
              <a:chOff x="4035" y="2656"/>
              <a:chExt cx="581" cy="420"/>
            </a:xfrm>
          </p:grpSpPr>
          <p:grpSp>
            <p:nvGrpSpPr>
              <p:cNvPr id="525" name="Google Shape;525;p29"/>
              <p:cNvGrpSpPr/>
              <p:nvPr/>
            </p:nvGrpSpPr>
            <p:grpSpPr>
              <a:xfrm>
                <a:off x="4035" y="2656"/>
                <a:ext cx="163" cy="420"/>
                <a:chOff x="4035" y="2656"/>
                <a:chExt cx="163" cy="420"/>
              </a:xfrm>
            </p:grpSpPr>
            <p:cxnSp>
              <p:nvCxnSpPr>
                <p:cNvPr id="526" name="Google Shape;526;p29"/>
                <p:cNvCxnSpPr/>
                <p:nvPr/>
              </p:nvCxnSpPr>
              <p:spPr>
                <a:xfrm>
                  <a:off x="4120" y="2656"/>
                  <a:ext cx="0" cy="24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triangle"/>
                </a:ln>
              </p:spPr>
            </p:cxnSp>
            <p:sp>
              <p:nvSpPr>
                <p:cNvPr id="527" name="Google Shape;527;p29"/>
                <p:cNvSpPr/>
                <p:nvPr/>
              </p:nvSpPr>
              <p:spPr>
                <a:xfrm>
                  <a:off x="4035" y="2916"/>
                  <a:ext cx="163" cy="160"/>
                </a:xfrm>
                <a:prstGeom prst="ellipse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2"/>
                    </a:buClr>
                    <a:buSzPts val="2000"/>
                    <a:buFont typeface="Libre Baskerville"/>
                    <a:buNone/>
                  </a:pPr>
                  <a:r>
                    <a:rPr b="0" i="0" lang="en-US" sz="2000" u="none">
                      <a:solidFill>
                        <a:schemeClr val="lt2"/>
                      </a:solidFill>
                      <a:latin typeface="Libre Baskerville"/>
                      <a:ea typeface="Libre Baskerville"/>
                      <a:cs typeface="Libre Baskerville"/>
                      <a:sym typeface="Libre Baskerville"/>
                    </a:rPr>
                    <a:t>c</a:t>
                  </a:r>
                  <a:endParaRPr/>
                </a:p>
              </p:txBody>
            </p:sp>
          </p:grpSp>
          <p:cxnSp>
            <p:nvCxnSpPr>
              <p:cNvPr id="528" name="Google Shape;528;p29"/>
              <p:cNvCxnSpPr/>
              <p:nvPr/>
            </p:nvCxnSpPr>
            <p:spPr>
              <a:xfrm flipH="1">
                <a:off x="4216" y="2712"/>
                <a:ext cx="400" cy="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</p:grpSp>
        <p:grpSp>
          <p:nvGrpSpPr>
            <p:cNvPr id="529" name="Google Shape;529;p29"/>
            <p:cNvGrpSpPr/>
            <p:nvPr/>
          </p:nvGrpSpPr>
          <p:grpSpPr>
            <a:xfrm>
              <a:off x="6445250" y="3606800"/>
              <a:ext cx="1047750" cy="692150"/>
              <a:chOff x="4060" y="2272"/>
              <a:chExt cx="660" cy="436"/>
            </a:xfrm>
          </p:grpSpPr>
          <p:cxnSp>
            <p:nvCxnSpPr>
              <p:cNvPr id="530" name="Google Shape;530;p29"/>
              <p:cNvCxnSpPr/>
              <p:nvPr/>
            </p:nvCxnSpPr>
            <p:spPr>
              <a:xfrm flipH="1">
                <a:off x="4200" y="2272"/>
                <a:ext cx="184" cy="2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531" name="Google Shape;531;p29"/>
              <p:cNvCxnSpPr/>
              <p:nvPr/>
            </p:nvCxnSpPr>
            <p:spPr>
              <a:xfrm>
                <a:off x="4424" y="2296"/>
                <a:ext cx="200" cy="25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532" name="Google Shape;532;p29"/>
              <p:cNvSpPr/>
              <p:nvPr/>
            </p:nvSpPr>
            <p:spPr>
              <a:xfrm>
                <a:off x="4060" y="2548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b</a:t>
                </a:r>
                <a:endParaRPr/>
              </a:p>
            </p:txBody>
          </p:sp>
          <p:sp>
            <p:nvSpPr>
              <p:cNvPr id="533" name="Google Shape;533;p29"/>
              <p:cNvSpPr/>
              <p:nvPr/>
            </p:nvSpPr>
            <p:spPr>
              <a:xfrm>
                <a:off x="4557" y="2548"/>
                <a:ext cx="163" cy="16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2000"/>
                  <a:buFont typeface="Libre Baskerville"/>
                  <a:buNone/>
                </a:pPr>
                <a:r>
                  <a:rPr b="0" i="0" lang="en-US" sz="2000" u="none">
                    <a:solidFill>
                      <a:schemeClr val="lt2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f</a:t>
                </a:r>
                <a:endParaRPr/>
              </a:p>
            </p:txBody>
          </p:sp>
        </p:grpSp>
        <p:sp>
          <p:nvSpPr>
            <p:cNvPr id="534" name="Google Shape;534;p29"/>
            <p:cNvSpPr/>
            <p:nvPr/>
          </p:nvSpPr>
          <p:spPr>
            <a:xfrm>
              <a:off x="6832600" y="3473450"/>
              <a:ext cx="258763" cy="254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000"/>
                <a:buFont typeface="Libre Baskerville"/>
                <a:buNone/>
              </a:pPr>
              <a:r>
                <a:rPr b="0" i="0" lang="en-US" sz="20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</p:grpSp>
      <p:sp>
        <p:nvSpPr>
          <p:cNvPr id="535" name="Google Shape;535;p29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Indirect Connections</a:t>
            </a:r>
            <a:endParaRPr/>
          </a:p>
        </p:txBody>
      </p:sp>
      <p:sp>
        <p:nvSpPr>
          <p:cNvPr id="536" name="Google Shape;536;p29"/>
          <p:cNvSpPr txBox="1"/>
          <p:nvPr>
            <p:ph idx="1" type="body"/>
          </p:nvPr>
        </p:nvSpPr>
        <p:spPr>
          <a:xfrm>
            <a:off x="457200" y="1600200"/>
            <a:ext cx="7162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⚫"/>
            </a:pPr>
            <a:r>
              <a:rPr b="0" i="0" lang="en-US" sz="20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Directed walk:  sequence of ordered pairs</a:t>
            </a:r>
            <a:endParaRPr/>
          </a:p>
          <a:p>
            <a:pPr indent="-273050" lvl="0" marL="2730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⚫"/>
            </a:pPr>
            <a:r>
              <a:rPr b="0" i="0" lang="en-US" sz="20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Directed trail: no arc is included more than once</a:t>
            </a:r>
            <a:endParaRPr/>
          </a:p>
          <a:p>
            <a:pPr indent="-273050" lvl="0" marL="2730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⚫"/>
            </a:pPr>
            <a:r>
              <a:rPr b="0" i="0" lang="en-US" sz="20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Directed path:  no arc nor no node included more than once</a:t>
            </a:r>
            <a:endParaRPr/>
          </a:p>
          <a:p>
            <a:pPr indent="-228599" lvl="1" marL="547687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15"/>
              <a:buFont typeface="Noto Sans Symbols"/>
              <a:buChar char="⚫"/>
            </a:pPr>
            <a:r>
              <a:rPr b="0" i="0" lang="en-US" sz="19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Path Lengh: number of arcs in the path</a:t>
            </a:r>
            <a:endParaRPr/>
          </a:p>
          <a:p>
            <a:pPr indent="-273050" lvl="0" marL="27305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⚫"/>
            </a:pPr>
            <a:r>
              <a:rPr b="0" i="0" lang="en-US" sz="20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Cycle:  Closed direct walk of at least three nodes</a:t>
            </a: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30"/>
          <p:cNvGrpSpPr/>
          <p:nvPr/>
        </p:nvGrpSpPr>
        <p:grpSpPr>
          <a:xfrm>
            <a:off x="479425" y="1420812"/>
            <a:ext cx="8323262" cy="1855787"/>
            <a:chOff x="479425" y="1184275"/>
            <a:chExt cx="8323263" cy="1855788"/>
          </a:xfrm>
        </p:grpSpPr>
        <p:sp>
          <p:nvSpPr>
            <p:cNvPr id="543" name="Google Shape;543;p30"/>
            <p:cNvSpPr txBox="1"/>
            <p:nvPr/>
          </p:nvSpPr>
          <p:spPr>
            <a:xfrm>
              <a:off x="479425" y="1184275"/>
              <a:ext cx="8323263" cy="1292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ibre Baskerville"/>
                <a:buNone/>
              </a:pPr>
              <a:r>
                <a:rPr b="0" i="0" lang="en-US" sz="26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One of the key advantages to storing networks as matrices is that we can use all of the tools from linear algebra on the socio-matrix.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544" name="Google Shape;544;p30"/>
            <p:cNvSpPr txBox="1"/>
            <p:nvPr/>
          </p:nvSpPr>
          <p:spPr>
            <a:xfrm>
              <a:off x="568325" y="2116733"/>
              <a:ext cx="82296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457200" lvl="1" marL="9144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Libre Baskerville"/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 matrix is any rectangular array of numbers.  We refer to the matrix dimension as the number of rows and columns </a:t>
              </a:r>
              <a:endParaRPr/>
            </a:p>
          </p:txBody>
        </p:sp>
      </p:grpSp>
      <p:grpSp>
        <p:nvGrpSpPr>
          <p:cNvPr id="545" name="Google Shape;545;p30"/>
          <p:cNvGrpSpPr/>
          <p:nvPr/>
        </p:nvGrpSpPr>
        <p:grpSpPr>
          <a:xfrm>
            <a:off x="593725" y="3554412"/>
            <a:ext cx="2632075" cy="2697162"/>
            <a:chOff x="374" y="2250"/>
            <a:chExt cx="1658" cy="1699"/>
          </a:xfrm>
        </p:grpSpPr>
        <p:sp>
          <p:nvSpPr>
            <p:cNvPr id="546" name="Google Shape;546;p30"/>
            <p:cNvSpPr txBox="1"/>
            <p:nvPr/>
          </p:nvSpPr>
          <p:spPr>
            <a:xfrm>
              <a:off x="653" y="2250"/>
              <a:ext cx="2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547" name="Google Shape;547;p30"/>
            <p:cNvSpPr txBox="1"/>
            <p:nvPr/>
          </p:nvSpPr>
          <p:spPr>
            <a:xfrm>
              <a:off x="941" y="2250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548" name="Google Shape;548;p30"/>
            <p:cNvSpPr txBox="1"/>
            <p:nvPr/>
          </p:nvSpPr>
          <p:spPr>
            <a:xfrm>
              <a:off x="1239" y="2250"/>
              <a:ext cx="2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549" name="Google Shape;549;p30"/>
            <p:cNvSpPr txBox="1"/>
            <p:nvPr/>
          </p:nvSpPr>
          <p:spPr>
            <a:xfrm>
              <a:off x="1526" y="2250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550" name="Google Shape;550;p30"/>
            <p:cNvSpPr txBox="1"/>
            <p:nvPr/>
          </p:nvSpPr>
          <p:spPr>
            <a:xfrm>
              <a:off x="1824" y="2250"/>
              <a:ext cx="2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sp>
          <p:nvSpPr>
            <p:cNvPr id="551" name="Google Shape;551;p30"/>
            <p:cNvSpPr txBox="1"/>
            <p:nvPr/>
          </p:nvSpPr>
          <p:spPr>
            <a:xfrm>
              <a:off x="575" y="2495"/>
              <a:ext cx="1457" cy="140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2" name="Google Shape;552;p30"/>
            <p:cNvCxnSpPr/>
            <p:nvPr/>
          </p:nvCxnSpPr>
          <p:spPr>
            <a:xfrm>
              <a:off x="855" y="2502"/>
              <a:ext cx="0" cy="14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3" name="Google Shape;553;p30"/>
            <p:cNvCxnSpPr/>
            <p:nvPr/>
          </p:nvCxnSpPr>
          <p:spPr>
            <a:xfrm>
              <a:off x="1152" y="2502"/>
              <a:ext cx="0" cy="14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4" name="Google Shape;554;p30"/>
            <p:cNvCxnSpPr/>
            <p:nvPr/>
          </p:nvCxnSpPr>
          <p:spPr>
            <a:xfrm>
              <a:off x="1448" y="2502"/>
              <a:ext cx="0" cy="14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5" name="Google Shape;555;p30"/>
            <p:cNvCxnSpPr/>
            <p:nvPr/>
          </p:nvCxnSpPr>
          <p:spPr>
            <a:xfrm>
              <a:off x="1746" y="2502"/>
              <a:ext cx="0" cy="14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6" name="Google Shape;556;p30"/>
            <p:cNvCxnSpPr/>
            <p:nvPr/>
          </p:nvCxnSpPr>
          <p:spPr>
            <a:xfrm>
              <a:off x="1309" y="2025"/>
              <a:ext cx="0" cy="14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7" name="Google Shape;557;p30"/>
            <p:cNvCxnSpPr/>
            <p:nvPr/>
          </p:nvCxnSpPr>
          <p:spPr>
            <a:xfrm>
              <a:off x="1309" y="2340"/>
              <a:ext cx="0" cy="14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8" name="Google Shape;558;p30"/>
            <p:cNvCxnSpPr/>
            <p:nvPr/>
          </p:nvCxnSpPr>
          <p:spPr>
            <a:xfrm>
              <a:off x="1309" y="2654"/>
              <a:ext cx="0" cy="14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9" name="Google Shape;559;p30"/>
            <p:cNvCxnSpPr/>
            <p:nvPr/>
          </p:nvCxnSpPr>
          <p:spPr>
            <a:xfrm>
              <a:off x="1309" y="2970"/>
              <a:ext cx="0" cy="14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60" name="Google Shape;560;p30"/>
            <p:cNvSpPr txBox="1"/>
            <p:nvPr/>
          </p:nvSpPr>
          <p:spPr>
            <a:xfrm>
              <a:off x="378" y="2491"/>
              <a:ext cx="201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561" name="Google Shape;561;p30"/>
            <p:cNvSpPr txBox="1"/>
            <p:nvPr/>
          </p:nvSpPr>
          <p:spPr>
            <a:xfrm>
              <a:off x="374" y="2777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562" name="Google Shape;562;p30"/>
            <p:cNvSpPr txBox="1"/>
            <p:nvPr/>
          </p:nvSpPr>
          <p:spPr>
            <a:xfrm>
              <a:off x="378" y="3065"/>
              <a:ext cx="2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563" name="Google Shape;563;p30"/>
            <p:cNvSpPr txBox="1"/>
            <p:nvPr/>
          </p:nvSpPr>
          <p:spPr>
            <a:xfrm>
              <a:off x="374" y="3374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564" name="Google Shape;564;p30"/>
            <p:cNvSpPr txBox="1"/>
            <p:nvPr/>
          </p:nvSpPr>
          <p:spPr>
            <a:xfrm>
              <a:off x="379" y="3661"/>
              <a:ext cx="20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sp>
          <p:nvSpPr>
            <p:cNvPr id="565" name="Google Shape;565;p30"/>
            <p:cNvSpPr txBox="1"/>
            <p:nvPr/>
          </p:nvSpPr>
          <p:spPr>
            <a:xfrm>
              <a:off x="919" y="24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66" name="Google Shape;566;p30"/>
            <p:cNvSpPr txBox="1"/>
            <p:nvPr/>
          </p:nvSpPr>
          <p:spPr>
            <a:xfrm>
              <a:off x="633" y="2753"/>
              <a:ext cx="212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67" name="Google Shape;567;p30"/>
            <p:cNvSpPr txBox="1"/>
            <p:nvPr/>
          </p:nvSpPr>
          <p:spPr>
            <a:xfrm>
              <a:off x="1219" y="2777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0"/>
            <p:cNvSpPr txBox="1"/>
            <p:nvPr/>
          </p:nvSpPr>
          <p:spPr>
            <a:xfrm>
              <a:off x="919" y="30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69" name="Google Shape;569;p30"/>
            <p:cNvSpPr txBox="1"/>
            <p:nvPr/>
          </p:nvSpPr>
          <p:spPr>
            <a:xfrm>
              <a:off x="1505" y="30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70" name="Google Shape;570;p30"/>
            <p:cNvSpPr txBox="1"/>
            <p:nvPr/>
          </p:nvSpPr>
          <p:spPr>
            <a:xfrm>
              <a:off x="1804" y="30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71" name="Google Shape;571;p30"/>
            <p:cNvSpPr txBox="1"/>
            <p:nvPr/>
          </p:nvSpPr>
          <p:spPr>
            <a:xfrm>
              <a:off x="1219" y="3385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0"/>
            <p:cNvSpPr txBox="1"/>
            <p:nvPr/>
          </p:nvSpPr>
          <p:spPr>
            <a:xfrm>
              <a:off x="1811" y="3413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0"/>
            <p:cNvSpPr txBox="1"/>
            <p:nvPr/>
          </p:nvSpPr>
          <p:spPr>
            <a:xfrm>
              <a:off x="1219" y="36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74" name="Google Shape;574;p30"/>
            <p:cNvSpPr txBox="1"/>
            <p:nvPr/>
          </p:nvSpPr>
          <p:spPr>
            <a:xfrm>
              <a:off x="1511" y="36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  <a:endParaRPr/>
            </a:p>
          </p:txBody>
        </p:sp>
        <p:sp>
          <p:nvSpPr>
            <p:cNvPr id="575" name="Google Shape;575;p30"/>
            <p:cNvSpPr txBox="1"/>
            <p:nvPr/>
          </p:nvSpPr>
          <p:spPr>
            <a:xfrm>
              <a:off x="631" y="24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76" name="Google Shape;576;p30"/>
            <p:cNvSpPr txBox="1"/>
            <p:nvPr/>
          </p:nvSpPr>
          <p:spPr>
            <a:xfrm>
              <a:off x="887" y="2753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77" name="Google Shape;577;p30"/>
            <p:cNvSpPr txBox="1"/>
            <p:nvPr/>
          </p:nvSpPr>
          <p:spPr>
            <a:xfrm>
              <a:off x="1183" y="30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78" name="Google Shape;578;p30"/>
            <p:cNvSpPr txBox="1"/>
            <p:nvPr/>
          </p:nvSpPr>
          <p:spPr>
            <a:xfrm>
              <a:off x="1479" y="338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79" name="Google Shape;579;p30"/>
            <p:cNvSpPr txBox="1"/>
            <p:nvPr/>
          </p:nvSpPr>
          <p:spPr>
            <a:xfrm>
              <a:off x="1775" y="36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0" name="Google Shape;580;p30"/>
            <p:cNvSpPr txBox="1"/>
            <p:nvPr/>
          </p:nvSpPr>
          <p:spPr>
            <a:xfrm>
              <a:off x="1799" y="338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1" name="Google Shape;581;p30"/>
            <p:cNvSpPr txBox="1"/>
            <p:nvPr/>
          </p:nvSpPr>
          <p:spPr>
            <a:xfrm>
              <a:off x="1791" y="2753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2" name="Google Shape;582;p30"/>
            <p:cNvSpPr txBox="1"/>
            <p:nvPr/>
          </p:nvSpPr>
          <p:spPr>
            <a:xfrm>
              <a:off x="1783" y="24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3" name="Google Shape;583;p30"/>
            <p:cNvSpPr txBox="1"/>
            <p:nvPr/>
          </p:nvSpPr>
          <p:spPr>
            <a:xfrm>
              <a:off x="1495" y="24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4" name="Google Shape;584;p30"/>
            <p:cNvSpPr txBox="1"/>
            <p:nvPr/>
          </p:nvSpPr>
          <p:spPr>
            <a:xfrm>
              <a:off x="1207" y="24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5" name="Google Shape;585;p30"/>
            <p:cNvSpPr txBox="1"/>
            <p:nvPr/>
          </p:nvSpPr>
          <p:spPr>
            <a:xfrm>
              <a:off x="1167" y="2753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6" name="Google Shape;586;p30"/>
            <p:cNvSpPr txBox="1"/>
            <p:nvPr/>
          </p:nvSpPr>
          <p:spPr>
            <a:xfrm>
              <a:off x="1479" y="2753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7" name="Google Shape;587;p30"/>
            <p:cNvSpPr txBox="1"/>
            <p:nvPr/>
          </p:nvSpPr>
          <p:spPr>
            <a:xfrm>
              <a:off x="623" y="30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8" name="Google Shape;588;p30"/>
            <p:cNvSpPr txBox="1"/>
            <p:nvPr/>
          </p:nvSpPr>
          <p:spPr>
            <a:xfrm>
              <a:off x="583" y="338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89" name="Google Shape;589;p30"/>
            <p:cNvSpPr txBox="1"/>
            <p:nvPr/>
          </p:nvSpPr>
          <p:spPr>
            <a:xfrm>
              <a:off x="895" y="338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90" name="Google Shape;590;p30"/>
            <p:cNvSpPr txBox="1"/>
            <p:nvPr/>
          </p:nvSpPr>
          <p:spPr>
            <a:xfrm>
              <a:off x="1207" y="338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91" name="Google Shape;591;p30"/>
            <p:cNvSpPr txBox="1"/>
            <p:nvPr/>
          </p:nvSpPr>
          <p:spPr>
            <a:xfrm>
              <a:off x="591" y="36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  <p:sp>
          <p:nvSpPr>
            <p:cNvPr id="592" name="Google Shape;592;p30"/>
            <p:cNvSpPr txBox="1"/>
            <p:nvPr/>
          </p:nvSpPr>
          <p:spPr>
            <a:xfrm>
              <a:off x="927" y="3649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</a:t>
              </a:r>
              <a:endParaRPr/>
            </a:p>
          </p:txBody>
        </p:sp>
      </p:grpSp>
      <p:sp>
        <p:nvSpPr>
          <p:cNvPr id="593" name="Google Shape;593;p30"/>
          <p:cNvSpPr txBox="1"/>
          <p:nvPr/>
        </p:nvSpPr>
        <p:spPr>
          <a:xfrm>
            <a:off x="1393825" y="6149975"/>
            <a:ext cx="996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(5 x 5)</a:t>
            </a:r>
            <a:endParaRPr/>
          </a:p>
        </p:txBody>
      </p:sp>
      <p:grpSp>
        <p:nvGrpSpPr>
          <p:cNvPr id="594" name="Google Shape;594;p30"/>
          <p:cNvGrpSpPr/>
          <p:nvPr/>
        </p:nvGrpSpPr>
        <p:grpSpPr>
          <a:xfrm>
            <a:off x="4292600" y="3554412"/>
            <a:ext cx="804862" cy="2647950"/>
            <a:chOff x="3584" y="2033"/>
            <a:chExt cx="320" cy="1346"/>
          </a:xfrm>
        </p:grpSpPr>
        <p:sp>
          <p:nvSpPr>
            <p:cNvPr id="595" name="Google Shape;595;p30"/>
            <p:cNvSpPr txBox="1"/>
            <p:nvPr/>
          </p:nvSpPr>
          <p:spPr>
            <a:xfrm>
              <a:off x="3584" y="2033"/>
              <a:ext cx="293" cy="13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 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</a:t>
              </a:r>
              <a:endParaRPr/>
            </a:p>
          </p:txBody>
        </p:sp>
        <p:cxnSp>
          <p:nvCxnSpPr>
            <p:cNvPr id="596" name="Google Shape;596;p30"/>
            <p:cNvCxnSpPr/>
            <p:nvPr/>
          </p:nvCxnSpPr>
          <p:spPr>
            <a:xfrm>
              <a:off x="3624" y="2232"/>
              <a:ext cx="2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97" name="Google Shape;597;p30"/>
          <p:cNvSpPr txBox="1"/>
          <p:nvPr/>
        </p:nvSpPr>
        <p:spPr>
          <a:xfrm>
            <a:off x="4251325" y="6149975"/>
            <a:ext cx="844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(5x2)</a:t>
            </a:r>
            <a:endParaRPr/>
          </a:p>
        </p:txBody>
      </p:sp>
      <p:grpSp>
        <p:nvGrpSpPr>
          <p:cNvPr id="598" name="Google Shape;598;p30"/>
          <p:cNvGrpSpPr/>
          <p:nvPr/>
        </p:nvGrpSpPr>
        <p:grpSpPr>
          <a:xfrm>
            <a:off x="6591300" y="3554412"/>
            <a:ext cx="804862" cy="2647950"/>
            <a:chOff x="3584" y="2033"/>
            <a:chExt cx="320" cy="1346"/>
          </a:xfrm>
        </p:grpSpPr>
        <p:sp>
          <p:nvSpPr>
            <p:cNvPr id="599" name="Google Shape;599;p30"/>
            <p:cNvSpPr txBox="1"/>
            <p:nvPr/>
          </p:nvSpPr>
          <p:spPr>
            <a:xfrm>
              <a:off x="3584" y="2033"/>
              <a:ext cx="293" cy="13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  <p:cxnSp>
          <p:nvCxnSpPr>
            <p:cNvPr id="600" name="Google Shape;600;p30"/>
            <p:cNvCxnSpPr/>
            <p:nvPr/>
          </p:nvCxnSpPr>
          <p:spPr>
            <a:xfrm>
              <a:off x="3624" y="2232"/>
              <a:ext cx="2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601" name="Google Shape;601;p30"/>
          <p:cNvSpPr txBox="1"/>
          <p:nvPr/>
        </p:nvSpPr>
        <p:spPr>
          <a:xfrm>
            <a:off x="6461125" y="6149975"/>
            <a:ext cx="844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(5x1)</a:t>
            </a:r>
            <a:endParaRPr/>
          </a:p>
        </p:txBody>
      </p:sp>
      <p:sp>
        <p:nvSpPr>
          <p:cNvPr id="602" name="Google Shape;602;p30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Libre Franklin"/>
              <a:buNone/>
            </a:pPr>
            <a:r>
              <a:rPr b="0" i="0" lang="en-US" sz="37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Matrix Algebra</a:t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1"/>
          <p:cNvSpPr txBox="1"/>
          <p:nvPr/>
        </p:nvSpPr>
        <p:spPr>
          <a:xfrm>
            <a:off x="263525" y="1336675"/>
            <a:ext cx="7859712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Matrix operations work on the elements of the matrix in particular ways.  To do so, the matrices must be </a:t>
            </a:r>
            <a:r>
              <a:rPr b="0" i="1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conformable.  </a:t>
            </a: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That means the sizes allow the operation.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 </a:t>
            </a:r>
            <a:r>
              <a:rPr b="0" i="1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addition (+), subtraction (-), </a:t>
            </a: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or </a:t>
            </a:r>
            <a:r>
              <a:rPr b="0" i="1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elementwise multiplication </a:t>
            </a: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(#), both matrices must have the same number of rows and columns.  For these operations, the matrix value is the operation applied to the corresponding cell values.</a:t>
            </a:r>
            <a:endParaRPr/>
          </a:p>
        </p:txBody>
      </p:sp>
      <p:sp>
        <p:nvSpPr>
          <p:cNvPr id="609" name="Google Shape;609;p31"/>
          <p:cNvSpPr txBox="1"/>
          <p:nvPr/>
        </p:nvSpPr>
        <p:spPr>
          <a:xfrm>
            <a:off x="1038225" y="3190875"/>
            <a:ext cx="731837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2 5</a:t>
            </a:r>
            <a:endParaRPr/>
          </a:p>
        </p:txBody>
      </p:sp>
      <p:sp>
        <p:nvSpPr>
          <p:cNvPr id="610" name="Google Shape;610;p31"/>
          <p:cNvSpPr txBox="1"/>
          <p:nvPr/>
        </p:nvSpPr>
        <p:spPr>
          <a:xfrm>
            <a:off x="2473325" y="3190875"/>
            <a:ext cx="731837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0 4</a:t>
            </a:r>
            <a:endParaRPr/>
          </a:p>
        </p:txBody>
      </p:sp>
      <p:sp>
        <p:nvSpPr>
          <p:cNvPr id="611" name="Google Shape;611;p31"/>
          <p:cNvSpPr txBox="1"/>
          <p:nvPr/>
        </p:nvSpPr>
        <p:spPr>
          <a:xfrm>
            <a:off x="457200" y="3495675"/>
            <a:ext cx="576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1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</a:t>
            </a:r>
            <a:endParaRPr/>
          </a:p>
        </p:txBody>
      </p:sp>
      <p:sp>
        <p:nvSpPr>
          <p:cNvPr id="612" name="Google Shape;612;p31"/>
          <p:cNvSpPr txBox="1"/>
          <p:nvPr/>
        </p:nvSpPr>
        <p:spPr>
          <a:xfrm>
            <a:off x="2016125" y="3495675"/>
            <a:ext cx="55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1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</a:t>
            </a:r>
            <a:endParaRPr/>
          </a:p>
        </p:txBody>
      </p:sp>
      <p:sp>
        <p:nvSpPr>
          <p:cNvPr id="613" name="Google Shape;613;p31"/>
          <p:cNvSpPr txBox="1"/>
          <p:nvPr/>
        </p:nvSpPr>
        <p:spPr>
          <a:xfrm>
            <a:off x="3692525" y="3470275"/>
            <a:ext cx="1103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A+B = </a:t>
            </a:r>
            <a:endParaRPr/>
          </a:p>
        </p:txBody>
      </p:sp>
      <p:sp>
        <p:nvSpPr>
          <p:cNvPr id="614" name="Google Shape;614;p31"/>
          <p:cNvSpPr txBox="1"/>
          <p:nvPr/>
        </p:nvSpPr>
        <p:spPr>
          <a:xfrm>
            <a:off x="4772025" y="3101975"/>
            <a:ext cx="9144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3 6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11 8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2 9</a:t>
            </a:r>
            <a:endParaRPr/>
          </a:p>
        </p:txBody>
      </p:sp>
      <p:sp>
        <p:nvSpPr>
          <p:cNvPr id="615" name="Google Shape;615;p31"/>
          <p:cNvSpPr txBox="1"/>
          <p:nvPr/>
        </p:nvSpPr>
        <p:spPr>
          <a:xfrm>
            <a:off x="5851525" y="3444875"/>
            <a:ext cx="10334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A-B = </a:t>
            </a:r>
            <a:endParaRPr/>
          </a:p>
        </p:txBody>
      </p:sp>
      <p:sp>
        <p:nvSpPr>
          <p:cNvPr id="616" name="Google Shape;616;p31"/>
          <p:cNvSpPr txBox="1"/>
          <p:nvPr/>
        </p:nvSpPr>
        <p:spPr>
          <a:xfrm>
            <a:off x="6931025" y="3076575"/>
            <a:ext cx="1096962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-1 0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-3 6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2 1</a:t>
            </a:r>
            <a:endParaRPr/>
          </a:p>
        </p:txBody>
      </p:sp>
      <p:sp>
        <p:nvSpPr>
          <p:cNvPr id="617" name="Google Shape;617;p31"/>
          <p:cNvSpPr txBox="1"/>
          <p:nvPr/>
        </p:nvSpPr>
        <p:spPr>
          <a:xfrm>
            <a:off x="5927725" y="4854575"/>
            <a:ext cx="10842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A#B = </a:t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7007225" y="4486275"/>
            <a:ext cx="1096962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2  9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28  7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0 20</a:t>
            </a:r>
            <a:endParaRPr/>
          </a:p>
        </p:txBody>
      </p:sp>
      <p:sp>
        <p:nvSpPr>
          <p:cNvPr id="619" name="Google Shape;619;p31"/>
          <p:cNvSpPr txBox="1"/>
          <p:nvPr/>
        </p:nvSpPr>
        <p:spPr>
          <a:xfrm>
            <a:off x="368300" y="5070475"/>
            <a:ext cx="4159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Multiplication by a scalar: 3A = </a:t>
            </a:r>
            <a:endParaRPr/>
          </a:p>
        </p:txBody>
      </p:sp>
      <p:sp>
        <p:nvSpPr>
          <p:cNvPr id="620" name="Google Shape;620;p31"/>
          <p:cNvSpPr txBox="1"/>
          <p:nvPr/>
        </p:nvSpPr>
        <p:spPr>
          <a:xfrm>
            <a:off x="4356100" y="4705350"/>
            <a:ext cx="1096962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3  9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12 21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6 15</a:t>
            </a:r>
            <a:endParaRPr/>
          </a:p>
        </p:txBody>
      </p:sp>
      <p:sp>
        <p:nvSpPr>
          <p:cNvPr id="621" name="Google Shape;621;p31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"/>
              <a:buNone/>
            </a:pPr>
            <a:r>
              <a:rPr b="0" i="0" lang="en-US" sz="35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Matrix Algebra</a:t>
            </a:r>
            <a:endParaRPr/>
          </a:p>
        </p:txBody>
      </p:sp>
      <p:sp>
        <p:nvSpPr>
          <p:cNvPr id="622" name="Google Shape;622;p31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2"/>
          <p:cNvSpPr txBox="1"/>
          <p:nvPr/>
        </p:nvSpPr>
        <p:spPr>
          <a:xfrm>
            <a:off x="390525" y="1527175"/>
            <a:ext cx="8601075" cy="24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Baskerville"/>
              <a:buNone/>
            </a:pPr>
            <a:r>
              <a:rPr b="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</a:t>
            </a:r>
            <a:r>
              <a:rPr b="0" i="1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transpose</a:t>
            </a:r>
            <a:r>
              <a:rPr b="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(` or </a:t>
            </a:r>
            <a:r>
              <a:rPr b="0" baseline="3000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</a:t>
            </a:r>
            <a:r>
              <a:rPr b="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of a matrix reverses the row and column dimensions.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Baskerville"/>
              <a:buNone/>
            </a:pPr>
            <a:r>
              <a:rPr b="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	</a:t>
            </a:r>
            <a:r>
              <a:rPr b="1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r>
              <a:rPr b="0" baseline="3000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</a:t>
            </a:r>
            <a:r>
              <a:rPr b="0" baseline="-2500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ij</a:t>
            </a:r>
            <a:r>
              <a:rPr b="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</a:t>
            </a:r>
            <a:r>
              <a:rPr b="1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r>
              <a:rPr b="0" baseline="-2500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Baskerville"/>
              <a:buNone/>
            </a:pPr>
            <a:r>
              <a:rPr b="0" i="0" lang="en-US" sz="25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a M x N matrix becomes an N x M matrix.</a:t>
            </a:r>
            <a:endParaRPr/>
          </a:p>
        </p:txBody>
      </p:sp>
      <p:sp>
        <p:nvSpPr>
          <p:cNvPr id="628" name="Google Shape;628;p32"/>
          <p:cNvSpPr txBox="1"/>
          <p:nvPr/>
        </p:nvSpPr>
        <p:spPr>
          <a:xfrm>
            <a:off x="3159125" y="3517900"/>
            <a:ext cx="323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</a:t>
            </a:r>
            <a:endParaRPr/>
          </a:p>
        </p:txBody>
      </p:sp>
      <p:grpSp>
        <p:nvGrpSpPr>
          <p:cNvPr id="629" name="Google Shape;629;p32"/>
          <p:cNvGrpSpPr/>
          <p:nvPr/>
        </p:nvGrpSpPr>
        <p:grpSpPr>
          <a:xfrm>
            <a:off x="2425700" y="4451350"/>
            <a:ext cx="2933700" cy="1187450"/>
            <a:chOff x="2425700" y="3698875"/>
            <a:chExt cx="2933700" cy="1187450"/>
          </a:xfrm>
        </p:grpSpPr>
        <p:sp>
          <p:nvSpPr>
            <p:cNvPr id="630" name="Google Shape;630;p32"/>
            <p:cNvSpPr txBox="1"/>
            <p:nvPr/>
          </p:nvSpPr>
          <p:spPr>
            <a:xfrm>
              <a:off x="2473325" y="3698875"/>
              <a:ext cx="731838" cy="1187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 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 f</a:t>
              </a:r>
              <a:endParaRPr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2425700" y="3733800"/>
              <a:ext cx="127000" cy="1130300"/>
            </a:xfrm>
            <a:custGeom>
              <a:rect b="b" l="l" r="r" t="t"/>
              <a:pathLst>
                <a:path extrusionOk="0" h="712" w="80">
                  <a:moveTo>
                    <a:pt x="72" y="0"/>
                  </a:moveTo>
                  <a:lnTo>
                    <a:pt x="0" y="0"/>
                  </a:lnTo>
                  <a:lnTo>
                    <a:pt x="0" y="712"/>
                  </a:lnTo>
                  <a:lnTo>
                    <a:pt x="80" y="712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2"/>
            <p:cNvSpPr/>
            <p:nvPr/>
          </p:nvSpPr>
          <p:spPr>
            <a:xfrm flipH="1">
              <a:off x="3048000" y="3721100"/>
              <a:ext cx="127000" cy="1130300"/>
            </a:xfrm>
            <a:custGeom>
              <a:rect b="b" l="l" r="r" t="t"/>
              <a:pathLst>
                <a:path extrusionOk="0" h="712" w="80">
                  <a:moveTo>
                    <a:pt x="72" y="0"/>
                  </a:moveTo>
                  <a:lnTo>
                    <a:pt x="0" y="0"/>
                  </a:lnTo>
                  <a:lnTo>
                    <a:pt x="0" y="712"/>
                  </a:lnTo>
                  <a:lnTo>
                    <a:pt x="80" y="712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2"/>
            <p:cNvSpPr txBox="1"/>
            <p:nvPr/>
          </p:nvSpPr>
          <p:spPr>
            <a:xfrm>
              <a:off x="3717925" y="4029075"/>
              <a:ext cx="355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=</a:t>
              </a:r>
              <a:endParaRPr/>
            </a:p>
          </p:txBody>
        </p:sp>
        <p:sp>
          <p:nvSpPr>
            <p:cNvPr id="634" name="Google Shape;634;p32"/>
            <p:cNvSpPr txBox="1"/>
            <p:nvPr/>
          </p:nvSpPr>
          <p:spPr>
            <a:xfrm>
              <a:off x="4251325" y="3851275"/>
              <a:ext cx="1096963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c 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urier New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 d f</a:t>
              </a:r>
              <a:endParaRPr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191000" y="3987800"/>
              <a:ext cx="139700" cy="584200"/>
            </a:xfrm>
            <a:custGeom>
              <a:rect b="b" l="l" r="r" t="t"/>
              <a:pathLst>
                <a:path extrusionOk="0" h="712" w="80">
                  <a:moveTo>
                    <a:pt x="72" y="0"/>
                  </a:moveTo>
                  <a:lnTo>
                    <a:pt x="0" y="0"/>
                  </a:lnTo>
                  <a:lnTo>
                    <a:pt x="0" y="712"/>
                  </a:lnTo>
                  <a:lnTo>
                    <a:pt x="80" y="712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2"/>
            <p:cNvSpPr/>
            <p:nvPr/>
          </p:nvSpPr>
          <p:spPr>
            <a:xfrm flipH="1">
              <a:off x="5219700" y="3987800"/>
              <a:ext cx="139700" cy="584200"/>
            </a:xfrm>
            <a:custGeom>
              <a:rect b="b" l="l" r="r" t="t"/>
              <a:pathLst>
                <a:path extrusionOk="0" h="712" w="80">
                  <a:moveTo>
                    <a:pt x="72" y="0"/>
                  </a:moveTo>
                  <a:lnTo>
                    <a:pt x="0" y="0"/>
                  </a:lnTo>
                  <a:lnTo>
                    <a:pt x="0" y="712"/>
                  </a:lnTo>
                  <a:lnTo>
                    <a:pt x="80" y="712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32"/>
          <p:cNvSpPr txBox="1"/>
          <p:nvPr/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bre Franklin"/>
              <a:buNone/>
            </a:pPr>
            <a:r>
              <a:rPr b="0" i="0" lang="en-US" sz="35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Matrix Algebra</a:t>
            </a:r>
            <a:endParaRPr/>
          </a:p>
        </p:txBody>
      </p:sp>
      <p:sp>
        <p:nvSpPr>
          <p:cNvPr id="638" name="Google Shape;638;p32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3"/>
          <p:cNvSpPr txBox="1"/>
          <p:nvPr/>
        </p:nvSpPr>
        <p:spPr>
          <a:xfrm>
            <a:off x="428625" y="1171575"/>
            <a:ext cx="7923212" cy="505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</a:t>
            </a:r>
            <a:r>
              <a:rPr b="0" i="1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matrix multiplication </a:t>
            </a: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b="0" i="0" lang="en-US" sz="2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of two matrices involves all elements of the matrix, and will often result in a matrix of new dimensions.  In general, to be conformable, the inner dimension of both matrices must match.  So: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r>
              <a:rPr b="0" baseline="-2500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3x2 </a:t>
            </a:r>
            <a:r>
              <a:rPr b="0" i="0" lang="en-US" sz="2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B</a:t>
            </a:r>
            <a:r>
              <a:rPr b="0" baseline="-2500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2x3</a:t>
            </a: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= C</a:t>
            </a:r>
            <a:r>
              <a:rPr b="0" baseline="-2500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 x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baseline="-25000" i="0" sz="22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r>
              <a:rPr b="0" baseline="-2500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3x3</a:t>
            </a: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x B</a:t>
            </a:r>
            <a:r>
              <a:rPr b="0" baseline="-2500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2x3</a:t>
            </a: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is not defined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Substantively, adding ‘names’ to the dimensions will help us keep track of what the resulting multiplications mean: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</a:pPr>
            <a:r>
              <a:rPr b="0" i="0" lang="en-US" sz="22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 multiplying (send x receive)x (send x receive) = (send x receive), giving us the two-step distances (the sender’s recipient's receivers).</a:t>
            </a:r>
            <a:endParaRPr/>
          </a:p>
        </p:txBody>
      </p:sp>
      <p:sp>
        <p:nvSpPr>
          <p:cNvPr id="644" name="Google Shape;644;p33"/>
          <p:cNvSpPr txBox="1"/>
          <p:nvPr/>
        </p:nvSpPr>
        <p:spPr>
          <a:xfrm>
            <a:off x="457200" y="274637"/>
            <a:ext cx="8229600" cy="896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bre Franklin"/>
              <a:buNone/>
            </a:pPr>
            <a:r>
              <a:rPr b="0" i="0" lang="en-US" sz="35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Matrix Algebra</a:t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4"/>
          <p:cNvSpPr txBox="1"/>
          <p:nvPr/>
        </p:nvSpPr>
        <p:spPr>
          <a:xfrm>
            <a:off x="428625" y="1371600"/>
            <a:ext cx="7802562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multiplication of two matrices A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</a:t>
            </a:r>
            <a:r>
              <a:rPr b="0" baseline="-25000" i="0" lang="en-US" sz="26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 </a:t>
            </a: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 B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r>
              <a:rPr b="0" baseline="-25000" i="0" lang="en-US" sz="26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 </a:t>
            </a: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 in C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</a:t>
            </a:r>
            <a:r>
              <a:rPr b="0" baseline="-25000" i="0" lang="en-US" sz="26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x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</a:t>
            </a:r>
            <a:endParaRPr/>
          </a:p>
        </p:txBody>
      </p:sp>
      <p:pic>
        <p:nvPicPr>
          <p:cNvPr id="651" name="Google Shape;6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6350" y="1736725"/>
            <a:ext cx="3438525" cy="151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4"/>
          <p:cNvSpPr txBox="1"/>
          <p:nvPr/>
        </p:nvSpPr>
        <p:spPr>
          <a:xfrm>
            <a:off x="1838325" y="3444875"/>
            <a:ext cx="73183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 d</a:t>
            </a:r>
            <a:endParaRPr/>
          </a:p>
        </p:txBody>
      </p:sp>
      <p:sp>
        <p:nvSpPr>
          <p:cNvPr id="653" name="Google Shape;653;p34"/>
          <p:cNvSpPr txBox="1"/>
          <p:nvPr/>
        </p:nvSpPr>
        <p:spPr>
          <a:xfrm>
            <a:off x="2841625" y="3444875"/>
            <a:ext cx="73183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 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 h</a:t>
            </a:r>
            <a:endParaRPr/>
          </a:p>
        </p:txBody>
      </p:sp>
      <p:sp>
        <p:nvSpPr>
          <p:cNvPr id="654" name="Google Shape;654;p34"/>
          <p:cNvSpPr/>
          <p:nvPr/>
        </p:nvSpPr>
        <p:spPr>
          <a:xfrm>
            <a:off x="1778000" y="36099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4"/>
          <p:cNvSpPr/>
          <p:nvPr/>
        </p:nvSpPr>
        <p:spPr>
          <a:xfrm flipH="1">
            <a:off x="2514600" y="36099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2781300" y="36099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4"/>
          <p:cNvSpPr/>
          <p:nvPr/>
        </p:nvSpPr>
        <p:spPr>
          <a:xfrm flipH="1">
            <a:off x="3517900" y="36099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4"/>
          <p:cNvSpPr txBox="1"/>
          <p:nvPr/>
        </p:nvSpPr>
        <p:spPr>
          <a:xfrm>
            <a:off x="3895725" y="3648075"/>
            <a:ext cx="35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</a:t>
            </a:r>
            <a:endParaRPr/>
          </a:p>
        </p:txBody>
      </p:sp>
      <p:sp>
        <p:nvSpPr>
          <p:cNvPr id="659" name="Google Shape;659;p34"/>
          <p:cNvSpPr txBox="1"/>
          <p:nvPr/>
        </p:nvSpPr>
        <p:spPr>
          <a:xfrm>
            <a:off x="4619625" y="3444875"/>
            <a:ext cx="23764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	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/>
          </a:p>
        </p:txBody>
      </p:sp>
      <p:sp>
        <p:nvSpPr>
          <p:cNvPr id="660" name="Google Shape;660;p34"/>
          <p:cNvSpPr/>
          <p:nvPr/>
        </p:nvSpPr>
        <p:spPr>
          <a:xfrm>
            <a:off x="4521200" y="36099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4"/>
          <p:cNvSpPr/>
          <p:nvPr/>
        </p:nvSpPr>
        <p:spPr>
          <a:xfrm flipH="1">
            <a:off x="6908800" y="36099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4"/>
          <p:cNvSpPr txBox="1"/>
          <p:nvPr/>
        </p:nvSpPr>
        <p:spPr>
          <a:xfrm>
            <a:off x="1012825" y="4778375"/>
            <a:ext cx="731837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 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e f</a:t>
            </a:r>
            <a:endParaRPr/>
          </a:p>
        </p:txBody>
      </p:sp>
      <p:sp>
        <p:nvSpPr>
          <p:cNvPr id="663" name="Google Shape;663;p34"/>
          <p:cNvSpPr txBox="1"/>
          <p:nvPr/>
        </p:nvSpPr>
        <p:spPr>
          <a:xfrm>
            <a:off x="2219325" y="4905375"/>
            <a:ext cx="10969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 h 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k l</a:t>
            </a:r>
            <a:endParaRPr/>
          </a:p>
        </p:txBody>
      </p:sp>
      <p:sp>
        <p:nvSpPr>
          <p:cNvPr id="664" name="Google Shape;664;p34"/>
          <p:cNvSpPr/>
          <p:nvPr/>
        </p:nvSpPr>
        <p:spPr>
          <a:xfrm>
            <a:off x="939800" y="4918075"/>
            <a:ext cx="139700" cy="9398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4"/>
          <p:cNvSpPr/>
          <p:nvPr/>
        </p:nvSpPr>
        <p:spPr>
          <a:xfrm flipH="1">
            <a:off x="1676400" y="4918075"/>
            <a:ext cx="139700" cy="9398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4"/>
          <p:cNvSpPr/>
          <p:nvPr/>
        </p:nvSpPr>
        <p:spPr>
          <a:xfrm>
            <a:off x="2120900" y="50577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4"/>
          <p:cNvSpPr/>
          <p:nvPr/>
        </p:nvSpPr>
        <p:spPr>
          <a:xfrm flipH="1">
            <a:off x="3187700" y="5057775"/>
            <a:ext cx="139700" cy="5842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4"/>
          <p:cNvSpPr txBox="1"/>
          <p:nvPr/>
        </p:nvSpPr>
        <p:spPr>
          <a:xfrm>
            <a:off x="3908425" y="5019675"/>
            <a:ext cx="35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</a:t>
            </a:r>
            <a:endParaRPr/>
          </a:p>
        </p:txBody>
      </p:sp>
      <p:sp>
        <p:nvSpPr>
          <p:cNvPr id="669" name="Google Shape;669;p34"/>
          <p:cNvSpPr txBox="1"/>
          <p:nvPr/>
        </p:nvSpPr>
        <p:spPr>
          <a:xfrm>
            <a:off x="4505325" y="4841875"/>
            <a:ext cx="3652837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  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i+</a:t>
            </a:r>
            <a:r>
              <a:rPr b="0" i="0" lang="en-US" sz="1800" u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/>
          </a:p>
        </p:txBody>
      </p:sp>
      <p:sp>
        <p:nvSpPr>
          <p:cNvPr id="670" name="Google Shape;670;p34"/>
          <p:cNvSpPr txBox="1"/>
          <p:nvPr/>
        </p:nvSpPr>
        <p:spPr>
          <a:xfrm>
            <a:off x="923925" y="6111875"/>
            <a:ext cx="213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(3x2)	     (2x3)</a:t>
            </a:r>
            <a:endParaRPr/>
          </a:p>
        </p:txBody>
      </p:sp>
      <p:sp>
        <p:nvSpPr>
          <p:cNvPr id="671" name="Google Shape;671;p34"/>
          <p:cNvSpPr txBox="1"/>
          <p:nvPr/>
        </p:nvSpPr>
        <p:spPr>
          <a:xfrm>
            <a:off x="5686425" y="6188075"/>
            <a:ext cx="844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(3x3)</a:t>
            </a:r>
            <a:endParaRPr/>
          </a:p>
        </p:txBody>
      </p:sp>
      <p:sp>
        <p:nvSpPr>
          <p:cNvPr id="672" name="Google Shape;672;p34"/>
          <p:cNvSpPr/>
          <p:nvPr/>
        </p:nvSpPr>
        <p:spPr>
          <a:xfrm>
            <a:off x="4445000" y="4994275"/>
            <a:ext cx="139700" cy="9398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4"/>
          <p:cNvSpPr/>
          <p:nvPr/>
        </p:nvSpPr>
        <p:spPr>
          <a:xfrm flipH="1">
            <a:off x="8064500" y="4981575"/>
            <a:ext cx="139700" cy="939800"/>
          </a:xfrm>
          <a:custGeom>
            <a:rect b="b" l="l" r="r" t="t"/>
            <a:pathLst>
              <a:path extrusionOk="0" h="712" w="80">
                <a:moveTo>
                  <a:pt x="72" y="0"/>
                </a:moveTo>
                <a:lnTo>
                  <a:pt x="0" y="0"/>
                </a:lnTo>
                <a:lnTo>
                  <a:pt x="0" y="712"/>
                </a:lnTo>
                <a:lnTo>
                  <a:pt x="80" y="712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4"/>
          <p:cNvSpPr txBox="1"/>
          <p:nvPr/>
        </p:nvSpPr>
        <p:spPr>
          <a:xfrm>
            <a:off x="457200" y="274637"/>
            <a:ext cx="8229600" cy="896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bre Franklin"/>
              <a:buNone/>
            </a:pPr>
            <a:r>
              <a:rPr b="0" i="0" lang="en-US" sz="35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Matrix Algebra</a:t>
            </a:r>
            <a:endParaRPr/>
          </a:p>
        </p:txBody>
      </p:sp>
      <p:sp>
        <p:nvSpPr>
          <p:cNvPr id="675" name="Google Shape;675;p34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5"/>
          <p:cNvSpPr txBox="1"/>
          <p:nvPr/>
        </p:nvSpPr>
        <p:spPr>
          <a:xfrm>
            <a:off x="669925" y="1120775"/>
            <a:ext cx="8362950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powers (square, cube, etc) of a matrix are just the matrix times itself that many times.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b="1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	A</a:t>
            </a:r>
            <a:r>
              <a:rPr b="0" baseline="30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 =</a:t>
            </a:r>
            <a:r>
              <a:rPr b="1" baseline="30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AA</a:t>
            </a: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or </a:t>
            </a:r>
            <a:r>
              <a:rPr b="1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r>
              <a:rPr b="0" baseline="30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</a:t>
            </a:r>
            <a:r>
              <a:rPr b="1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AAA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1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ibre Baskerville"/>
              <a:buNone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 often use matrix multiplication to find types of people one is tied to, since the ‘1’ in the adjacency matrix effectively captures just the people each row is connected to.</a:t>
            </a:r>
            <a:endParaRPr/>
          </a:p>
        </p:txBody>
      </p:sp>
      <p:sp>
        <p:nvSpPr>
          <p:cNvPr id="681" name="Google Shape;681;p35"/>
          <p:cNvSpPr txBox="1"/>
          <p:nvPr/>
        </p:nvSpPr>
        <p:spPr>
          <a:xfrm>
            <a:off x="457200" y="274637"/>
            <a:ext cx="8229600" cy="896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ibre Franklin"/>
              <a:buNone/>
            </a:pPr>
            <a:r>
              <a:rPr b="0" i="0" lang="en-US" sz="3500" u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Matrix Algebra</a:t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6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Reachability	</a:t>
            </a:r>
            <a:endParaRPr/>
          </a:p>
        </p:txBody>
      </p:sp>
      <p:sp>
        <p:nvSpPr>
          <p:cNvPr id="688" name="Google Shape;688;p3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Geodesic Distance:  Shortest path between i and j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Component: A connected graph with at least one path connecting every pair of nodes</a:t>
            </a:r>
            <a:endParaRPr/>
          </a:p>
          <a:p>
            <a:pPr indent="-132715" lvl="0" marL="273050" marR="0" rtl="0" algn="l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9" name="Google Shape;689;p36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37"/>
          <p:cNvGrpSpPr/>
          <p:nvPr/>
        </p:nvGrpSpPr>
        <p:grpSpPr>
          <a:xfrm>
            <a:off x="1123950" y="2636837"/>
            <a:ext cx="2079625" cy="3597275"/>
            <a:chOff x="652" y="2221"/>
            <a:chExt cx="718" cy="1466"/>
          </a:xfrm>
        </p:grpSpPr>
        <p:cxnSp>
          <p:nvCxnSpPr>
            <p:cNvPr id="695" name="Google Shape;695;p37"/>
            <p:cNvCxnSpPr/>
            <p:nvPr/>
          </p:nvCxnSpPr>
          <p:spPr>
            <a:xfrm rot="10800000">
              <a:off x="1156" y="2883"/>
              <a:ext cx="0" cy="2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6" name="Google Shape;696;p37"/>
            <p:cNvCxnSpPr/>
            <p:nvPr/>
          </p:nvCxnSpPr>
          <p:spPr>
            <a:xfrm rot="-5400000">
              <a:off x="855" y="3161"/>
              <a:ext cx="608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97" name="Google Shape;697;p37"/>
            <p:cNvSpPr/>
            <p:nvPr/>
          </p:nvSpPr>
          <p:spPr>
            <a:xfrm rot="-5400000">
              <a:off x="182" y="2804"/>
              <a:ext cx="1342" cy="297"/>
            </a:xfrm>
            <a:custGeom>
              <a:rect b="b" l="l" r="r" t="t"/>
              <a:pathLst>
                <a:path extrusionOk="0" h="400" w="2344">
                  <a:moveTo>
                    <a:pt x="0" y="384"/>
                  </a:moveTo>
                  <a:lnTo>
                    <a:pt x="608" y="0"/>
                  </a:lnTo>
                  <a:lnTo>
                    <a:pt x="1048" y="392"/>
                  </a:lnTo>
                  <a:lnTo>
                    <a:pt x="1760" y="0"/>
                  </a:lnTo>
                  <a:lnTo>
                    <a:pt x="2344" y="392"/>
                  </a:lnTo>
                  <a:lnTo>
                    <a:pt x="1064" y="40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7"/>
            <p:cNvSpPr/>
            <p:nvPr/>
          </p:nvSpPr>
          <p:spPr>
            <a:xfrm>
              <a:off x="937" y="3568"/>
              <a:ext cx="101" cy="11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</a:t>
              </a: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>
              <a:off x="652" y="3220"/>
              <a:ext cx="101" cy="11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</a:t>
              </a: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>
              <a:off x="938" y="2964"/>
              <a:ext cx="100" cy="11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</a:t>
              </a: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>
              <a:off x="937" y="2221"/>
              <a:ext cx="101" cy="11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</a:t>
              </a: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>
              <a:off x="652" y="2556"/>
              <a:ext cx="102" cy="11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</a:t>
              </a: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>
              <a:off x="1269" y="2982"/>
              <a:ext cx="101" cy="119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Libre Baskerville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</a:t>
              </a:r>
              <a:endParaRPr/>
            </a:p>
          </p:txBody>
        </p:sp>
      </p:grpSp>
      <p:grpSp>
        <p:nvGrpSpPr>
          <p:cNvPr id="704" name="Google Shape;704;p37"/>
          <p:cNvGrpSpPr/>
          <p:nvPr/>
        </p:nvGrpSpPr>
        <p:grpSpPr>
          <a:xfrm>
            <a:off x="3251200" y="2349500"/>
            <a:ext cx="1460500" cy="1581150"/>
            <a:chOff x="2048" y="1480"/>
            <a:chExt cx="920" cy="996"/>
          </a:xfrm>
        </p:grpSpPr>
        <p:sp>
          <p:nvSpPr>
            <p:cNvPr id="705" name="Google Shape;705;p37"/>
            <p:cNvSpPr txBox="1"/>
            <p:nvPr/>
          </p:nvSpPr>
          <p:spPr>
            <a:xfrm>
              <a:off x="2048" y="1480"/>
              <a:ext cx="920" cy="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0 1 0 0 0 1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1 0 1 0 0 0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0 1 0 1 1 1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0 0 1 0 1 0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0 0 1 1 0 0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1 0 1 0 0 0</a:t>
              </a:r>
              <a:endParaRPr/>
            </a:p>
          </p:txBody>
        </p:sp>
        <p:cxnSp>
          <p:nvCxnSpPr>
            <p:cNvPr id="706" name="Google Shape;706;p37"/>
            <p:cNvCxnSpPr/>
            <p:nvPr/>
          </p:nvCxnSpPr>
          <p:spPr>
            <a:xfrm>
              <a:off x="2136" y="1617"/>
              <a:ext cx="7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7" name="Google Shape;707;p37"/>
            <p:cNvCxnSpPr/>
            <p:nvPr/>
          </p:nvCxnSpPr>
          <p:spPr>
            <a:xfrm>
              <a:off x="2136" y="1617"/>
              <a:ext cx="0" cy="7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08" name="Google Shape;708;p37"/>
          <p:cNvGrpSpPr/>
          <p:nvPr/>
        </p:nvGrpSpPr>
        <p:grpSpPr>
          <a:xfrm>
            <a:off x="5143500" y="2349500"/>
            <a:ext cx="1460500" cy="1581150"/>
            <a:chOff x="3240" y="1480"/>
            <a:chExt cx="920" cy="996"/>
          </a:xfrm>
        </p:grpSpPr>
        <p:sp>
          <p:nvSpPr>
            <p:cNvPr id="709" name="Google Shape;709;p37"/>
            <p:cNvSpPr txBox="1"/>
            <p:nvPr/>
          </p:nvSpPr>
          <p:spPr>
            <a:xfrm>
              <a:off x="3240" y="1480"/>
              <a:ext cx="920" cy="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3000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2 0 2 0 0 0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0 2 0 1 1 2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2 0 4 1 1 0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0 1 1 2 1 1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0 1 1 1 2 1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0 2 0 1 1 2</a:t>
              </a:r>
              <a:endParaRPr/>
            </a:p>
          </p:txBody>
        </p:sp>
        <p:cxnSp>
          <p:nvCxnSpPr>
            <p:cNvPr id="710" name="Google Shape;710;p37"/>
            <p:cNvCxnSpPr/>
            <p:nvPr/>
          </p:nvCxnSpPr>
          <p:spPr>
            <a:xfrm>
              <a:off x="3312" y="1625"/>
              <a:ext cx="7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11" name="Google Shape;711;p37"/>
            <p:cNvCxnSpPr/>
            <p:nvPr/>
          </p:nvCxnSpPr>
          <p:spPr>
            <a:xfrm>
              <a:off x="3312" y="1625"/>
              <a:ext cx="0" cy="7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12" name="Google Shape;712;p37"/>
          <p:cNvGrpSpPr/>
          <p:nvPr/>
        </p:nvGrpSpPr>
        <p:grpSpPr>
          <a:xfrm>
            <a:off x="6972300" y="2312987"/>
            <a:ext cx="1354137" cy="1581150"/>
            <a:chOff x="4392" y="1457"/>
            <a:chExt cx="853" cy="996"/>
          </a:xfrm>
        </p:grpSpPr>
        <p:sp>
          <p:nvSpPr>
            <p:cNvPr id="713" name="Google Shape;713;p37"/>
            <p:cNvSpPr txBox="1"/>
            <p:nvPr/>
          </p:nvSpPr>
          <p:spPr>
            <a:xfrm>
              <a:off x="4392" y="1457"/>
              <a:ext cx="853" cy="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baseline="3000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0 4 0 2 2 4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4 0 6 1 1 0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0 6 2 5 5 6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2 1 5 2 3 1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2 1 5 3 2 1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4 0 6 1 1 0</a:t>
              </a:r>
              <a:endParaRPr/>
            </a:p>
          </p:txBody>
        </p:sp>
        <p:cxnSp>
          <p:nvCxnSpPr>
            <p:cNvPr id="714" name="Google Shape;714;p37"/>
            <p:cNvCxnSpPr/>
            <p:nvPr/>
          </p:nvCxnSpPr>
          <p:spPr>
            <a:xfrm>
              <a:off x="4424" y="1601"/>
              <a:ext cx="7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15" name="Google Shape;715;p37"/>
            <p:cNvCxnSpPr/>
            <p:nvPr/>
          </p:nvCxnSpPr>
          <p:spPr>
            <a:xfrm>
              <a:off x="4424" y="1601"/>
              <a:ext cx="0" cy="7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16" name="Google Shape;716;p37"/>
          <p:cNvGrpSpPr/>
          <p:nvPr/>
        </p:nvGrpSpPr>
        <p:grpSpPr>
          <a:xfrm>
            <a:off x="5195887" y="4376737"/>
            <a:ext cx="1354137" cy="1581150"/>
            <a:chOff x="3248" y="2613"/>
            <a:chExt cx="853" cy="996"/>
          </a:xfrm>
        </p:grpSpPr>
        <p:sp>
          <p:nvSpPr>
            <p:cNvPr id="717" name="Google Shape;717;p37"/>
            <p:cNvSpPr txBox="1"/>
            <p:nvPr/>
          </p:nvSpPr>
          <p:spPr>
            <a:xfrm>
              <a:off x="3248" y="2613"/>
              <a:ext cx="853" cy="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Distance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1 2 0 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1 . 1 2 2 2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2 1 . 1 1 1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0 2 1 . 1 2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0 2 1 1 . 2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1 2 1 2 2 .</a:t>
              </a:r>
              <a:endParaRPr/>
            </a:p>
          </p:txBody>
        </p:sp>
        <p:cxnSp>
          <p:nvCxnSpPr>
            <p:cNvPr id="718" name="Google Shape;718;p37"/>
            <p:cNvCxnSpPr/>
            <p:nvPr/>
          </p:nvCxnSpPr>
          <p:spPr>
            <a:xfrm>
              <a:off x="3272" y="2769"/>
              <a:ext cx="7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19" name="Google Shape;719;p37"/>
            <p:cNvCxnSpPr/>
            <p:nvPr/>
          </p:nvCxnSpPr>
          <p:spPr>
            <a:xfrm>
              <a:off x="3272" y="2769"/>
              <a:ext cx="0" cy="7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20" name="Google Shape;720;p37"/>
          <p:cNvGrpSpPr/>
          <p:nvPr/>
        </p:nvGrpSpPr>
        <p:grpSpPr>
          <a:xfrm>
            <a:off x="6972300" y="4376737"/>
            <a:ext cx="1354137" cy="1581150"/>
            <a:chOff x="4360" y="2613"/>
            <a:chExt cx="853" cy="996"/>
          </a:xfrm>
        </p:grpSpPr>
        <p:sp>
          <p:nvSpPr>
            <p:cNvPr id="721" name="Google Shape;721;p37"/>
            <p:cNvSpPr txBox="1"/>
            <p:nvPr/>
          </p:nvSpPr>
          <p:spPr>
            <a:xfrm>
              <a:off x="4360" y="2613"/>
              <a:ext cx="853" cy="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Distance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 1 2 3 3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1 . 1 2 2 2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2 1 . 1 1 1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3 2 1 . 1 2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3 2 1 1 . 2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1 2 1 2 2 .</a:t>
              </a:r>
              <a:endParaRPr/>
            </a:p>
          </p:txBody>
        </p:sp>
        <p:cxnSp>
          <p:nvCxnSpPr>
            <p:cNvPr id="722" name="Google Shape;722;p37"/>
            <p:cNvCxnSpPr/>
            <p:nvPr/>
          </p:nvCxnSpPr>
          <p:spPr>
            <a:xfrm>
              <a:off x="4392" y="2752"/>
              <a:ext cx="7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23" name="Google Shape;723;p37"/>
            <p:cNvCxnSpPr/>
            <p:nvPr/>
          </p:nvCxnSpPr>
          <p:spPr>
            <a:xfrm>
              <a:off x="4384" y="2752"/>
              <a:ext cx="0" cy="7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724" name="Google Shape;724;p37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Calculating Reachability</a:t>
            </a:r>
            <a:b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0" i="0" lang="en-US" sz="32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(see p. 162 of W&amp;F)</a:t>
            </a:r>
            <a:endParaRPr/>
          </a:p>
        </p:txBody>
      </p:sp>
      <p:sp>
        <p:nvSpPr>
          <p:cNvPr id="725" name="Google Shape;725;p37"/>
          <p:cNvSpPr txBox="1"/>
          <p:nvPr>
            <p:ph idx="1" type="body"/>
          </p:nvPr>
        </p:nvSpPr>
        <p:spPr>
          <a:xfrm>
            <a:off x="609600" y="1600200"/>
            <a:ext cx="8077200" cy="712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</a:pP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d(i,j) = min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</a:t>
            </a: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r>
              <a:rPr b="0" baseline="30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[p]</a:t>
            </a:r>
            <a:r>
              <a:rPr b="0" baseline="-2500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ij</a:t>
            </a:r>
            <a:r>
              <a:rPr b="0" i="0" lang="en-US" sz="26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&gt; 0</a:t>
            </a:r>
            <a:endParaRPr/>
          </a:p>
        </p:txBody>
      </p:sp>
      <p:sp>
        <p:nvSpPr>
          <p:cNvPr id="726" name="Google Shape;726;p37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/>
          <p:cNvSpPr txBox="1"/>
          <p:nvPr/>
        </p:nvSpPr>
        <p:spPr>
          <a:xfrm>
            <a:off x="849312" y="1149350"/>
            <a:ext cx="8029575" cy="115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ibre Baskerville"/>
              <a:buNone/>
            </a:pPr>
            <a:r>
              <a:rPr b="0" i="0" lang="en-US" sz="23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Matrices make it easy to look at </a:t>
            </a:r>
            <a:r>
              <a:rPr b="0" i="1" lang="en-US" sz="23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mixing</a:t>
            </a:r>
            <a:r>
              <a:rPr b="0" i="0" lang="en-US" sz="23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patterns: connections among types of nodes.  Simply multiply an indicator of category by the adjacency matrix.</a:t>
            </a:r>
            <a:endParaRPr/>
          </a:p>
        </p:txBody>
      </p:sp>
      <p:cxnSp>
        <p:nvCxnSpPr>
          <p:cNvPr id="732" name="Google Shape;732;p38"/>
          <p:cNvCxnSpPr/>
          <p:nvPr/>
        </p:nvCxnSpPr>
        <p:spPr>
          <a:xfrm rot="10800000">
            <a:off x="1734343" y="4502943"/>
            <a:ext cx="0" cy="8588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33" name="Google Shape;733;p38"/>
          <p:cNvCxnSpPr/>
          <p:nvPr/>
        </p:nvCxnSpPr>
        <p:spPr>
          <a:xfrm rot="-5400000">
            <a:off x="996950" y="5175250"/>
            <a:ext cx="1492250" cy="981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34" name="Google Shape;734;p38"/>
          <p:cNvSpPr/>
          <p:nvPr/>
        </p:nvSpPr>
        <p:spPr>
          <a:xfrm rot="-5400000">
            <a:off x="-789781" y="4307681"/>
            <a:ext cx="3294062" cy="860425"/>
          </a:xfrm>
          <a:custGeom>
            <a:rect b="b" l="l" r="r" t="t"/>
            <a:pathLst>
              <a:path extrusionOk="0" h="400" w="2344">
                <a:moveTo>
                  <a:pt x="0" y="384"/>
                </a:moveTo>
                <a:lnTo>
                  <a:pt x="608" y="0"/>
                </a:lnTo>
                <a:lnTo>
                  <a:pt x="1048" y="392"/>
                </a:lnTo>
                <a:lnTo>
                  <a:pt x="1760" y="0"/>
                </a:lnTo>
                <a:lnTo>
                  <a:pt x="2344" y="392"/>
                </a:lnTo>
                <a:lnTo>
                  <a:pt x="1064" y="40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8"/>
          <p:cNvSpPr/>
          <p:nvPr/>
        </p:nvSpPr>
        <p:spPr>
          <a:xfrm>
            <a:off x="1098550" y="6246812"/>
            <a:ext cx="292100" cy="2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</a:t>
            </a:r>
            <a:endParaRPr/>
          </a:p>
        </p:txBody>
      </p:sp>
      <p:sp>
        <p:nvSpPr>
          <p:cNvPr id="736" name="Google Shape;736;p38"/>
          <p:cNvSpPr/>
          <p:nvPr/>
        </p:nvSpPr>
        <p:spPr>
          <a:xfrm>
            <a:off x="273050" y="5392737"/>
            <a:ext cx="292100" cy="2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</a:t>
            </a:r>
            <a:endParaRPr/>
          </a:p>
        </p:txBody>
      </p:sp>
      <p:sp>
        <p:nvSpPr>
          <p:cNvPr id="737" name="Google Shape;737;p38"/>
          <p:cNvSpPr/>
          <p:nvPr/>
        </p:nvSpPr>
        <p:spPr>
          <a:xfrm>
            <a:off x="1101725" y="4764087"/>
            <a:ext cx="288925" cy="292100"/>
          </a:xfrm>
          <a:prstGeom prst="ellipse">
            <a:avLst/>
          </a:prstGeom>
          <a:solidFill>
            <a:srgbClr val="3366FF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</a:t>
            </a:r>
            <a:endParaRPr/>
          </a:p>
        </p:txBody>
      </p:sp>
      <p:sp>
        <p:nvSpPr>
          <p:cNvPr id="738" name="Google Shape;738;p38"/>
          <p:cNvSpPr/>
          <p:nvPr/>
        </p:nvSpPr>
        <p:spPr>
          <a:xfrm>
            <a:off x="1098550" y="2941637"/>
            <a:ext cx="292100" cy="292100"/>
          </a:xfrm>
          <a:prstGeom prst="ellipse">
            <a:avLst/>
          </a:prstGeom>
          <a:solidFill>
            <a:srgbClr val="3366FF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</a:t>
            </a:r>
            <a:endParaRPr/>
          </a:p>
        </p:txBody>
      </p:sp>
      <p:sp>
        <p:nvSpPr>
          <p:cNvPr id="739" name="Google Shape;739;p38"/>
          <p:cNvSpPr/>
          <p:nvPr/>
        </p:nvSpPr>
        <p:spPr>
          <a:xfrm>
            <a:off x="273050" y="3763962"/>
            <a:ext cx="295275" cy="292100"/>
          </a:xfrm>
          <a:prstGeom prst="ellipse">
            <a:avLst/>
          </a:prstGeom>
          <a:solidFill>
            <a:srgbClr val="3366FF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</a:t>
            </a:r>
            <a:endParaRPr/>
          </a:p>
        </p:txBody>
      </p:sp>
      <p:sp>
        <p:nvSpPr>
          <p:cNvPr id="740" name="Google Shape;740;p38"/>
          <p:cNvSpPr/>
          <p:nvPr/>
        </p:nvSpPr>
        <p:spPr>
          <a:xfrm>
            <a:off x="2060575" y="4808537"/>
            <a:ext cx="292100" cy="29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Baskerville"/>
              <a:buNone/>
            </a:pPr>
            <a:r>
              <a:rPr b="0" i="0" lang="en-US" sz="1800" u="none">
                <a:solidFill>
                  <a:schemeClr val="l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</a:t>
            </a:r>
            <a:endParaRPr/>
          </a:p>
        </p:txBody>
      </p:sp>
      <p:grpSp>
        <p:nvGrpSpPr>
          <p:cNvPr id="741" name="Google Shape;741;p38"/>
          <p:cNvGrpSpPr/>
          <p:nvPr/>
        </p:nvGrpSpPr>
        <p:grpSpPr>
          <a:xfrm>
            <a:off x="3308350" y="3281362"/>
            <a:ext cx="1651000" cy="1803400"/>
            <a:chOff x="2084" y="2067"/>
            <a:chExt cx="1040" cy="1136"/>
          </a:xfrm>
        </p:grpSpPr>
        <p:sp>
          <p:nvSpPr>
            <p:cNvPr id="742" name="Google Shape;742;p38"/>
            <p:cNvSpPr txBox="1"/>
            <p:nvPr/>
          </p:nvSpPr>
          <p:spPr>
            <a:xfrm>
              <a:off x="2084" y="2067"/>
              <a:ext cx="1040" cy="1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0 1 0 0 0 1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1 0 1 0 0 0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0 1 0 1 1 1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0 0 1 0 1 0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0 0 1 1 0 0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1 0 1 0 0 0</a:t>
              </a:r>
              <a:endParaRPr/>
            </a:p>
          </p:txBody>
        </p:sp>
        <p:cxnSp>
          <p:nvCxnSpPr>
            <p:cNvPr id="743" name="Google Shape;743;p38"/>
            <p:cNvCxnSpPr/>
            <p:nvPr/>
          </p:nvCxnSpPr>
          <p:spPr>
            <a:xfrm>
              <a:off x="2192" y="2217"/>
              <a:ext cx="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44" name="Google Shape;744;p38"/>
            <p:cNvCxnSpPr/>
            <p:nvPr/>
          </p:nvCxnSpPr>
          <p:spPr>
            <a:xfrm>
              <a:off x="2192" y="2217"/>
              <a:ext cx="0" cy="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45" name="Google Shape;745;p38"/>
          <p:cNvGrpSpPr/>
          <p:nvPr/>
        </p:nvGrpSpPr>
        <p:grpSpPr>
          <a:xfrm>
            <a:off x="5689600" y="3294062"/>
            <a:ext cx="673100" cy="1803400"/>
            <a:chOff x="3584" y="2075"/>
            <a:chExt cx="424" cy="1136"/>
          </a:xfrm>
        </p:grpSpPr>
        <p:sp>
          <p:nvSpPr>
            <p:cNvPr id="746" name="Google Shape;746;p38"/>
            <p:cNvSpPr txBox="1"/>
            <p:nvPr/>
          </p:nvSpPr>
          <p:spPr>
            <a:xfrm>
              <a:off x="3584" y="2075"/>
              <a:ext cx="424" cy="1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Race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</a:t>
              </a:r>
              <a:endParaRPr/>
            </a:p>
          </p:txBody>
        </p:sp>
        <p:cxnSp>
          <p:nvCxnSpPr>
            <p:cNvPr id="747" name="Google Shape;747;p38"/>
            <p:cNvCxnSpPr/>
            <p:nvPr/>
          </p:nvCxnSpPr>
          <p:spPr>
            <a:xfrm>
              <a:off x="3624" y="2232"/>
              <a:ext cx="2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48" name="Google Shape;748;p38"/>
          <p:cNvGrpSpPr/>
          <p:nvPr/>
        </p:nvGrpSpPr>
        <p:grpSpPr>
          <a:xfrm>
            <a:off x="6884987" y="3268662"/>
            <a:ext cx="1162050" cy="1803400"/>
            <a:chOff x="4337" y="2059"/>
            <a:chExt cx="732" cy="1136"/>
          </a:xfrm>
        </p:grpSpPr>
        <p:sp>
          <p:nvSpPr>
            <p:cNvPr id="749" name="Google Shape;749;p38"/>
            <p:cNvSpPr txBox="1"/>
            <p:nvPr/>
          </p:nvSpPr>
          <p:spPr>
            <a:xfrm>
              <a:off x="4337" y="2059"/>
              <a:ext cx="732" cy="1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X(Race)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2 2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1 1</a:t>
              </a:r>
              <a:endParaRPr/>
            </a:p>
          </p:txBody>
        </p:sp>
        <p:cxnSp>
          <p:nvCxnSpPr>
            <p:cNvPr id="750" name="Google Shape;750;p38"/>
            <p:cNvCxnSpPr/>
            <p:nvPr/>
          </p:nvCxnSpPr>
          <p:spPr>
            <a:xfrm>
              <a:off x="4488" y="2232"/>
              <a:ext cx="5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51" name="Google Shape;751;p38"/>
          <p:cNvGrpSpPr/>
          <p:nvPr/>
        </p:nvGrpSpPr>
        <p:grpSpPr>
          <a:xfrm>
            <a:off x="5181600" y="4216400"/>
            <a:ext cx="228600" cy="228600"/>
            <a:chOff x="3264" y="2656"/>
            <a:chExt cx="144" cy="144"/>
          </a:xfrm>
        </p:grpSpPr>
        <p:cxnSp>
          <p:nvCxnSpPr>
            <p:cNvPr id="752" name="Google Shape;752;p38"/>
            <p:cNvCxnSpPr/>
            <p:nvPr/>
          </p:nvCxnSpPr>
          <p:spPr>
            <a:xfrm>
              <a:off x="3264" y="2656"/>
              <a:ext cx="144" cy="1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53" name="Google Shape;753;p38"/>
            <p:cNvCxnSpPr/>
            <p:nvPr/>
          </p:nvCxnSpPr>
          <p:spPr>
            <a:xfrm flipH="1">
              <a:off x="3264" y="2656"/>
              <a:ext cx="144" cy="1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54" name="Google Shape;754;p38"/>
          <p:cNvGrpSpPr/>
          <p:nvPr/>
        </p:nvGrpSpPr>
        <p:grpSpPr>
          <a:xfrm>
            <a:off x="6629400" y="4229100"/>
            <a:ext cx="266700" cy="152400"/>
            <a:chOff x="4176" y="2664"/>
            <a:chExt cx="168" cy="96"/>
          </a:xfrm>
        </p:grpSpPr>
        <p:cxnSp>
          <p:nvCxnSpPr>
            <p:cNvPr id="755" name="Google Shape;755;p38"/>
            <p:cNvCxnSpPr/>
            <p:nvPr/>
          </p:nvCxnSpPr>
          <p:spPr>
            <a:xfrm>
              <a:off x="4176" y="2664"/>
              <a:ext cx="16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56" name="Google Shape;756;p38"/>
            <p:cNvCxnSpPr/>
            <p:nvPr/>
          </p:nvCxnSpPr>
          <p:spPr>
            <a:xfrm>
              <a:off x="4176" y="2760"/>
              <a:ext cx="16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57" name="Google Shape;757;p38"/>
          <p:cNvGrpSpPr/>
          <p:nvPr/>
        </p:nvGrpSpPr>
        <p:grpSpPr>
          <a:xfrm>
            <a:off x="3997325" y="5357812"/>
            <a:ext cx="3140075" cy="1055687"/>
            <a:chOff x="2206" y="3453"/>
            <a:chExt cx="1626" cy="525"/>
          </a:xfrm>
        </p:grpSpPr>
        <p:sp>
          <p:nvSpPr>
            <p:cNvPr id="758" name="Google Shape;758;p38"/>
            <p:cNvSpPr txBox="1"/>
            <p:nvPr/>
          </p:nvSpPr>
          <p:spPr>
            <a:xfrm>
              <a:off x="2206" y="3685"/>
              <a:ext cx="1200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Race`(X)Race= </a:t>
              </a:r>
              <a:endParaRPr/>
            </a:p>
          </p:txBody>
        </p:sp>
        <p:sp>
          <p:nvSpPr>
            <p:cNvPr id="759" name="Google Shape;759;p38"/>
            <p:cNvSpPr txBox="1"/>
            <p:nvPr/>
          </p:nvSpPr>
          <p:spPr>
            <a:xfrm>
              <a:off x="3470" y="3629"/>
              <a:ext cx="332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2 6</a:t>
              </a:r>
              <a:endParaRPr/>
            </a:p>
          </p:txBody>
        </p:sp>
        <p:cxnSp>
          <p:nvCxnSpPr>
            <p:cNvPr id="760" name="Google Shape;760;p38"/>
            <p:cNvCxnSpPr/>
            <p:nvPr/>
          </p:nvCxnSpPr>
          <p:spPr>
            <a:xfrm>
              <a:off x="3512" y="3648"/>
              <a:ext cx="32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61" name="Google Shape;761;p38"/>
            <p:cNvCxnSpPr/>
            <p:nvPr/>
          </p:nvCxnSpPr>
          <p:spPr>
            <a:xfrm>
              <a:off x="3496" y="3656"/>
              <a:ext cx="0" cy="3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62" name="Google Shape;762;p38"/>
            <p:cNvSpPr txBox="1"/>
            <p:nvPr/>
          </p:nvSpPr>
          <p:spPr>
            <a:xfrm>
              <a:off x="3478" y="3453"/>
              <a:ext cx="332" cy="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G</a:t>
              </a:r>
              <a:endParaRPr/>
            </a:p>
          </p:txBody>
        </p:sp>
        <p:sp>
          <p:nvSpPr>
            <p:cNvPr id="763" name="Google Shape;763;p38"/>
            <p:cNvSpPr txBox="1"/>
            <p:nvPr/>
          </p:nvSpPr>
          <p:spPr>
            <a:xfrm>
              <a:off x="3294" y="3621"/>
              <a:ext cx="175" cy="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</p:grpSp>
      <p:sp>
        <p:nvSpPr>
          <p:cNvPr id="764" name="Google Shape;764;p38"/>
          <p:cNvSpPr txBox="1"/>
          <p:nvPr>
            <p:ph type="title"/>
          </p:nvPr>
        </p:nvSpPr>
        <p:spPr>
          <a:xfrm>
            <a:off x="457200" y="274637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Libre Franklin"/>
              <a:buNone/>
            </a:pPr>
            <a:r>
              <a:rPr b="0" i="0" lang="en-US" sz="29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Mixing Patterns</a:t>
            </a:r>
            <a:endParaRPr/>
          </a:p>
        </p:txBody>
      </p:sp>
      <p:sp>
        <p:nvSpPr>
          <p:cNvPr id="765" name="Google Shape;765;p38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9"/>
          <p:cNvSpPr txBox="1"/>
          <p:nvPr/>
        </p:nvSpPr>
        <p:spPr>
          <a:xfrm>
            <a:off x="954087" y="1600200"/>
            <a:ext cx="77327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ibre Baskerville"/>
              <a:buNone/>
            </a:pPr>
            <a:r>
              <a:rPr b="0" i="0" lang="en-US" sz="23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transform an asymmetric graph to a symmetric graph, add it to its transpose.</a:t>
            </a:r>
            <a:endParaRPr/>
          </a:p>
        </p:txBody>
      </p:sp>
      <p:sp>
        <p:nvSpPr>
          <p:cNvPr id="771" name="Google Shape;771;p39"/>
          <p:cNvSpPr txBox="1"/>
          <p:nvPr/>
        </p:nvSpPr>
        <p:spPr>
          <a:xfrm>
            <a:off x="5410200" y="2479675"/>
            <a:ext cx="3240087" cy="155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Max Sym         MIN Sym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0 1 0 0 0       0 1 0 0 0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1 0 1 0 0       1 0 0 0 0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0 1 0 1 1       0 0 0 0 1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0 0 1 0 1       0 0 0 0 0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0 0 1 1 0       0 0 1 0 0</a:t>
            </a:r>
            <a:endParaRPr/>
          </a:p>
        </p:txBody>
      </p:sp>
      <p:grpSp>
        <p:nvGrpSpPr>
          <p:cNvPr id="772" name="Google Shape;772;p39"/>
          <p:cNvGrpSpPr/>
          <p:nvPr/>
        </p:nvGrpSpPr>
        <p:grpSpPr>
          <a:xfrm>
            <a:off x="417512" y="2514600"/>
            <a:ext cx="4638675" cy="1558925"/>
            <a:chOff x="417513" y="4144963"/>
            <a:chExt cx="4638675" cy="1558925"/>
          </a:xfrm>
        </p:grpSpPr>
        <p:sp>
          <p:nvSpPr>
            <p:cNvPr id="773" name="Google Shape;773;p39"/>
            <p:cNvSpPr txBox="1"/>
            <p:nvPr/>
          </p:nvSpPr>
          <p:spPr>
            <a:xfrm>
              <a:off x="417513" y="4144963"/>
              <a:ext cx="1406525" cy="155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X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1 0 0 0 0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0 1 0 1 1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0 0 0 0 0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0 0 1 1 0</a:t>
              </a:r>
              <a:endParaRPr/>
            </a:p>
          </p:txBody>
        </p:sp>
        <p:sp>
          <p:nvSpPr>
            <p:cNvPr id="774" name="Google Shape;774;p39"/>
            <p:cNvSpPr txBox="1"/>
            <p:nvPr/>
          </p:nvSpPr>
          <p:spPr>
            <a:xfrm>
              <a:off x="2133600" y="4144963"/>
              <a:ext cx="1284288" cy="155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X</a:t>
              </a:r>
              <a:r>
                <a:rPr b="1" baseline="30000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0 1 0 0 0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1 0 1 0 0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0 0 0 0 1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0 0 1 0 1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0 0 1 0 0</a:t>
              </a:r>
              <a:endParaRPr/>
            </a:p>
          </p:txBody>
        </p:sp>
        <p:sp>
          <p:nvSpPr>
            <p:cNvPr id="775" name="Google Shape;775;p39"/>
            <p:cNvSpPr txBox="1"/>
            <p:nvPr/>
          </p:nvSpPr>
          <p:spPr>
            <a:xfrm>
              <a:off x="3771900" y="4389438"/>
              <a:ext cx="1284288" cy="1314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0 2 0 0 0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2 0 1 0 0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0 1 0 1 2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0 0 1 0 1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0 0 2 1 0</a:t>
              </a:r>
              <a:endParaRPr/>
            </a:p>
          </p:txBody>
        </p:sp>
        <p:grpSp>
          <p:nvGrpSpPr>
            <p:cNvPr id="776" name="Google Shape;776;p39"/>
            <p:cNvGrpSpPr/>
            <p:nvPr/>
          </p:nvGrpSpPr>
          <p:grpSpPr>
            <a:xfrm>
              <a:off x="1857375" y="4905375"/>
              <a:ext cx="241300" cy="241300"/>
              <a:chOff x="2122" y="3866"/>
              <a:chExt cx="152" cy="152"/>
            </a:xfrm>
          </p:grpSpPr>
          <p:cxnSp>
            <p:nvCxnSpPr>
              <p:cNvPr id="777" name="Google Shape;777;p39"/>
              <p:cNvCxnSpPr/>
              <p:nvPr/>
            </p:nvCxnSpPr>
            <p:spPr>
              <a:xfrm>
                <a:off x="2198" y="3866"/>
                <a:ext cx="0" cy="15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778" name="Google Shape;778;p39"/>
              <p:cNvCxnSpPr/>
              <p:nvPr/>
            </p:nvCxnSpPr>
            <p:spPr>
              <a:xfrm rot="10800000">
                <a:off x="2198" y="3866"/>
                <a:ext cx="0" cy="15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779" name="Google Shape;779;p39"/>
            <p:cNvGrpSpPr/>
            <p:nvPr/>
          </p:nvGrpSpPr>
          <p:grpSpPr>
            <a:xfrm>
              <a:off x="3444875" y="5000625"/>
              <a:ext cx="241300" cy="101600"/>
              <a:chOff x="2930" y="3910"/>
              <a:chExt cx="152" cy="64"/>
            </a:xfrm>
          </p:grpSpPr>
          <p:cxnSp>
            <p:nvCxnSpPr>
              <p:cNvPr id="780" name="Google Shape;780;p39"/>
              <p:cNvCxnSpPr/>
              <p:nvPr/>
            </p:nvCxnSpPr>
            <p:spPr>
              <a:xfrm>
                <a:off x="3006" y="3898"/>
                <a:ext cx="0" cy="15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781" name="Google Shape;781;p39"/>
              <p:cNvCxnSpPr/>
              <p:nvPr/>
            </p:nvCxnSpPr>
            <p:spPr>
              <a:xfrm rot="10800000">
                <a:off x="3006" y="3834"/>
                <a:ext cx="0" cy="15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sp>
        <p:nvSpPr>
          <p:cNvPr id="782" name="Google Shape;782;p39"/>
          <p:cNvSpPr txBox="1"/>
          <p:nvPr>
            <p:ph type="title"/>
          </p:nvPr>
        </p:nvSpPr>
        <p:spPr>
          <a:xfrm>
            <a:off x="914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0" i="0" lang="en-US" sz="4000" u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Symmetry &amp; Transitivity</a:t>
            </a:r>
            <a:endParaRPr/>
          </a:p>
        </p:txBody>
      </p:sp>
      <p:sp>
        <p:nvSpPr>
          <p:cNvPr id="783" name="Google Shape;783;p39"/>
          <p:cNvSpPr txBox="1"/>
          <p:nvPr/>
        </p:nvSpPr>
        <p:spPr>
          <a:xfrm>
            <a:off x="762000" y="4953000"/>
            <a:ext cx="7543800" cy="170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None/>
            </a:pPr>
            <a:r>
              <a:rPr b="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Transitivity:  If iRj and jRk, then iRk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None/>
            </a:pPr>
            <a:r>
              <a:rPr b="1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r>
              <a:rPr b="0" baseline="3000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b="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 Number of walks of length 2, e.g., n</a:t>
            </a:r>
            <a:r>
              <a:rPr b="0" baseline="-2500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</a:t>
            </a:r>
            <a:r>
              <a:rPr b="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🡪 n</a:t>
            </a:r>
            <a:r>
              <a:rPr b="0" baseline="-2500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</a:t>
            </a:r>
            <a:r>
              <a:rPr b="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🡪 n</a:t>
            </a:r>
            <a:r>
              <a:rPr b="0" baseline="-2500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None/>
            </a:pPr>
            <a:r>
              <a:rPr b="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Compare </a:t>
            </a:r>
            <a:r>
              <a:rPr b="1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r>
              <a:rPr b="0" baseline="3000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b="0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and </a:t>
            </a:r>
            <a:r>
              <a:rPr b="1" i="0" lang="en-US" sz="21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84" name="Google Shape;784;p39"/>
          <p:cNvSpPr/>
          <p:nvPr/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re Franklin"/>
              <a:buNone/>
            </a:pPr>
            <a:fld id="{00000000-1234-1234-1234-123412341234}" type="slidenum">
              <a:rPr b="0" i="0" lang="en-US" sz="1400" u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